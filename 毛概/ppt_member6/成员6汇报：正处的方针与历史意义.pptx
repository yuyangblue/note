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notesSlides/notesSlide1.xml" Type="http://schemas.openxmlformats.org/officeDocument/2006/relationships/notesSlide"/><Relationship Id="rId16" Target="notesSlides/notesSlide2.xml" Type="http://schemas.openxmlformats.org/officeDocument/2006/relationships/notesSlide"/><Relationship Id="rId17" Target="notesSlides/notesSlide3.xml" Type="http://schemas.openxmlformats.org/officeDocument/2006/relationships/notesSlide"/><Relationship Id="rId18" Target="notesSlides/notesSlide4.xml" Type="http://schemas.openxmlformats.org/officeDocument/2006/relationships/notesSlide"/><Relationship Id="rId19" Target="notesSlides/notesSlide5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我是小组的成员6。我负责的部分是《关于正确处理人民内部矛盾的问题》在文化党派方针、国家政治生活主题以及历史意义这几个方面的内容。今天我用几页的篇幅，跟大家分享我读完这篇经典后的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点是双百方针。毛泽东明确说，艺术和科学上的不同风格、不同学派都可以自由发展，不能靠行政命令强行推广一种。他还打了个比方叫"种牛痘"，就是让人适当接触错误思想，反而能增强对错误的免疫力。说到底，思想问题只能靠讨论和说理解决，这是团结—批评—团结在文化领域的运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点是长期共存、互相监督。毛泽东的解释非常朴素：人耳边需要听到不同的声音，执政党也一样。从1956年《论十大关系》提出，到八大确立，再到后来发展成十六字方针写进宪法，这条线说明多党合作不是客气话，而是执政党自我纠错的机制。今天我们讲协商民主、全过程人民民主，源头就在这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页是全文分量最重的判断：大规模急风暴雨式的阶级斗争基本结束了，根本任务从解放生产力变成保护和发展生产力。《中国共产党历史》第二卷说，这实际上就把正确处理人民内部矛盾确立为国家政治生活的主题。它和八大的判断一脉相承，也是后来改革开放以经济建设为中心的思想先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点讲历史意义。马克思没来得及论述社会主义社会的矛盾，斯大林干脆否认矛盾存在，苏联肃反扩大化就和这一点有关。毛泽东第一次系统创立了社会主义社会矛盾学说，学界评价这是他探索社会主义道路的理论高峰，党史二卷也说它为后来的改革奠定了认识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我的结语。我认为《正处》最长久的价值不在具体结论，而在方法论：区分矛盾性质、统筹兼顾、走群众路线、用团结批评团结的方式渐进化解。新时代的枫桥经验讲矛盾不上交，就是这个思路的延续。当然也要看到反右扩大化的教训，理论还要靠法治和制度来保障。我的汇报就到这里，谢谢大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1016000" y="914400"/>
            <a:ext cx="762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8C578"/>
                </a:solidFill>
                <a:latin typeface="Noto Sans SC"/>
                <a:ea typeface="Noto Sans SC"/>
                <a:cs typeface="Noto Sans SC"/>
                <a:sym typeface="Noto Sans SC"/>
              </a:rPr>
              <a:t>经典学思悟 · 建功新时代　文献研读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19098" flipH="false" flipV="false">
            <a:off x="1041418" y="14160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8C5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159000"/>
            <a:ext cx="1041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2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关于正确处理人民内部矛盾的问题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41400" y="368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900">
                <a:solidFill>
                  <a:srgbClr val="E8C578"/>
                </a:solidFill>
                <a:latin typeface="Noto Serif SC"/>
                <a:ea typeface="Noto Serif SC"/>
                <a:cs typeface="Noto Serif SC"/>
                <a:sym typeface="Noto Serif SC"/>
              </a:rPr>
              <a:t>百花齐放 百家争鸣　·　长期共存 互相监督　·　国家政治生活的主题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41400" y="5689600"/>
            <a:ext cx="762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小组成员（成员6）汇报　|　毛泽东思想和中国特色社会主义理论体系概论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7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89000" y="711200"/>
            <a:ext cx="114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C69C56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2032000" y="838200"/>
            <a:ext cx="939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9B1222"/>
                </a:solidFill>
                <a:latin typeface="Noto Serif SC"/>
                <a:ea typeface="Noto Serif SC"/>
                <a:cs typeface="Noto Serif SC"/>
                <a:sym typeface="Noto Serif SC"/>
              </a:rPr>
              <a:t>百花齐放、百家争鸣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20462" flipH="false" flipV="false">
            <a:off x="2057419" y="1593850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69C5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41400" y="2260600"/>
            <a:ext cx="152400" cy="152400"/>
          </a:xfrm>
          <a:prstGeom prst="ellipse">
            <a:avLst/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371600" y="21082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9B1222"/>
                </a:solidFill>
                <a:latin typeface="Noto Sans SC"/>
                <a:ea typeface="Noto Sans SC"/>
                <a:cs typeface="Noto Sans SC"/>
                <a:sym typeface="Noto Sans SC"/>
              </a:rPr>
              <a:t>方针定位：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艺术上不同形式和风格自由发展，科学上不同学派自由争论；用行政力量强制推行单一风格学派，会有害于艺术和科学的发展。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3657600"/>
            <a:ext cx="152400" cy="152400"/>
          </a:xfrm>
          <a:prstGeom prst="ellipse">
            <a:avLst/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371600" y="35052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9B1222"/>
                </a:solidFill>
                <a:latin typeface="Noto Sans SC"/>
                <a:ea typeface="Noto Sans SC"/>
                <a:cs typeface="Noto Sans SC"/>
                <a:sym typeface="Noto Sans SC"/>
              </a:rPr>
              <a:t>"种牛痘"的比喻：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让人适当接触一点错误思想，反而能增强辨别真理的"免疫力"；温室里培养出来的东西，经不起风雨。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5054600"/>
            <a:ext cx="152400" cy="152400"/>
          </a:xfrm>
          <a:prstGeom prst="ellipse">
            <a:avLst/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371600" y="49022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9B1222"/>
                </a:solidFill>
                <a:latin typeface="Noto Sans SC"/>
                <a:ea typeface="Noto Sans SC"/>
                <a:cs typeface="Noto Sans SC"/>
                <a:sym typeface="Noto Sans SC"/>
              </a:rPr>
              <a:t>民主方法：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思想性质的问题只能用讨论、批评、说理来解决，压而不服；这是"团结—批评—团结"公式在文化领域的延伸。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89000" y="6489700"/>
            <a:ext cx="1041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让知识分子安心创作与探索——有制度保障，不必动辄得咎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AF7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89000" y="711200"/>
            <a:ext cx="114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C69C56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2032000" y="838200"/>
            <a:ext cx="939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9B1222"/>
                </a:solidFill>
                <a:latin typeface="Noto Serif SC"/>
                <a:ea typeface="Noto Serif SC"/>
                <a:cs typeface="Noto Serif SC"/>
                <a:sym typeface="Noto Serif SC"/>
              </a:rPr>
              <a:t>长期共存、互相监督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20462" flipH="false" flipV="false">
            <a:off x="2057419" y="1593850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69C5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41400" y="2260600"/>
            <a:ext cx="152400" cy="152400"/>
          </a:xfrm>
          <a:prstGeom prst="ellipse">
            <a:avLst/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371600" y="21082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9B1222"/>
                </a:solidFill>
                <a:latin typeface="Noto Sans SC"/>
                <a:ea typeface="Noto Sans SC"/>
                <a:cs typeface="Noto Sans SC"/>
                <a:sym typeface="Noto Sans SC"/>
              </a:rPr>
              <a:t>朴素的道理：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"一个党同一个人一样，耳边很需要听到不同的声音。"执政决策不能只听赞同声，民主党派的批评监督是帮助党少犯错误的重要渠道。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3657600"/>
            <a:ext cx="152400" cy="152400"/>
          </a:xfrm>
          <a:prstGeom prst="ellipse">
            <a:avLst/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371600" y="35052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9B1222"/>
                </a:solidFill>
                <a:latin typeface="Noto Sans SC"/>
                <a:ea typeface="Noto Sans SC"/>
                <a:cs typeface="Noto Sans SC"/>
                <a:sym typeface="Noto Sans SC"/>
              </a:rPr>
              <a:t>制度脉络：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1956年《论十大关系》提出八字方针 → 中共八大正式确立 → 改革开放后发展为"十六字方针"并载入宪法。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5054600"/>
            <a:ext cx="152400" cy="152400"/>
          </a:xfrm>
          <a:prstGeom prst="ellipse">
            <a:avLst/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371600" y="49022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9B1222"/>
                </a:solidFill>
                <a:latin typeface="Noto Sans SC"/>
                <a:ea typeface="Noto Sans SC"/>
                <a:cs typeface="Noto Sans SC"/>
                <a:sym typeface="Noto Sans SC"/>
              </a:rPr>
              <a:t>当代延伸：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多党合作不是一时策略，而是执政党自我完善的制度安排；协商民主、全过程人民民主的思想源头正可追溯于此。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89000" y="6489700"/>
            <a:ext cx="1041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从"两个万岁"到十六字方针——把"不同的声音"制度化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AF7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89000" y="711200"/>
            <a:ext cx="114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C69C56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2032000" y="838200"/>
            <a:ext cx="939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9B1222"/>
                </a:solidFill>
                <a:latin typeface="Noto Serif SC"/>
                <a:ea typeface="Noto Serif SC"/>
                <a:cs typeface="Noto Serif SC"/>
                <a:sym typeface="Noto Serif SC"/>
              </a:rPr>
              <a:t>国家政治生活的主题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20462" flipH="false" flipV="false">
            <a:off x="2057419" y="1593850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69C5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89000" y="1981200"/>
            <a:ext cx="10414000" cy="1168400"/>
          </a:xfrm>
          <a:prstGeom prst="roundRect">
            <a:avLst>
              <a:gd name="adj" fmla="val 0"/>
            </a:avLst>
          </a:prstGeom>
          <a:solidFill>
            <a:srgbClr val="9B12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193800" y="2184400"/>
            <a:ext cx="98044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9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"革命时期的大规模的急风暴雨式的群众阶级斗争基本结束。"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3708400"/>
            <a:ext cx="152400" cy="152400"/>
          </a:xfrm>
          <a:prstGeom prst="ellipse">
            <a:avLst/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371600" y="35560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9B1222"/>
                </a:solidFill>
                <a:latin typeface="Noto Sans SC"/>
                <a:ea typeface="Noto Sans SC"/>
                <a:cs typeface="Noto Sans SC"/>
                <a:sym typeface="Noto Sans SC"/>
              </a:rPr>
              <a:t>任务转变：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党和国家的根本任务"由解放生产力变为在新的生产关系下面保护和发展生产力"。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4775200"/>
            <a:ext cx="152400" cy="152400"/>
          </a:xfrm>
          <a:prstGeom prst="ellipse">
            <a:avLst/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371600" y="46228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9B1222"/>
                </a:solidFill>
                <a:latin typeface="Noto Sans SC"/>
                <a:ea typeface="Noto Sans SC"/>
                <a:cs typeface="Noto Sans SC"/>
                <a:sym typeface="Noto Sans SC"/>
              </a:rPr>
              <a:t>党史定评：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《中国共产党历史》第二卷指出，这"实际上就把正确处理人民内部矛盾作为国家政治生活的主题了"。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41400" y="5842000"/>
            <a:ext cx="152400" cy="152400"/>
          </a:xfrm>
          <a:prstGeom prst="ellipse">
            <a:avLst/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371600" y="56896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9B1222"/>
                </a:solidFill>
                <a:latin typeface="Noto Sans SC"/>
                <a:ea typeface="Noto Sans SC"/>
                <a:cs typeface="Noto Sans SC"/>
                <a:sym typeface="Noto Sans SC"/>
              </a:rPr>
              <a:t>一脉相承：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与中共八大关于社会主要矛盾的判断一致，成为后来改革开放"以经济建设为中心"的思想先声。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AF7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76200"/>
          </a:xfrm>
          <a:prstGeom prst="roundRect">
            <a:avLst>
              <a:gd name="adj" fmla="val 0"/>
            </a:avLst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889000" y="711200"/>
            <a:ext cx="114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C69C56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2032000" y="838200"/>
            <a:ext cx="939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9B1222"/>
                </a:solidFill>
                <a:latin typeface="Noto Serif SC"/>
                <a:ea typeface="Noto Serif SC"/>
                <a:cs typeface="Noto Serif SC"/>
                <a:sym typeface="Noto Serif SC"/>
              </a:rPr>
              <a:t>历史意义：马克思主义中国化的理论高峰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20462" flipH="false" flipV="false">
            <a:off x="2057419" y="1593850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69C5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041400" y="2260600"/>
            <a:ext cx="152400" cy="152400"/>
          </a:xfrm>
          <a:prstGeom prst="ellipse">
            <a:avLst/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371600" y="21082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9B1222"/>
                </a:solidFill>
                <a:latin typeface="Noto Sans SC"/>
                <a:ea typeface="Noto Sans SC"/>
                <a:cs typeface="Noto Sans SC"/>
                <a:sym typeface="Noto Sans SC"/>
              </a:rPr>
              <a:t>时代之问：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马克思没有来得及系统论述社会主义社会的矛盾；斯大林长期否认这一矛盾的存在，后来的肃反扩大化与此不无关系。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3657600"/>
            <a:ext cx="152400" cy="152400"/>
          </a:xfrm>
          <a:prstGeom prst="ellipse">
            <a:avLst/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371600" y="35052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9B1222"/>
                </a:solidFill>
                <a:latin typeface="Noto Sans SC"/>
                <a:ea typeface="Noto Sans SC"/>
                <a:cs typeface="Noto Sans SC"/>
                <a:sym typeface="Noto Sans SC"/>
              </a:rPr>
              <a:t>理论贡献：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毛泽东第一次系统地创立了社会主义社会矛盾学说，把长期被回避的问题鲜明地提出来并从理论上作了阐述。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5054600"/>
            <a:ext cx="152400" cy="152400"/>
          </a:xfrm>
          <a:prstGeom prst="ellipse">
            <a:avLst/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1371600" y="49022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9B1222"/>
                </a:solidFill>
                <a:latin typeface="Noto Sans SC"/>
                <a:ea typeface="Noto Sans SC"/>
                <a:cs typeface="Noto Sans SC"/>
                <a:sym typeface="Noto Sans SC"/>
              </a:rPr>
              <a:t>权威评价：</a:t>
            </a:r>
            <a:r>
              <a:rPr lang="en-US" b="fals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学界称其为探索社会主义道路的"理论高峰"；《中国共产党历史》第二卷指出，它"实际上为后来的社会主义改革奠定了认识基础"。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0" y="6400800"/>
            <a:ext cx="12192000" cy="457200"/>
          </a:xfrm>
          <a:prstGeom prst="roundRect">
            <a:avLst>
              <a:gd name="adj" fmla="val 0"/>
            </a:avLst>
          </a:prstGeom>
          <a:solidFill>
            <a:srgbClr val="B2182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889000" y="6489700"/>
            <a:ext cx="1041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从"社会主义有没有矛盾"到"如何解决矛盾"——第一次系统回答时代之问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800F1E">
                <a:alpha val="100000"/>
              </a:srgbClr>
            </a:gs>
            <a:gs pos="100000">
              <a:srgbClr val="B2182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889000" y="609600"/>
            <a:ext cx="10414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当代价值：方法论比结论更长久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20462" flipH="false" flipV="false">
            <a:off x="914419" y="1365250"/>
            <a:ext cx="213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8C578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889000" y="1676400"/>
            <a:ext cx="1041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区分矛盾性质、对症下药　　· 统筹兼顾国家、集体与个人利益</a:t>
            </a:r>
            <a:endParaRPr lang="en-US" sz="1100"/>
          </a:p>
          <a:p>
            <a:pPr algn="l" marL="0" indent="0">
              <a:lnSpc>
                <a:spcPct val="141666"/>
              </a:lnSpc>
            </a:pPr>
            <a:r>
              <a:rPr lang="en-US" b="false" i="false" strike="noStrike" u="none" sz="16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遇事与群众商量、克服官僚主义　　· "团结—批评—团结"渐进化解矛盾</a:t>
            </a:r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889000" y="3454400"/>
            <a:ext cx="1041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500">
                <a:solidFill>
                  <a:srgbClr val="E8C578"/>
                </a:solidFill>
                <a:latin typeface="Noto Sans SC"/>
                <a:ea typeface="Noto Sans SC"/>
                <a:cs typeface="Noto Sans SC"/>
                <a:sym typeface="Noto Sans SC"/>
              </a:rPr>
              <a:t>新时代"枫桥经验"强调"矛盾不上交"，与七十年前的思路一脉相承；当然也要看到，《正处》发表后不久即发生反右派斗争扩大化，说明正确理论的贯彻同样需要法治与制度的保障。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889000" y="4978400"/>
            <a:ext cx="1041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人民内部的矛盾，只能用民主的方法、商量的方法去解决。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