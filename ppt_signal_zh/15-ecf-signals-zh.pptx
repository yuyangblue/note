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5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25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3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  <p:sldMasterId id="2147483661" r:id="rId9"/>
  </p:sldMasterIdLst>
  <p:notesMasterIdLst>
    <p:notesMasterId r:id="rId6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00" r:id="rId54"/>
    <p:sldId id="301" r:id="rId55"/>
    <p:sldId id="302" r:id="rId56"/>
    <p:sldId id="303" r:id="rId57"/>
    <p:sldId id="304" r:id="rId58"/>
    <p:sldId id="305" r:id="rId59"/>
    <p:sldId id="306" r:id="rId60"/>
    <p:sldId id="307" r:id="rId61"/>
    <p:sldId id="308" r:id="rId62"/>
    <p:sldId id="309" r:id="rId63"/>
  </p:sldIdLst>
  <p:sldSz cx="9144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1.xml" Type="http://schemas.openxmlformats.org/officeDocument/2006/relationships/slide"/><Relationship Id="rId100" Target="notesSlides/notesSlide37.xml" Type="http://schemas.openxmlformats.org/officeDocument/2006/relationships/notesSlide"/><Relationship Id="rId101" Target="notesSlides/notesSlide38.xml" Type="http://schemas.openxmlformats.org/officeDocument/2006/relationships/notesSlide"/><Relationship Id="rId102" Target="notesSlides/notesSlide39.xml" Type="http://schemas.openxmlformats.org/officeDocument/2006/relationships/notesSlide"/><Relationship Id="rId103" Target="notesSlides/notesSlide40.xml" Type="http://schemas.openxmlformats.org/officeDocument/2006/relationships/notesSlide"/><Relationship Id="rId104" Target="notesSlides/notesSlide41.xml" Type="http://schemas.openxmlformats.org/officeDocument/2006/relationships/notesSlide"/><Relationship Id="rId105" Target="notesSlides/notesSlide42.xml" Type="http://schemas.openxmlformats.org/officeDocument/2006/relationships/notesSlide"/><Relationship Id="rId106" Target="notesSlides/notesSlide43.xml" Type="http://schemas.openxmlformats.org/officeDocument/2006/relationships/notesSlide"/><Relationship Id="rId107" Target="notesSlides/notesSlide44.xml" Type="http://schemas.openxmlformats.org/officeDocument/2006/relationships/notesSlide"/><Relationship Id="rId108" Target="notesSlides/notesSlide45.xml" Type="http://schemas.openxmlformats.org/officeDocument/2006/relationships/notesSlide"/><Relationship Id="rId109" Target="notesSlides/notesSlide46.xml" Type="http://schemas.openxmlformats.org/officeDocument/2006/relationships/notesSlide"/><Relationship Id="rId11" Target="slides/slide2.xml" Type="http://schemas.openxmlformats.org/officeDocument/2006/relationships/slide"/><Relationship Id="rId110" Target="notesSlides/notesSlide47.xml" Type="http://schemas.openxmlformats.org/officeDocument/2006/relationships/notesSlide"/><Relationship Id="rId111" Target="notesSlides/notesSlide48.xml" Type="http://schemas.openxmlformats.org/officeDocument/2006/relationships/notesSlide"/><Relationship Id="rId112" Target="notesSlides/notesSlide49.xml" Type="http://schemas.openxmlformats.org/officeDocument/2006/relationships/notesSlide"/><Relationship Id="rId113" Target="notesSlides/notesSlide50.xml" Type="http://schemas.openxmlformats.org/officeDocument/2006/relationships/notesSlide"/><Relationship Id="rId114" Target="notesSlides/notesSlide51.xml" Type="http://schemas.openxmlformats.org/officeDocument/2006/relationships/notesSlide"/><Relationship Id="rId115" Target="notesSlides/notesSlide52.xml" Type="http://schemas.openxmlformats.org/officeDocument/2006/relationships/notesSlide"/><Relationship Id="rId116" Target="notesSlides/notesSlide53.xml" Type="http://schemas.openxmlformats.org/officeDocument/2006/relationships/notesSlide"/><Relationship Id="rId117" Target="notesSlides/notesSlide54.xml" Type="http://schemas.openxmlformats.org/officeDocument/2006/relationships/notes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slides/slide6.xml" Type="http://schemas.openxmlformats.org/officeDocument/2006/relationships/slide"/><Relationship Id="rId16" Target="slides/slide7.xml" Type="http://schemas.openxmlformats.org/officeDocument/2006/relationships/slide"/><Relationship Id="rId17" Target="slides/slide8.xml" Type="http://schemas.openxmlformats.org/officeDocument/2006/relationships/slide"/><Relationship Id="rId18" Target="slides/slide9.xml" Type="http://schemas.openxmlformats.org/officeDocument/2006/relationships/slide"/><Relationship Id="rId19" Target="slides/slide10.xml" Type="http://schemas.openxmlformats.org/officeDocument/2006/relationships/slide"/><Relationship Id="rId2" Target="viewProps.xml" Type="http://schemas.openxmlformats.org/officeDocument/2006/relationships/viewProps"/><Relationship Id="rId20" Target="slides/slide11.xml" Type="http://schemas.openxmlformats.org/officeDocument/2006/relationships/slide"/><Relationship Id="rId21" Target="slides/slide12.xml" Type="http://schemas.openxmlformats.org/officeDocument/2006/relationships/slide"/><Relationship Id="rId22" Target="slides/slide13.xml" Type="http://schemas.openxmlformats.org/officeDocument/2006/relationships/slide"/><Relationship Id="rId23" Target="slides/slide14.xml" Type="http://schemas.openxmlformats.org/officeDocument/2006/relationships/slide"/><Relationship Id="rId24" Target="slides/slide15.xml" Type="http://schemas.openxmlformats.org/officeDocument/2006/relationships/slide"/><Relationship Id="rId25" Target="slides/slide16.xml" Type="http://schemas.openxmlformats.org/officeDocument/2006/relationships/slide"/><Relationship Id="rId26" Target="slides/slide17.xml" Type="http://schemas.openxmlformats.org/officeDocument/2006/relationships/slide"/><Relationship Id="rId27" Target="slides/slide18.xml" Type="http://schemas.openxmlformats.org/officeDocument/2006/relationships/slide"/><Relationship Id="rId28" Target="slides/slide19.xml" Type="http://schemas.openxmlformats.org/officeDocument/2006/relationships/slide"/><Relationship Id="rId29" Target="slides/slide20.xml" Type="http://schemas.openxmlformats.org/officeDocument/2006/relationships/slide"/><Relationship Id="rId3" Target="presProps.xml" Type="http://schemas.openxmlformats.org/officeDocument/2006/relationships/presProps"/><Relationship Id="rId30" Target="slides/slide21.xml" Type="http://schemas.openxmlformats.org/officeDocument/2006/relationships/slide"/><Relationship Id="rId31" Target="slides/slide22.xml" Type="http://schemas.openxmlformats.org/officeDocument/2006/relationships/slide"/><Relationship Id="rId32" Target="slides/slide23.xml" Type="http://schemas.openxmlformats.org/officeDocument/2006/relationships/slide"/><Relationship Id="rId33" Target="slides/slide24.xml" Type="http://schemas.openxmlformats.org/officeDocument/2006/relationships/slide"/><Relationship Id="rId34" Target="slides/slide25.xml" Type="http://schemas.openxmlformats.org/officeDocument/2006/relationships/slide"/><Relationship Id="rId35" Target="slides/slide26.xml" Type="http://schemas.openxmlformats.org/officeDocument/2006/relationships/slide"/><Relationship Id="rId36" Target="slides/slide27.xml" Type="http://schemas.openxmlformats.org/officeDocument/2006/relationships/slide"/><Relationship Id="rId37" Target="slides/slide28.xml" Type="http://schemas.openxmlformats.org/officeDocument/2006/relationships/slide"/><Relationship Id="rId38" Target="slides/slide29.xml" Type="http://schemas.openxmlformats.org/officeDocument/2006/relationships/slide"/><Relationship Id="rId39" Target="slides/slide30.xml" Type="http://schemas.openxmlformats.org/officeDocument/2006/relationships/slide"/><Relationship Id="rId4" Target="slideMasters/slideMaster1.xml" Type="http://schemas.openxmlformats.org/officeDocument/2006/relationships/slideMaster"/><Relationship Id="rId40" Target="slides/slide31.xml" Type="http://schemas.openxmlformats.org/officeDocument/2006/relationships/slide"/><Relationship Id="rId41" Target="slides/slide32.xml" Type="http://schemas.openxmlformats.org/officeDocument/2006/relationships/slide"/><Relationship Id="rId42" Target="slides/slide33.xml" Type="http://schemas.openxmlformats.org/officeDocument/2006/relationships/slide"/><Relationship Id="rId43" Target="slides/slide34.xml" Type="http://schemas.openxmlformats.org/officeDocument/2006/relationships/slide"/><Relationship Id="rId44" Target="slides/slide35.xml" Type="http://schemas.openxmlformats.org/officeDocument/2006/relationships/slide"/><Relationship Id="rId45" Target="slides/slide36.xml" Type="http://schemas.openxmlformats.org/officeDocument/2006/relationships/slide"/><Relationship Id="rId46" Target="slides/slide37.xml" Type="http://schemas.openxmlformats.org/officeDocument/2006/relationships/slide"/><Relationship Id="rId47" Target="slides/slide38.xml" Type="http://schemas.openxmlformats.org/officeDocument/2006/relationships/slide"/><Relationship Id="rId48" Target="slides/slide39.xml" Type="http://schemas.openxmlformats.org/officeDocument/2006/relationships/slide"/><Relationship Id="rId49" Target="slides/slide40.xml" Type="http://schemas.openxmlformats.org/officeDocument/2006/relationships/slide"/><Relationship Id="rId50" Target="slides/slide41.xml" Type="http://schemas.openxmlformats.org/officeDocument/2006/relationships/slide"/><Relationship Id="rId51" Target="slides/slide42.xml" Type="http://schemas.openxmlformats.org/officeDocument/2006/relationships/slide"/><Relationship Id="rId52" Target="slides/slide43.xml" Type="http://schemas.openxmlformats.org/officeDocument/2006/relationships/slide"/><Relationship Id="rId53" Target="slides/slide44.xml" Type="http://schemas.openxmlformats.org/officeDocument/2006/relationships/slide"/><Relationship Id="rId54" Target="slides/slide45.xml" Type="http://schemas.openxmlformats.org/officeDocument/2006/relationships/slide"/><Relationship Id="rId55" Target="slides/slide46.xml" Type="http://schemas.openxmlformats.org/officeDocument/2006/relationships/slide"/><Relationship Id="rId56" Target="slides/slide47.xml" Type="http://schemas.openxmlformats.org/officeDocument/2006/relationships/slide"/><Relationship Id="rId57" Target="slides/slide48.xml" Type="http://schemas.openxmlformats.org/officeDocument/2006/relationships/slide"/><Relationship Id="rId58" Target="slides/slide49.xml" Type="http://schemas.openxmlformats.org/officeDocument/2006/relationships/slide"/><Relationship Id="rId59" Target="slides/slide50.xml" Type="http://schemas.openxmlformats.org/officeDocument/2006/relationships/slide"/><Relationship Id="rId6" Target="notesMasters/notesMaster1.xml" Type="http://schemas.openxmlformats.org/officeDocument/2006/relationships/notesMaster"/><Relationship Id="rId60" Target="slides/slide51.xml" Type="http://schemas.openxmlformats.org/officeDocument/2006/relationships/slide"/><Relationship Id="rId61" Target="slides/slide52.xml" Type="http://schemas.openxmlformats.org/officeDocument/2006/relationships/slide"/><Relationship Id="rId62" Target="slides/slide53.xml" Type="http://schemas.openxmlformats.org/officeDocument/2006/relationships/slide"/><Relationship Id="rId63" Target="slides/slide54.xml" Type="http://schemas.openxmlformats.org/officeDocument/2006/relationships/slide"/><Relationship Id="rId64" Target="notesSlides/notesSlide1.xml" Type="http://schemas.openxmlformats.org/officeDocument/2006/relationships/notesSlide"/><Relationship Id="rId65" Target="notesSlides/notesSlide2.xml" Type="http://schemas.openxmlformats.org/officeDocument/2006/relationships/notesSlide"/><Relationship Id="rId66" Target="notesSlides/notesSlide3.xml" Type="http://schemas.openxmlformats.org/officeDocument/2006/relationships/notesSlide"/><Relationship Id="rId67" Target="notesSlides/notesSlide4.xml" Type="http://schemas.openxmlformats.org/officeDocument/2006/relationships/notesSlide"/><Relationship Id="rId68" Target="notesSlides/notesSlide5.xml" Type="http://schemas.openxmlformats.org/officeDocument/2006/relationships/notesSlide"/><Relationship Id="rId69" Target="notesSlides/notesSlide6.xml" Type="http://schemas.openxmlformats.org/officeDocument/2006/relationships/notesSlide"/><Relationship Id="rId7" Target="theme/theme2.xml" Type="http://schemas.openxmlformats.org/officeDocument/2006/relationships/theme"/><Relationship Id="rId70" Target="notesSlides/notesSlide7.xml" Type="http://schemas.openxmlformats.org/officeDocument/2006/relationships/notesSlide"/><Relationship Id="rId71" Target="notesSlides/notesSlide8.xml" Type="http://schemas.openxmlformats.org/officeDocument/2006/relationships/notesSlide"/><Relationship Id="rId72" Target="notesSlides/notesSlide9.xml" Type="http://schemas.openxmlformats.org/officeDocument/2006/relationships/notesSlide"/><Relationship Id="rId73" Target="notesSlides/notesSlide10.xml" Type="http://schemas.openxmlformats.org/officeDocument/2006/relationships/notesSlide"/><Relationship Id="rId74" Target="notesSlides/notesSlide11.xml" Type="http://schemas.openxmlformats.org/officeDocument/2006/relationships/notesSlide"/><Relationship Id="rId75" Target="notesSlides/notesSlide12.xml" Type="http://schemas.openxmlformats.org/officeDocument/2006/relationships/notesSlide"/><Relationship Id="rId76" Target="notesSlides/notesSlide13.xml" Type="http://schemas.openxmlformats.org/officeDocument/2006/relationships/notesSlide"/><Relationship Id="rId77" Target="notesSlides/notesSlide14.xml" Type="http://schemas.openxmlformats.org/officeDocument/2006/relationships/notesSlide"/><Relationship Id="rId78" Target="notesSlides/notesSlide15.xml" Type="http://schemas.openxmlformats.org/officeDocument/2006/relationships/notesSlide"/><Relationship Id="rId79" Target="notesSlides/notesSlide16.xml" Type="http://schemas.openxmlformats.org/officeDocument/2006/relationships/notesSlide"/><Relationship Id="rId8" Target="slideMasters/slideMaster2.xml" Type="http://schemas.openxmlformats.org/officeDocument/2006/relationships/slideMaster"/><Relationship Id="rId80" Target="notesSlides/notesSlide17.xml" Type="http://schemas.openxmlformats.org/officeDocument/2006/relationships/notesSlide"/><Relationship Id="rId81" Target="notesSlides/notesSlide18.xml" Type="http://schemas.openxmlformats.org/officeDocument/2006/relationships/notesSlide"/><Relationship Id="rId82" Target="notesSlides/notesSlide19.xml" Type="http://schemas.openxmlformats.org/officeDocument/2006/relationships/notesSlide"/><Relationship Id="rId83" Target="notesSlides/notesSlide20.xml" Type="http://schemas.openxmlformats.org/officeDocument/2006/relationships/notesSlide"/><Relationship Id="rId84" Target="notesSlides/notesSlide21.xml" Type="http://schemas.openxmlformats.org/officeDocument/2006/relationships/notesSlide"/><Relationship Id="rId85" Target="notesSlides/notesSlide22.xml" Type="http://schemas.openxmlformats.org/officeDocument/2006/relationships/notesSlide"/><Relationship Id="rId86" Target="notesSlides/notesSlide23.xml" Type="http://schemas.openxmlformats.org/officeDocument/2006/relationships/notesSlide"/><Relationship Id="rId87" Target="notesSlides/notesSlide24.xml" Type="http://schemas.openxmlformats.org/officeDocument/2006/relationships/notesSlide"/><Relationship Id="rId88" Target="notesSlides/notesSlide25.xml" Type="http://schemas.openxmlformats.org/officeDocument/2006/relationships/notesSlide"/><Relationship Id="rId89" Target="notesSlides/notesSlide26.xml" Type="http://schemas.openxmlformats.org/officeDocument/2006/relationships/notesSlide"/><Relationship Id="rId9" Target="slideMasters/slideMaster3.xml" Type="http://schemas.openxmlformats.org/officeDocument/2006/relationships/slideMaster"/><Relationship Id="rId90" Target="notesSlides/notesSlide27.xml" Type="http://schemas.openxmlformats.org/officeDocument/2006/relationships/notesSlide"/><Relationship Id="rId91" Target="notesSlides/notesSlide28.xml" Type="http://schemas.openxmlformats.org/officeDocument/2006/relationships/notesSlide"/><Relationship Id="rId92" Target="notesSlides/notesSlide29.xml" Type="http://schemas.openxmlformats.org/officeDocument/2006/relationships/notesSlide"/><Relationship Id="rId93" Target="notesSlides/notesSlide30.xml" Type="http://schemas.openxmlformats.org/officeDocument/2006/relationships/notesSlide"/><Relationship Id="rId94" Target="notesSlides/notesSlide31.xml" Type="http://schemas.openxmlformats.org/officeDocument/2006/relationships/notesSlide"/><Relationship Id="rId95" Target="notesSlides/notesSlide32.xml" Type="http://schemas.openxmlformats.org/officeDocument/2006/relationships/notesSlide"/><Relationship Id="rId96" Target="notesSlides/notesSlide33.xml" Type="http://schemas.openxmlformats.org/officeDocument/2006/relationships/notesSlide"/><Relationship Id="rId97" Target="notesSlides/notesSlide34.xml" Type="http://schemas.openxmlformats.org/officeDocument/2006/relationships/notesSlide"/><Relationship Id="rId98" Target="notesSlides/notesSlide35.xml" Type="http://schemas.openxmlformats.org/officeDocument/2006/relationships/notesSlide"/><Relationship Id="rId99" Target="notesSlides/notesSlide36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_rels/notesSlide3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0.xml" Type="http://schemas.openxmlformats.org/officeDocument/2006/relationships/slide"/></Relationships>
</file>

<file path=ppt/notesSlides/_rels/notesSlide3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1.xml" Type="http://schemas.openxmlformats.org/officeDocument/2006/relationships/slide"/></Relationships>
</file>

<file path=ppt/notesSlides/_rels/notesSlide3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2.xml" Type="http://schemas.openxmlformats.org/officeDocument/2006/relationships/slide"/></Relationships>
</file>

<file path=ppt/notesSlides/_rels/notesSlide3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3.xml" Type="http://schemas.openxmlformats.org/officeDocument/2006/relationships/slide"/></Relationships>
</file>

<file path=ppt/notesSlides/_rels/notesSlide3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4.xml" Type="http://schemas.openxmlformats.org/officeDocument/2006/relationships/slide"/></Relationships>
</file>

<file path=ppt/notesSlides/_rels/notesSlide3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5.xml" Type="http://schemas.openxmlformats.org/officeDocument/2006/relationships/slide"/></Relationships>
</file>

<file path=ppt/notesSlides/_rels/notesSlide3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6.xml" Type="http://schemas.openxmlformats.org/officeDocument/2006/relationships/slide"/></Relationships>
</file>

<file path=ppt/notesSlides/_rels/notesSlide3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7.xml" Type="http://schemas.openxmlformats.org/officeDocument/2006/relationships/slide"/></Relationships>
</file>

<file path=ppt/notesSlides/_rels/notesSlide3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8.xml" Type="http://schemas.openxmlformats.org/officeDocument/2006/relationships/slide"/></Relationships>
</file>

<file path=ppt/notesSlides/_rels/notesSlide3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9.xml" Type="http://schemas.openxmlformats.org/officeDocument/2006/relationships/slide"/></Relationships>
</file>

<file path=ppt/notesSlides/_rels/notesSlide4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0.xml" Type="http://schemas.openxmlformats.org/officeDocument/2006/relationships/slide"/></Relationships>
</file>

<file path=ppt/notesSlides/_rels/notesSlide4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1.xml" Type="http://schemas.openxmlformats.org/officeDocument/2006/relationships/slide"/></Relationships>
</file>

<file path=ppt/notesSlides/_rels/notesSlide4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2.xml" Type="http://schemas.openxmlformats.org/officeDocument/2006/relationships/slide"/></Relationships>
</file>

<file path=ppt/notesSlides/_rels/notesSlide4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3.xml" Type="http://schemas.openxmlformats.org/officeDocument/2006/relationships/slide"/></Relationships>
</file>

<file path=ppt/notesSlides/_rels/notesSlide4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4.xml" Type="http://schemas.openxmlformats.org/officeDocument/2006/relationships/slide"/></Relationships>
</file>

<file path=ppt/notesSlides/_rels/notesSlide4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5.xml" Type="http://schemas.openxmlformats.org/officeDocument/2006/relationships/slide"/></Relationships>
</file>

<file path=ppt/notesSlides/_rels/notesSlide4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6.xml" Type="http://schemas.openxmlformats.org/officeDocument/2006/relationships/slide"/></Relationships>
</file>

<file path=ppt/notesSlides/_rels/notesSlide4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7.xml" Type="http://schemas.openxmlformats.org/officeDocument/2006/relationships/slide"/></Relationships>
</file>

<file path=ppt/notesSlides/_rels/notesSlide4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8.xml" Type="http://schemas.openxmlformats.org/officeDocument/2006/relationships/slide"/></Relationships>
</file>

<file path=ppt/notesSlides/_rels/notesSlide4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9.xml" Type="http://schemas.openxmlformats.org/officeDocument/2006/relationships/slide"/></Relationships>
</file>

<file path=ppt/notesSlides/_rels/notesSlide5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0.xml" Type="http://schemas.openxmlformats.org/officeDocument/2006/relationships/slide"/></Relationships>
</file>

<file path=ppt/notesSlides/_rels/notesSlide5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1.xml" Type="http://schemas.openxmlformats.org/officeDocument/2006/relationships/slide"/></Relationships>
</file>

<file path=ppt/notesSlides/_rels/notesSlide5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2.xml" Type="http://schemas.openxmlformats.org/officeDocument/2006/relationships/slide"/></Relationships>
</file>

<file path=ppt/notesSlides/_rels/notesSlide5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3.xml" Type="http://schemas.openxmlformats.org/officeDocument/2006/relationships/slide"/></Relationships>
</file>

<file path=ppt/notesSlides/_rels/notesSlide5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ct val="30000"/>
              </a:spcBef>
            </a:pPr>
            <a:r>
              <a:rPr lang="en-US" b="false" i="false" strike="noStrike" u="none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ct val="30000"/>
              </a:spcBef>
            </a:pPr>
            <a:r>
              <a:rPr lang="en-US" b="false" i="false" strike="noStrike" u="none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rmAutofit lnSpcReduction="0"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ct val="30000"/>
              </a:spcBef>
            </a:pPr>
            <a:r>
              <a:rPr lang="en-US" b="false" i="false" strike="noStrike" u="none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ct val="30000"/>
              </a:spcBef>
            </a:pPr>
            <a:r>
              <a:rPr lang="en-US" b="false" i="false" strike="noStrike" u="none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ct val="30000"/>
              </a:spcBef>
            </a:pPr>
            <a:r>
              <a:rPr lang="en-US" b="false" i="false" strike="noStrike" u="none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ct val="30000"/>
              </a:spcBef>
            </a:pPr>
            <a:r>
              <a:rPr lang="en-US" b="false" i="false" strike="noStrike" u="none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 wrap="non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ct val="30000"/>
              </a:spcBef>
            </a:pPr>
            <a:r>
              <a:rPr lang="en-US" b="false" i="false" strike="noStrike" u="none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 wrap="non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ct val="30000"/>
              </a:spcBef>
            </a:pPr>
            <a:r>
              <a:rPr lang="en-US" b="false" i="false" strike="noStrike" u="none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rmAutofit lnSpcReduction="0"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ct val="30000"/>
              </a:spcBef>
            </a:pPr>
            <a:r>
              <a:rPr lang="en-US" b="false" i="false" strike="noStrike" u="none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ct val="30000"/>
              </a:spcBef>
            </a:pPr>
            <a:r>
              <a:rPr lang="en-US" b="false" i="false" strike="noStrike" u="none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ct val="30000"/>
              </a:spcBef>
            </a:pPr>
            <a:r>
              <a:rPr lang="en-US" b="false" i="false" strike="noStrike" u="none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ct val="30000"/>
              </a:spcBef>
            </a:pPr>
            <a:r>
              <a:rPr lang="en-US" b="false" i="false" strike="noStrike" u="none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ct val="30000"/>
              </a:spcBef>
            </a:pPr>
            <a:r>
              <a:rPr lang="en-US" b="false" i="false" strike="noStrike" u="none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ct val="30000"/>
              </a:spcBef>
            </a:pPr>
            <a:r>
              <a:rPr lang="en-US" b="false" i="false" strike="noStrike" u="none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ct val="30000"/>
              </a:spcBef>
            </a:pPr>
            <a:r>
              <a:rPr lang="en-US" b="false" i="false" strike="noStrike" u="none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ct val="30000"/>
              </a:spcBef>
            </a:pPr>
            <a:r>
              <a:rPr lang="en-US" b="false" i="false" strike="noStrike" u="none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ct val="30000"/>
              </a:spcBef>
            </a:pPr>
            <a:r>
              <a:rPr lang="en-US" b="false" i="false" strike="noStrike" u="none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ct val="30000"/>
              </a:spcBef>
            </a:pPr>
            <a:r>
              <a:rPr lang="en-US" b="false" i="false" strike="noStrike" u="none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ct val="30000"/>
              </a:spcBef>
            </a:pPr>
            <a:r>
              <a:rPr lang="en-US" b="false" i="false" strike="noStrike" u="none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ct val="30000"/>
              </a:spcBef>
            </a:pPr>
            <a:r>
              <a:rPr lang="en-US" b="false" i="false" strike="noStrike" u="none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ct val="30000"/>
              </a:spcBef>
            </a:pPr>
            <a:r>
              <a:rPr lang="en-US" b="false" i="false" strike="noStrike" u="none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ct val="30000"/>
              </a:spcBef>
            </a:pPr>
            <a:r>
              <a:rPr lang="en-US" b="false" i="false" strike="noStrike" u="none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ct val="30000"/>
              </a:spcBef>
            </a:pPr>
            <a:r>
              <a:rPr lang="en-US" b="false" i="false" strike="noStrike" u="none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ct val="30000"/>
              </a:spcBef>
            </a:pPr>
            <a:r>
              <a:rPr lang="en-US" b="false" i="false" strike="noStrike" u="none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ct val="30000"/>
              </a:spcBef>
            </a:pPr>
            <a:r>
              <a:rPr lang="en-US" b="false" i="false" strike="noStrike" u="none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ct val="30000"/>
              </a:spcBef>
            </a:pPr>
            <a:r>
              <a:rPr lang="en-US" b="false" i="false" strike="noStrike" u="none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ct val="30000"/>
              </a:spcBef>
            </a:pPr>
            <a:r>
              <a:rPr lang="en-US" b="false" i="false" strike="noStrike" u="none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ct val="30000"/>
              </a:spcBef>
            </a:pPr>
            <a:r>
              <a:rPr lang="en-US" b="false" i="false" strike="noStrike" u="none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ct val="30000"/>
              </a:spcBef>
            </a:pPr>
            <a:r>
              <a:rPr lang="en-US" b="false" i="false" strike="noStrike" u="none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rmAutofit lnSpcReduction="0"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ct val="30000"/>
              </a:spcBef>
            </a:pPr>
            <a:r>
              <a:rPr lang="en-US" b="false" i="false" strike="noStrike" u="none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ct val="30000"/>
              </a:spcBef>
            </a:pPr>
            <a:r>
              <a:rPr lang="en-US" b="false" i="false" strike="noStrike" u="none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ct val="30000"/>
              </a:spcBef>
            </a:pPr>
            <a:r>
              <a:rPr lang="en-US" b="false" i="false" strike="noStrike" u="none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ct val="30000"/>
              </a:spcBef>
            </a:pPr>
            <a:r>
              <a:rPr lang="en-US" b="false" i="false" strike="noStrike" u="none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ct val="30000"/>
              </a:spcBef>
            </a:pPr>
            <a:r>
              <a:rPr lang="en-US" b="false" i="false" strike="noStrike" u="none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ct val="30000"/>
              </a:spcBef>
            </a:pPr>
            <a:r>
              <a:rPr lang="en-US" b="false" i="false" strike="noStrike" u="none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ct val="30000"/>
              </a:spcBef>
            </a:pPr>
            <a:r>
              <a:rPr lang="en-US" b="false" i="false" strike="noStrike" u="none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ct val="30000"/>
              </a:spcBef>
            </a:pPr>
            <a:r>
              <a:rPr lang="en-US" b="false" i="false" strike="noStrike" u="none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3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4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5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6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7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8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9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0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1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2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3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4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5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" type="body" sz="quarter" hasCustomPrompt="true"/>
          </p:nvPr>
        </p:nvSpPr>
        <p:spPr>
          <a:xfrm rot="0" flipH="false" flipV="false">
            <a:off x="685800" y="1708012"/>
            <a:ext cx="7772400" cy="14700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tru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119126" indent="-119126">
              <a:lnSpc>
                <a:spcPct val="100000"/>
              </a:lnSpc>
            </a:pP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name="AutoShape 3" id="3"/>
          <p:cNvSpPr/>
          <p:nvPr>
            <p:ph idx="4" type="body" sz="quarter" hasCustomPrompt="true"/>
          </p:nvPr>
        </p:nvSpPr>
        <p:spPr>
          <a:xfrm rot="0" flipH="false" flipV="false">
            <a:off x="685800" y="3886200"/>
            <a:ext cx="7677492" cy="1752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0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 hasCustomPrompt="true"/>
          </p:nvPr>
        </p:nvSpPr>
        <p:spPr>
          <a:xfrm rot="0" flipH="false" flipV="false">
            <a:off x="357018" y="435678"/>
            <a:ext cx="7592093" cy="76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tru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119126" indent="-119126">
              <a:lnSpc>
                <a:spcPct val="100000"/>
              </a:lnSpc>
            </a:pP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name="AutoShape 3" id="3"/>
          <p:cNvSpPr/>
          <p:nvPr>
            <p:ph idx="6" type="body" sz="quarter" hasCustomPrompt="true"/>
          </p:nvPr>
        </p:nvSpPr>
        <p:spPr>
          <a:xfrm rot="0" flipH="false" flipV="false">
            <a:off x="396875" y="1362075"/>
            <a:ext cx="7896225" cy="49720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marL="647700" indent="-304800">
              <a:lnSpc>
                <a:spcPct val="100000"/>
              </a:lnSpc>
              <a:defRPr sz="2400" b="tru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996950" indent="-254000"/>
            <a:lvl3pPr marL="1397000" indent="-2540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Char char="¢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228600" marL="11430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80000"/>
              <a:buChar char="¢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228600" marL="16002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–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228600" marL="20574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»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7" type="body" sz="quarter" hasCustomPrompt="true"/>
          </p:nvPr>
        </p:nvSpPr>
        <p:spPr>
          <a:xfrm rot="0" flipH="false" flipV="false">
            <a:off x="722313" y="4406900"/>
            <a:ext cx="7772400" cy="13620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4000" b="tru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119126" indent="-119126">
              <a:lnSpc>
                <a:spcPct val="100000"/>
              </a:lnSpc>
            </a:pPr>
            <a:r>
              <a:rPr lang="en-US" b="true" i="false" strike="noStrike" u="none" sz="4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name="AutoShape 3" id="3"/>
          <p:cNvSpPr/>
          <p:nvPr>
            <p:ph idx="8" type="body" sz="quarter" hasCustomPrompt="true"/>
          </p:nvPr>
        </p:nvSpPr>
        <p:spPr>
          <a:xfrm rot="0" flipH="false" flipV="false">
            <a:off x="722313" y="2906713"/>
            <a:ext cx="7772400" cy="150018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000" b="tru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9" type="body" sz="quarter" hasCustomPrompt="true"/>
          </p:nvPr>
        </p:nvSpPr>
        <p:spPr>
          <a:xfrm rot="0" flipH="false" flipV="false">
            <a:off x="374090" y="371182"/>
            <a:ext cx="7591425" cy="76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tru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119126" indent="-119126">
              <a:lnSpc>
                <a:spcPct val="100000"/>
              </a:lnSpc>
            </a:pP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name="AutoShape 3" id="3"/>
          <p:cNvSpPr/>
          <p:nvPr>
            <p:ph idx="10" type="body" sz="quarter" hasCustomPrompt="true"/>
          </p:nvPr>
        </p:nvSpPr>
        <p:spPr>
          <a:xfrm rot="0" flipH="false" flipV="false">
            <a:off x="638175" y="1362075"/>
            <a:ext cx="3871913" cy="49720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marL="698500" indent="-355600">
              <a:lnSpc>
                <a:spcPct val="100000"/>
              </a:lnSpc>
              <a:defRPr sz="2800" b="tru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4775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</a:pPr>
            <a:r>
              <a:rPr lang="en-US" b="true" i="false" strike="noStrike" u="none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Char char="¢"/>
            </a:pPr>
            <a:r>
              <a:rPr lang="en-US" b="fals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228600" marL="11430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80000"/>
              <a:buChar char="¢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228600" marL="16002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–"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228600" marL="20574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»"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name="AutoShape 4" id="4"/>
          <p:cNvSpPr/>
          <p:nvPr>
            <p:ph idx="11" type="body" sz="quarter" hasCustomPrompt="true"/>
          </p:nvPr>
        </p:nvSpPr>
        <p:spPr>
          <a:xfrm rot="0" flipH="false" flipV="false">
            <a:off x="4662488" y="1362075"/>
            <a:ext cx="3871912" cy="49720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marL="698500" indent="-355600">
              <a:lnSpc>
                <a:spcPct val="100000"/>
              </a:lnSpc>
              <a:defRPr sz="2800" b="tru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4775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</a:pPr>
            <a:r>
              <a:rPr lang="en-US" b="true" i="false" strike="noStrike" u="none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Char char="¢"/>
            </a:pPr>
            <a:r>
              <a:rPr lang="en-US" b="fals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228600" marL="11430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80000"/>
              <a:buChar char="¢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228600" marL="16002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–"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228600" marL="20574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»"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2" type="body" sz="quarter" hasCustomPrompt="true"/>
          </p:nvPr>
        </p:nvSpPr>
        <p:spPr>
          <a:xfrm rot="0" flipH="false" flipV="false"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tru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119126" indent="-119126">
              <a:lnSpc>
                <a:spcPct val="100000"/>
              </a:lnSpc>
            </a:pP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name="AutoShape 3" id="3"/>
          <p:cNvSpPr/>
          <p:nvPr>
            <p:ph idx="13" type="body" sz="quarter" hasCustomPrompt="true"/>
          </p:nvPr>
        </p:nvSpPr>
        <p:spPr>
          <a:xfrm rot="0" flipH="false" flipV="false">
            <a:off x="457200" y="1535113"/>
            <a:ext cx="4040188" cy="63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</p:txBody>
      </p:sp>
      <p:sp>
        <p:nvSpPr>
          <p:cNvPr name="AutoShape 4" id="4"/>
          <p:cNvSpPr/>
          <p:nvPr>
            <p:ph idx="14" type="body" sz="quarter" hasCustomPrompt="true"/>
          </p:nvPr>
        </p:nvSpPr>
        <p:spPr>
          <a:xfrm rot="0" flipH="false" flipV="false">
            <a:off x="457200" y="2174875"/>
            <a:ext cx="4040188" cy="39512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marL="647700" indent="-304800">
              <a:lnSpc>
                <a:spcPct val="100000"/>
              </a:lnSpc>
              <a:defRPr sz="2400" b="tru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996950" indent="-254000"/>
            <a:lvl3pPr marL="1371600" indent="-228600"/>
            <a:lvl4pPr marL="1803400" indent="-203200"/>
            <a:lvl5pPr marL="2260600" indent="-203200"/>
            <a:lvl6pPr marL="2717800" indent="-203200"/>
            <a:lvl7pPr marL="3175000" indent="-203200"/>
            <a:lvl8pPr marL="3632200" indent="-203200"/>
            <a:lvl9pPr marL="4089400" indent="-203200"/>
          </a:lstStyle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Char char="¢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228600" marL="11430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80000"/>
              <a:buChar char="¢"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228600" marL="16002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–"/>
            </a:pPr>
            <a:r>
              <a:rPr lang="en-US" b="fals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228600" marL="20574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»"/>
            </a:pPr>
            <a:r>
              <a:rPr lang="en-US" b="fals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name="AutoShape 5" id="5"/>
          <p:cNvSpPr/>
          <p:nvPr>
            <p:ph idx="15" type="body" sz="quarter" hasCustomPrompt="true"/>
          </p:nvPr>
        </p:nvSpPr>
        <p:spPr>
          <a:xfrm rot="0" flipH="false" flipV="false">
            <a:off x="4645025" y="1535113"/>
            <a:ext cx="4041775" cy="63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</p:txBody>
      </p:sp>
      <p:sp>
        <p:nvSpPr>
          <p:cNvPr name="AutoShape 6" id="6"/>
          <p:cNvSpPr/>
          <p:nvPr>
            <p:ph idx="16" type="body" sz="quarter" hasCustomPrompt="true"/>
          </p:nvPr>
        </p:nvSpPr>
        <p:spPr>
          <a:xfrm rot="0" flipH="false" flipV="false">
            <a:off x="4645025" y="2174875"/>
            <a:ext cx="4041775" cy="39512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marL="647700" indent="-304800">
              <a:lnSpc>
                <a:spcPct val="100000"/>
              </a:lnSpc>
              <a:defRPr sz="2400" b="tru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996950" indent="-254000"/>
            <a:lvl3pPr marL="1371600" indent="-228600"/>
            <a:lvl4pPr marL="1803400" indent="-203200"/>
            <a:lvl5pPr marL="2260600" indent="-203200"/>
            <a:lvl6pPr marL="2717800" indent="-203200"/>
            <a:lvl7pPr marL="3175000" indent="-203200"/>
            <a:lvl8pPr marL="3632200" indent="-203200"/>
            <a:lvl9pPr marL="4089400" indent="-203200"/>
          </a:lstStyle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Char char="¢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228600" marL="11430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80000"/>
              <a:buChar char="¢"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228600" marL="16002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–"/>
            </a:pPr>
            <a:r>
              <a:rPr lang="en-US" b="fals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228600" marL="20574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»"/>
            </a:pPr>
            <a:r>
              <a:rPr lang="en-US" b="fals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7" type="body" sz="quarter" hasCustomPrompt="true"/>
          </p:nvPr>
        </p:nvSpPr>
        <p:spPr>
          <a:xfrm rot="0" flipH="false" flipV="false">
            <a:off x="357762" y="445070"/>
            <a:ext cx="7591425" cy="76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tru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119126" indent="-119126">
              <a:lnSpc>
                <a:spcPct val="100000"/>
              </a:lnSpc>
            </a:pP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8" type="body" sz="quarter" hasCustomPrompt="true"/>
          </p:nvPr>
        </p:nvSpPr>
        <p:spPr>
          <a:xfrm rot="0" flipH="false" flipV="false">
            <a:off x="457200" y="273050"/>
            <a:ext cx="3008313" cy="11620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000" b="tru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119126" indent="-119126">
              <a:lnSpc>
                <a:spcPct val="100000"/>
              </a:lnSpc>
            </a:pPr>
            <a:r>
              <a:rPr lang="en-US" b="tru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name="AutoShape 3" id="3"/>
          <p:cNvSpPr/>
          <p:nvPr>
            <p:ph idx="19" type="body" sz="quarter" hasCustomPrompt="true"/>
          </p:nvPr>
        </p:nvSpPr>
        <p:spPr>
          <a:xfrm rot="0" flipH="false" flipV="false">
            <a:off x="3575050" y="273050"/>
            <a:ext cx="5111750" cy="58531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marL="749300" indent="-406400">
              <a:lnSpc>
                <a:spcPct val="100000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</a:pPr>
            <a:r>
              <a:rPr lang="en-US" b="true" i="false" strike="noStrike" u="none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Char char="¢"/>
            </a:pPr>
            <a:r>
              <a:rPr lang="en-US" b="false" i="false" strike="noStrike" u="none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228600" marL="11430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80000"/>
              <a:buChar char="¢"/>
            </a:pPr>
            <a:r>
              <a:rPr lang="en-US" b="fals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228600" marL="16002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–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228600" marL="20574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»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name="AutoShape 4" id="4"/>
          <p:cNvSpPr/>
          <p:nvPr>
            <p:ph idx="20" type="body" sz="quarter" hasCustomPrompt="true"/>
          </p:nvPr>
        </p:nvSpPr>
        <p:spPr>
          <a:xfrm rot="0" flipH="false" flipV="false">
            <a:off x="457200" y="1435100"/>
            <a:ext cx="3008313" cy="46910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tru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1" type="body" sz="quarter" hasCustomPrompt="true"/>
          </p:nvPr>
        </p:nvSpPr>
        <p:spPr>
          <a:xfrm rot="0" flipH="false" flipV="false">
            <a:off x="1792288" y="4800600"/>
            <a:ext cx="5486400" cy="5667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000" b="tru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119126" indent="-119126">
              <a:lnSpc>
                <a:spcPct val="100000"/>
              </a:lnSpc>
            </a:pPr>
            <a:r>
              <a:rPr lang="en-US" b="tru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name="AutoShape 3" id="3"/>
          <p:cNvSpPr/>
          <p:nvPr>
            <p:ph idx="22" type="pic" sz="quarter"/>
          </p:nvPr>
        </p:nvSpPr>
        <p:spPr>
          <a:xfrm rot="0" flipH="false" flipV="false">
            <a:off x="1792288" y="612775"/>
            <a:ext cx="5486400" cy="411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23" type="body" sz="quarter" hasCustomPrompt="true"/>
          </p:nvPr>
        </p:nvSpPr>
        <p:spPr>
          <a:xfrm rot="0" flipH="false" flipV="false">
            <a:off x="1792288" y="5367338"/>
            <a:ext cx="5486400" cy="8048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tru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4" type="body" sz="quarter" hasCustomPrompt="true"/>
          </p:nvPr>
        </p:nvSpPr>
        <p:spPr>
          <a:xfrm rot="0" flipH="false" flipV="false">
            <a:off x="374090" y="371182"/>
            <a:ext cx="7591425" cy="76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tru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119126" indent="-119126">
              <a:lnSpc>
                <a:spcPct val="100000"/>
              </a:lnSpc>
            </a:pP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name="AutoShape 3" id="3"/>
          <p:cNvSpPr/>
          <p:nvPr>
            <p:ph idx="25" type="body" sz="quarter" hasCustomPrompt="true"/>
          </p:nvPr>
        </p:nvSpPr>
        <p:spPr>
          <a:xfrm rot="0" flipH="false" flipV="false">
            <a:off x="396875" y="1362075"/>
            <a:ext cx="7896225" cy="49720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eaVert" wrap="square" lIns="91440" rIns="91440" tIns="45720" bIns="45720">
            <a:noAutofit/>
          </a:bodyPr>
          <a:lstStyle>
            <a:lvl1pPr algn="l" marL="647700" indent="-304800">
              <a:lnSpc>
                <a:spcPct val="100000"/>
              </a:lnSpc>
              <a:defRPr sz="2400" b="tru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996950" indent="-254000"/>
            <a:lvl3pPr marL="1397000" indent="-2540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Char char="¢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228600" marL="11430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80000"/>
              <a:buChar char="¢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228600" marL="16002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–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228600" marL="20574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»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6" type="body" sz="quarter" hasCustomPrompt="true"/>
          </p:nvPr>
        </p:nvSpPr>
        <p:spPr>
          <a:xfrm rot="0" flipH="false" flipV="false">
            <a:off x="6958013" y="228600"/>
            <a:ext cx="2185987" cy="61055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eaVer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tru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119126" indent="-119126">
              <a:lnSpc>
                <a:spcPct val="100000"/>
              </a:lnSpc>
            </a:pP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name="AutoShape 3" id="3"/>
          <p:cNvSpPr/>
          <p:nvPr>
            <p:ph idx="27" type="body" sz="quarter" hasCustomPrompt="true"/>
          </p:nvPr>
        </p:nvSpPr>
        <p:spPr>
          <a:xfrm rot="0" flipH="false" flipV="false">
            <a:off x="396875" y="228600"/>
            <a:ext cx="6408738" cy="61055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eaVert" wrap="square" lIns="91440" rIns="91440" tIns="45720" bIns="45720">
            <a:noAutofit/>
          </a:bodyPr>
          <a:lstStyle>
            <a:lvl1pPr algn="l" marL="647700" indent="-304800">
              <a:lnSpc>
                <a:spcPct val="100000"/>
              </a:lnSpc>
              <a:defRPr sz="2400" b="tru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996950" indent="-254000"/>
            <a:lvl3pPr marL="1397000" indent="-2540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Char char="¢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228600" marL="11430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80000"/>
              <a:buChar char="¢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228600" marL="16002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–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228600" marL="20574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»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8" type="body" sz="quarter" hasCustomPrompt="true"/>
          </p:nvPr>
        </p:nvSpPr>
        <p:spPr>
          <a:xfrm rot="0" flipH="false" flipV="false">
            <a:off x="396875" y="228600"/>
            <a:ext cx="8747125" cy="76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tru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119126" indent="-119126">
              <a:lnSpc>
                <a:spcPct val="100000"/>
              </a:lnSpc>
            </a:pP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name="AutoShape 3" id="3"/>
          <p:cNvSpPr/>
          <p:nvPr>
            <p:ph idx="29" type="body" sz="quarter" hasCustomPrompt="true"/>
          </p:nvPr>
        </p:nvSpPr>
        <p:spPr>
          <a:xfrm rot="0" flipH="false" flipV="false">
            <a:off x="638175" y="1362075"/>
            <a:ext cx="3871913" cy="49720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marL="647700" indent="-304800">
              <a:lnSpc>
                <a:spcPct val="100000"/>
              </a:lnSpc>
              <a:defRPr sz="2400" b="tru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996950" indent="-254000"/>
            <a:lvl3pPr marL="1397000" indent="-2540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Char char="¢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228600" marL="11430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80000"/>
              <a:buChar char="¢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228600" marL="16002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–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228600" marL="20574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»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name="AutoShape 4" id="4"/>
          <p:cNvSpPr/>
          <p:nvPr>
            <p:ph idx="30" type="body" sz="quarter" hasCustomPrompt="true"/>
          </p:nvPr>
        </p:nvSpPr>
        <p:spPr>
          <a:xfrm rot="0" flipH="false" flipV="false">
            <a:off x="4662488" y="1362075"/>
            <a:ext cx="3871912" cy="24098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marL="647700" indent="-304800">
              <a:lnSpc>
                <a:spcPct val="100000"/>
              </a:lnSpc>
              <a:defRPr sz="2400" b="tru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996950" indent="-254000"/>
            <a:lvl3pPr marL="1397000" indent="-2540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Char char="¢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228600" marL="11430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80000"/>
              <a:buChar char="¢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228600" marL="16002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–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228600" marL="20574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»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name="AutoShape 5" id="5"/>
          <p:cNvSpPr/>
          <p:nvPr>
            <p:ph idx="31" type="body" sz="quarter" hasCustomPrompt="true"/>
          </p:nvPr>
        </p:nvSpPr>
        <p:spPr>
          <a:xfrm rot="0" flipH="false" flipV="false">
            <a:off x="4662488" y="3924300"/>
            <a:ext cx="3871912" cy="24098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marL="647700" indent="-304800">
              <a:lnSpc>
                <a:spcPct val="100000"/>
              </a:lnSpc>
              <a:defRPr sz="2400" b="tru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996950" indent="-254000"/>
            <a:lvl3pPr marL="1397000" indent="-2540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Char char="¢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228600" marL="11430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80000"/>
              <a:buChar char="¢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228600" marL="16002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–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228600" marL="20574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»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2" type="body" sz="quarter" hasCustomPrompt="true"/>
          </p:nvPr>
        </p:nvSpPr>
        <p:spPr>
          <a:xfrm rot="0" flipH="false" flipV="false">
            <a:off x="396875" y="228600"/>
            <a:ext cx="8747125" cy="76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tru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119126" indent="-119126">
              <a:lnSpc>
                <a:spcPct val="100000"/>
              </a:lnSpc>
            </a:pP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name="AutoShape 3" id="3"/>
          <p:cNvSpPr/>
          <p:nvPr>
            <p:ph idx="33" type="body" sz="quarter" hasCustomPrompt="true"/>
          </p:nvPr>
        </p:nvSpPr>
        <p:spPr>
          <a:xfrm rot="0" flipH="false" flipV="false">
            <a:off x="638175" y="1362075"/>
            <a:ext cx="3871913" cy="49720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marL="647700" indent="-304800">
              <a:lnSpc>
                <a:spcPct val="100000"/>
              </a:lnSpc>
              <a:defRPr sz="2400" b="tru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996950" indent="-254000"/>
            <a:lvl3pPr marL="1397000" indent="-2540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Char char="¢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228600" marL="11430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80000"/>
              <a:buChar char="¢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228600" marL="16002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–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228600" marL="20574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»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name="AutoShape 4" id="4"/>
          <p:cNvSpPr/>
          <p:nvPr>
            <p:ph idx="34" type="body" sz="quarter" hasCustomPrompt="true"/>
          </p:nvPr>
        </p:nvSpPr>
        <p:spPr>
          <a:xfrm rot="0" flipH="false" flipV="false">
            <a:off x="4662488" y="1362075"/>
            <a:ext cx="3871912" cy="49720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marL="647700" indent="-304800">
              <a:lnSpc>
                <a:spcPct val="100000"/>
              </a:lnSpc>
              <a:defRPr sz="2400" b="tru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996950" indent="-254000"/>
            <a:lvl3pPr marL="1397000" indent="-2540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Char char="¢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228600" marL="11430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80000"/>
              <a:buChar char="¢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228600" marL="16002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–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228600" marL="20574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»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_rels/slideMaster3.xml.rels><?xml version="1.0" encoding="UTF-8" standalone="yes"?><Relationships xmlns="http://schemas.openxmlformats.org/package/2006/relationships"><Relationship Id="rId1" Target="../theme/theme4.xml" Type="http://schemas.openxmlformats.org/officeDocument/2006/relationships/theme"/><Relationship Id="rId10" Target="../slideLayouts/slideLayout21.xml" Type="http://schemas.openxmlformats.org/officeDocument/2006/relationships/slideLayout"/><Relationship Id="rId11" Target="../slideLayouts/slideLayout22.xml" Type="http://schemas.openxmlformats.org/officeDocument/2006/relationships/slideLayout"/><Relationship Id="rId12" Target="../slideLayouts/slideLayout23.xml" Type="http://schemas.openxmlformats.org/officeDocument/2006/relationships/slideLayout"/><Relationship Id="rId13" Target="../slideLayouts/slideLayout24.xml" Type="http://schemas.openxmlformats.org/officeDocument/2006/relationships/slideLayout"/><Relationship Id="rId14" Target="../slideLayouts/slideLayout25.xml" Type="http://schemas.openxmlformats.org/officeDocument/2006/relationships/slideLayout"/><Relationship Id="rId2" Target="../slideLayouts/slideLayout13.xml" Type="http://schemas.openxmlformats.org/officeDocument/2006/relationships/slideLayout"/><Relationship Id="rId3" Target="../slideLayouts/slideLayout14.xml" Type="http://schemas.openxmlformats.org/officeDocument/2006/relationships/slideLayout"/><Relationship Id="rId4" Target="../slideLayouts/slideLayout15.xml" Type="http://schemas.openxmlformats.org/officeDocument/2006/relationships/slideLayout"/><Relationship Id="rId5" Target="../slideLayouts/slideLayout16.xml" Type="http://schemas.openxmlformats.org/officeDocument/2006/relationships/slideLayout"/><Relationship Id="rId6" Target="../slideLayouts/slideLayout17.xml" Type="http://schemas.openxmlformats.org/officeDocument/2006/relationships/slideLayout"/><Relationship Id="rId7" Target="../slideLayouts/slideLayout18.xml" Type="http://schemas.openxmlformats.org/officeDocument/2006/relationships/slideLayout"/><Relationship Id="rId8" Target="../slideLayouts/slideLayout19.xml" Type="http://schemas.openxmlformats.org/officeDocument/2006/relationships/slideLayout"/><Relationship Id="rId9" Target="../slideLayouts/slideLayout20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自定义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emplate2007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1" id="1"/>
          <p:cNvSpPr/>
          <p:nvPr>
            <p:ph idx="1" type="body" sz="quarter" hasCustomPrompt="true"/>
          </p:nvPr>
        </p:nvSpPr>
        <p:spPr>
          <a:xfrm rot="0" flipH="false" flipV="false">
            <a:off x="374090" y="371182"/>
            <a:ext cx="7591425" cy="762000"/>
          </a:xfrm>
          <a:prstGeom prst="rect">
            <a:avLst/>
          </a:prstGeom>
          <a:noFill/>
          <a:ln w="12700">
            <a:noFill/>
            <a:prstDash val="solid"/>
            <a:miter lim="800000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tru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119126" indent="-119126">
              <a:lnSpc>
                <a:spcPct val="100000"/>
              </a:lnSpc>
            </a:pP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name="AutoShape 2" id="2"/>
          <p:cNvSpPr/>
          <p:nvPr>
            <p:ph idx="2" type="body" sz="quarter" hasCustomPrompt="true"/>
          </p:nvPr>
        </p:nvSpPr>
        <p:spPr>
          <a:xfrm rot="0" flipH="false" flipV="false">
            <a:off x="396875" y="1362075"/>
            <a:ext cx="7896225" cy="4972050"/>
          </a:xfrm>
          <a:prstGeom prst="rect">
            <a:avLst/>
          </a:prstGeom>
          <a:noFill/>
          <a:ln w="12700">
            <a:noFill/>
            <a:prstDash val="solid"/>
            <a:miter lim="800000"/>
          </a:ln>
        </p:spPr>
        <p:txBody>
          <a:bodyPr anchor="t" vert="horz" wrap="square" lIns="91440" rIns="91440" tIns="45720" bIns="45720">
            <a:noAutofit/>
          </a:bodyPr>
          <a:lstStyle>
            <a:lvl1pPr algn="l" marL="647700" indent="-304800">
              <a:lnSpc>
                <a:spcPct val="100000"/>
              </a:lnSpc>
              <a:defRPr sz="2400" b="tru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996950" indent="-254000"/>
            <a:lvl3pPr marL="1397000" indent="-2540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Char char="¢"/>
            </a:pPr>
            <a:r>
              <a:rPr lang="en-US" b="tru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228600" marL="11430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80000"/>
              <a:buChar char="¢"/>
            </a:pPr>
            <a:r>
              <a:rPr lang="en-US" b="tru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228600" marL="16002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–"/>
            </a:pPr>
            <a:r>
              <a:rPr lang="en-US" b="tru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228600" marL="20574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»"/>
            </a:pPr>
            <a:r>
              <a:rPr lang="en-US" b="tru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0"/>
            <a:ext cx="9144000" cy="228600"/>
          </a:xfrm>
          <a:prstGeom prst="rect">
            <a:avLst/>
          </a:prstGeom>
          <a:solidFill>
            <a:srgbClr val="990000">
              <a:alpha val="100000"/>
            </a:srgbClr>
          </a:solidFill>
          <a:ln w="12700">
            <a:noFill/>
            <a:prstDash val="solid"/>
            <a:miter lim="800000"/>
          </a:ln>
        </p:spPr>
        <p:txBody>
          <a:bodyPr anchor="ctr" rtlCol="false" wrap="non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897813" y="-26988"/>
            <a:ext cx="1309687" cy="277813"/>
          </a:xfrm>
          <a:prstGeom prst="rect">
            <a:avLst/>
          </a:prstGeom>
          <a:noFill/>
          <a:ln w="12700">
            <a:noFill/>
            <a:prstDash val="solid"/>
            <a:miter lim="800000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Carnegie Mellon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30843" y="6611779"/>
            <a:ext cx="313157" cy="2462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fld type="slidenum" id="{346637C8-C37A-4992-B1A7-0CBF3282D3AC}">
              <a:rPr b="true" i="false" strike="noStrike" u="none" sz="10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-16031" y="6629400"/>
            <a:ext cx="4649342" cy="2462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lang="en-US" sz="11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57483700" r:id="rId2"/>
    <p:sldLayoutId id="2157483701" r:id="rId3"/>
    <p:sldLayoutId id="2157483702" r:id="rId4"/>
    <p:sldLayoutId id="2157483703" r:id="rId5"/>
    <p:sldLayoutId id="2157483704" r:id="rId6"/>
    <p:sldLayoutId id="2157483705" r:id="rId7"/>
    <p:sldLayoutId id="2157483706" r:id="rId8"/>
    <p:sldLayoutId id="2157483707" r:id="rId9"/>
    <p:sldLayoutId id="2157483708" r:id="rId10"/>
    <p:sldLayoutId id="2157483709" r:id="rId11"/>
    <p:sldLayoutId id="2157483710" r:id="rId12"/>
    <p:sldLayoutId id="2157483711" r:id="rId13"/>
    <p:sldLayoutId id="215748371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0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1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2.xml" Type="http://schemas.openxmlformats.org/officeDocument/2006/relationships/notesSlide"/></Relationships>
</file>

<file path=ppt/slides/_rels/slide2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3.xml" Type="http://schemas.openxmlformats.org/officeDocument/2006/relationships/notesSlide"/></Relationships>
</file>

<file path=ppt/slides/_rels/slide2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4.xml" Type="http://schemas.openxmlformats.org/officeDocument/2006/relationships/notesSlide"/></Relationships>
</file>

<file path=ppt/slides/_rels/slide2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5.xml" Type="http://schemas.openxmlformats.org/officeDocument/2006/relationships/notesSlide"/></Relationships>
</file>

<file path=ppt/slides/_rels/slide2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6.xml" Type="http://schemas.openxmlformats.org/officeDocument/2006/relationships/notesSlide"/></Relationships>
</file>

<file path=ppt/slides/_rels/slide2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7.xml" Type="http://schemas.openxmlformats.org/officeDocument/2006/relationships/notesSlide"/></Relationships>
</file>

<file path=ppt/slides/_rels/slide2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8.xml" Type="http://schemas.openxmlformats.org/officeDocument/2006/relationships/notesSlide"/></Relationships>
</file>

<file path=ppt/slides/_rels/slide2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9.xml" Type="http://schemas.openxmlformats.org/officeDocument/2006/relationships/notesSlide"/></Relationships>
</file>

<file path=ppt/slides/_rels/slide3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0.xml" Type="http://schemas.openxmlformats.org/officeDocument/2006/relationships/notesSlide"/></Relationships>
</file>

<file path=ppt/slides/_rels/slide3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1.xml" Type="http://schemas.openxmlformats.org/officeDocument/2006/relationships/notesSlide"/></Relationships>
</file>

<file path=ppt/slides/_rels/slide3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2.xml" Type="http://schemas.openxmlformats.org/officeDocument/2006/relationships/notesSlide"/></Relationships>
</file>

<file path=ppt/slides/_rels/slide3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3.xml" Type="http://schemas.openxmlformats.org/officeDocument/2006/relationships/notesSlide"/></Relationships>
</file>

<file path=ppt/slides/_rels/slide3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4.xml" Type="http://schemas.openxmlformats.org/officeDocument/2006/relationships/notesSlide"/></Relationships>
</file>

<file path=ppt/slides/_rels/slide3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5.xml" Type="http://schemas.openxmlformats.org/officeDocument/2006/relationships/notesSlide"/></Relationships>
</file>

<file path=ppt/slides/_rels/slide3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6.xml" Type="http://schemas.openxmlformats.org/officeDocument/2006/relationships/notesSlide"/></Relationships>
</file>

<file path=ppt/slides/_rels/slide3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7.xml" Type="http://schemas.openxmlformats.org/officeDocument/2006/relationships/notesSlide"/></Relationships>
</file>

<file path=ppt/slides/_rels/slide3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8.xml" Type="http://schemas.openxmlformats.org/officeDocument/2006/relationships/notesSlide"/></Relationships>
</file>

<file path=ppt/slides/_rels/slide3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9.xml" Type="http://schemas.openxmlformats.org/officeDocument/2006/relationships/notesSlide"/></Relationships>
</file>

<file path=ppt/slides/_rels/slide4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0.xml" Type="http://schemas.openxmlformats.org/officeDocument/2006/relationships/notesSlide"/></Relationships>
</file>

<file path=ppt/slides/_rels/slide4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1.xml" Type="http://schemas.openxmlformats.org/officeDocument/2006/relationships/notesSlide"/></Relationships>
</file>

<file path=ppt/slides/_rels/slide4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2.xml" Type="http://schemas.openxmlformats.org/officeDocument/2006/relationships/notesSlide"/></Relationships>
</file>

<file path=ppt/slides/_rels/slide4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3.xml" Type="http://schemas.openxmlformats.org/officeDocument/2006/relationships/notesSlide"/></Relationships>
</file>

<file path=ppt/slides/_rels/slide4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4.xml" Type="http://schemas.openxmlformats.org/officeDocument/2006/relationships/notesSlide"/></Relationships>
</file>

<file path=ppt/slides/_rels/slide4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5.xml" Type="http://schemas.openxmlformats.org/officeDocument/2006/relationships/notesSlide"/></Relationships>
</file>

<file path=ppt/slides/_rels/slide4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6.xml" Type="http://schemas.openxmlformats.org/officeDocument/2006/relationships/notesSlide"/></Relationships>
</file>

<file path=ppt/slides/_rels/slide4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7.xml" Type="http://schemas.openxmlformats.org/officeDocument/2006/relationships/notesSlide"/></Relationships>
</file>

<file path=ppt/slides/_rels/slide4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8.xml" Type="http://schemas.openxmlformats.org/officeDocument/2006/relationships/notesSlide"/></Relationships>
</file>

<file path=ppt/slides/_rels/slide4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9.xml" Type="http://schemas.openxmlformats.org/officeDocument/2006/relationships/notesSlide"/></Relationships>
</file>

<file path=ppt/slides/_rels/slide5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0.xml" Type="http://schemas.openxmlformats.org/officeDocument/2006/relationships/notesSlide"/></Relationships>
</file>

<file path=ppt/slides/_rels/slide5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1.xml" Type="http://schemas.openxmlformats.org/officeDocument/2006/relationships/notesSlide"/></Relationships>
</file>

<file path=ppt/slides/_rels/slide5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2.xml" Type="http://schemas.openxmlformats.org/officeDocument/2006/relationships/notesSlide"/></Relationships>
</file>

<file path=ppt/slides/_rels/slide5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3.xml" Type="http://schemas.openxmlformats.org/officeDocument/2006/relationships/notesSlide"/></Relationships>
</file>

<file path=ppt/slides/_rels/slide5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4.xml" Type="http://schemas.openxmlformats.org/officeDocument/2006/relationships/notesSlide"/><Relationship Id="rId3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228600"/>
          </a:xfrm>
          <a:prstGeom prst="roundRect">
            <a:avLst>
              <a:gd name="adj" fmla="val 0"/>
            </a:avLst>
          </a:prstGeom>
          <a:solidFill>
            <a:srgbClr val="99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97813" y="-26988"/>
            <a:ext cx="1309687" cy="277813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Carnegie Mellon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6031" y="6629400"/>
            <a:ext cx="4649342" cy="246221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85800" y="1295400"/>
            <a:ext cx="7772400" cy="21336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异常控制流：</a:t>
            </a: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信号与非本地跳转</a:t>
            </a: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15-213：计算机系统导论</a:t>
            </a: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第 15 讲，2015 年 10 月 20 日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85800" y="3886200"/>
            <a:ext cx="7678738" cy="17526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授课教师：</a:t>
            </a:r>
            <a:r>
              <a:rPr lang="en-US" b="tru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Randal E. Bryant and David R. O’Hallaron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228600"/>
          </a:xfrm>
          <a:prstGeom prst="roundRect">
            <a:avLst>
              <a:gd name="adj" fmla="val 0"/>
            </a:avLst>
          </a:prstGeom>
          <a:solidFill>
            <a:srgbClr val="99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97813" y="-26988"/>
            <a:ext cx="1309687" cy="277813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Carnegie Mellon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6031" y="6629400"/>
            <a:ext cx="4649342" cy="246221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57018" y="435678"/>
            <a:ext cx="7592093" cy="762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119126" indent="-119126">
              <a:lnSpc>
                <a:spcPct val="100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ECF 存在于系统的各个层次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96875" y="1285875"/>
            <a:ext cx="7896225" cy="497205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>
            <a:lvl1pPr marL="647700" indent="-304800"/>
            <a:lvl2pPr marL="996950" indent="-254000"/>
            <a:lvl3pPr marL="1346200" indent="-254000"/>
            <a:lvl4pPr marL="1695450" indent="-254000"/>
            <a:lvl5pPr marL="2044700" indent="-254000"/>
            <a:lvl6pPr marL="2393950" indent="-254000"/>
            <a:lvl7pPr marL="2743200" indent="-254000"/>
            <a:lvl8pPr marL="3092450" indent="-254000"/>
            <a:lvl9pPr marL="3441700" indent="-254000"/>
          </a:lstStyle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  <a:defRPr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异常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硬件和操作系统内核软件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进程上下文切换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硬件定时器和内核软件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信号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内核软件和应用程序软件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非本地跳转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应用程序代码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239933" y="1481435"/>
            <a:ext cx="228600" cy="1295400"/>
          </a:xfrm>
          <a:prstGeom prst="rightBrace">
            <a:avLst>
              <a:gd name="adj1" fmla="val 104167"/>
              <a:gd name="adj2" fmla="val 50000"/>
            </a:avLst>
          </a:prstGeom>
          <a:noFill/>
          <a:ln w="12700" cmpd="sng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45720" rIns="45720" tIns="45720" bIns="45720"/>
          <a:lstStyle/>
          <a:p>
            <a:pPr algn="l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480490" y="1900535"/>
            <a:ext cx="2206310" cy="461665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45720" rIns="4572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上一讲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48399" y="3124200"/>
            <a:ext cx="220133" cy="533400"/>
          </a:xfrm>
          <a:prstGeom prst="rightBrace">
            <a:avLst>
              <a:gd name="adj1" fmla="val 104167"/>
              <a:gd name="adj2" fmla="val 50000"/>
            </a:avLst>
          </a:prstGeom>
          <a:noFill/>
          <a:ln w="12700" cmpd="sng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45720" rIns="45720" tIns="45720" bIns="45720"/>
          <a:lstStyle/>
          <a:p>
            <a:pPr algn="l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477000" y="3119735"/>
            <a:ext cx="1624547" cy="461665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45720" rIns="4572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本讲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477000" y="3664803"/>
            <a:ext cx="2632241" cy="830997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45720" rIns="4572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课本和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补充幻灯片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48399" y="3771900"/>
            <a:ext cx="220133" cy="533400"/>
          </a:xfrm>
          <a:prstGeom prst="rightBrace">
            <a:avLst>
              <a:gd name="adj1" fmla="val 104167"/>
              <a:gd name="adj2" fmla="val 50000"/>
            </a:avLst>
          </a:prstGeom>
          <a:noFill/>
          <a:ln w="12700" cmpd="sng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45720" rIns="45720" tIns="45720" bIns="45720"/>
          <a:lstStyle/>
          <a:p>
            <a:pPr algn="l">
              <a:defRPr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228600"/>
          </a:xfrm>
          <a:prstGeom prst="roundRect">
            <a:avLst>
              <a:gd name="adj" fmla="val 0"/>
            </a:avLst>
          </a:prstGeom>
          <a:solidFill>
            <a:srgbClr val="99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97813" y="-26988"/>
            <a:ext cx="1309687" cy="277813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Carnegie Mellon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6031" y="6629400"/>
            <a:ext cx="4649342" cy="246221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57018" y="435678"/>
            <a:ext cx="7592093" cy="762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119126" indent="-119126">
              <a:lnSpc>
                <a:spcPct val="100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今日内容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96875" y="1362075"/>
            <a:ext cx="7896225" cy="497205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>
            <a:lvl1pPr marL="647700" indent="-304800"/>
            <a:lvl2pPr marL="1104900" indent="-304800"/>
            <a:lvl3pPr marL="1562100" indent="-304800"/>
            <a:lvl4pPr marL="2019300" indent="-304800"/>
            <a:lvl5pPr marL="2476500" indent="-304800"/>
            <a:lvl6pPr marL="2933700" indent="-304800"/>
            <a:lvl7pPr marL="3390900" indent="-304800"/>
            <a:lvl8pPr marL="3848100" indent="-304800"/>
            <a:lvl9pPr marL="4305300" indent="-304800"/>
          </a:lstStyle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  <a:defRPr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外壳 Shell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</a:pPr>
            <a:r>
              <a:rPr lang="en-US" b="true" i="false" strike="noStrike" u="none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信号 Signals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</a:pPr>
            <a:r>
              <a:rPr lang="en-US" b="true" i="false" strike="noStrike" u="none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非本地跳转 Nonlocal jumps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228600"/>
          </a:xfrm>
          <a:prstGeom prst="roundRect">
            <a:avLst>
              <a:gd name="adj" fmla="val 0"/>
            </a:avLst>
          </a:prstGeom>
          <a:solidFill>
            <a:srgbClr val="99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97813" y="-26988"/>
            <a:ext cx="1309687" cy="277813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Carnegie Mellon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6031" y="6629400"/>
            <a:ext cx="4649342" cy="246221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57018" y="435678"/>
            <a:ext cx="7592093" cy="762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119126" indent="-119126">
              <a:lnSpc>
                <a:spcPct val="100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Linux 进程层次结构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895600" y="3581400"/>
            <a:ext cx="1676400" cy="533400"/>
          </a:xfrm>
          <a:prstGeom prst="ellipse">
            <a:avLst/>
          </a:prstGeom>
          <a:solidFill>
            <a:srgbClr val="F6F5BD">
              <a:alpha val="100000"/>
            </a:srgbClr>
          </a:solidFill>
          <a:ln w="25400" cmpd="sng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登录外壳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895600" y="4572000"/>
            <a:ext cx="1676400" cy="533400"/>
          </a:xfrm>
          <a:prstGeom prst="ellipse">
            <a:avLst/>
          </a:prstGeom>
          <a:solidFill>
            <a:srgbClr val="F6F5BD">
              <a:alpha val="100000"/>
            </a:srgbClr>
          </a:solidFill>
          <a:ln w="25400" cmpd="sng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子进程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38200" y="4572000"/>
            <a:ext cx="1676400" cy="533400"/>
          </a:xfrm>
          <a:prstGeom prst="ellipse">
            <a:avLst/>
          </a:prstGeom>
          <a:solidFill>
            <a:srgbClr val="F6F5BD">
              <a:alpha val="100000"/>
            </a:srgbClr>
          </a:solidFill>
          <a:ln w="25400" cmpd="sng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子进程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962400" y="5715000"/>
            <a:ext cx="1676400" cy="533400"/>
          </a:xfrm>
          <a:prstGeom prst="ellipse">
            <a:avLst/>
          </a:prstGeom>
          <a:solidFill>
            <a:srgbClr val="F6F5BD">
              <a:alpha val="100000"/>
            </a:srgbClr>
          </a:solidFill>
          <a:ln w="25400" cmpd="sng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孙进程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752600" y="5715000"/>
            <a:ext cx="1676400" cy="533400"/>
          </a:xfrm>
          <a:prstGeom prst="ellipse">
            <a:avLst/>
          </a:prstGeom>
          <a:solidFill>
            <a:srgbClr val="F6F5BD">
              <a:alpha val="100000"/>
            </a:srgbClr>
          </a:solidFill>
          <a:ln w="25400" cmpd="sng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孙进程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10800000" flipH="false" flipV="true">
            <a:off x="2209800" y="4038600"/>
            <a:ext cx="990600" cy="609600"/>
          </a:xfrm>
          <a:prstGeom prst="line">
            <a:avLst/>
          </a:prstGeom>
          <a:noFill/>
          <a:ln w="25400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3657600" y="1447800"/>
            <a:ext cx="1676400" cy="533400"/>
          </a:xfrm>
          <a:prstGeom prst="ellipse">
            <a:avLst/>
          </a:prstGeom>
          <a:solidFill>
            <a:srgbClr val="FFFFFF">
              <a:alpha val="100000"/>
            </a:srgbClr>
          </a:solidFill>
          <a:ln w="25400">
            <a:solidFill>
              <a:srgbClr val="000000">
                <a:alpha val="100000"/>
              </a:srgbClr>
            </a:solidFill>
            <a:prstDash val="sysDot"/>
            <a:round/>
          </a:ln>
        </p:spPr>
        <p:txBody>
          <a:bodyPr anchor="ctr" rtlCol="false" wrap="non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[0]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10800000" flipH="false" flipV="true">
            <a:off x="4495800" y="1981200"/>
            <a:ext cx="0" cy="457200"/>
          </a:xfrm>
          <a:prstGeom prst="line">
            <a:avLst/>
          </a:prstGeom>
          <a:noFill/>
          <a:ln w="25400">
            <a:solidFill>
              <a:srgbClr val="000000">
                <a:alpha val="100000"/>
              </a:srgbClr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name="Connector 14" id="14"/>
          <p:cNvCxnSpPr/>
          <p:nvPr/>
        </p:nvCxnSpPr>
        <p:spPr>
          <a:xfrm rot="10800000" flipH="false" flipV="true">
            <a:off x="4038600" y="2971800"/>
            <a:ext cx="381000" cy="304800"/>
          </a:xfrm>
          <a:prstGeom prst="line">
            <a:avLst/>
          </a:prstGeom>
          <a:noFill/>
          <a:ln w="25400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15" id="15"/>
          <p:cNvCxnSpPr/>
          <p:nvPr/>
        </p:nvCxnSpPr>
        <p:spPr>
          <a:xfrm rot="10800000" flipH="false" flipV="true">
            <a:off x="3733800" y="4114800"/>
            <a:ext cx="0" cy="457200"/>
          </a:xfrm>
          <a:prstGeom prst="line">
            <a:avLst/>
          </a:prstGeom>
          <a:noFill/>
          <a:ln w="25400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16" id="16"/>
          <p:cNvCxnSpPr/>
          <p:nvPr/>
        </p:nvCxnSpPr>
        <p:spPr>
          <a:xfrm rot="0" flipH="false" flipV="false">
            <a:off x="3886200" y="5105400"/>
            <a:ext cx="914400" cy="609600"/>
          </a:xfrm>
          <a:prstGeom prst="line">
            <a:avLst/>
          </a:prstGeom>
          <a:noFill/>
          <a:ln w="25400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17" id="17"/>
          <p:cNvCxnSpPr/>
          <p:nvPr/>
        </p:nvCxnSpPr>
        <p:spPr>
          <a:xfrm rot="10800000" flipH="false" flipV="true">
            <a:off x="2667000" y="5105400"/>
            <a:ext cx="838200" cy="609600"/>
          </a:xfrm>
          <a:prstGeom prst="line">
            <a:avLst/>
          </a:prstGeom>
          <a:noFill/>
          <a:ln w="25400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18" id="18"/>
          <p:cNvCxnSpPr/>
          <p:nvPr/>
        </p:nvCxnSpPr>
        <p:spPr>
          <a:xfrm rot="10800000" flipH="false" flipV="true">
            <a:off x="1981200" y="2819400"/>
            <a:ext cx="1752600" cy="685800"/>
          </a:xfrm>
          <a:prstGeom prst="line">
            <a:avLst/>
          </a:prstGeom>
          <a:noFill/>
          <a:ln w="25400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76200" y="3352800"/>
            <a:ext cx="2133600" cy="762000"/>
          </a:xfrm>
          <a:prstGeom prst="ellipse">
            <a:avLst/>
          </a:prstGeom>
          <a:solidFill>
            <a:srgbClr val="D2D2F4">
              <a:alpha val="100000"/>
            </a:srgbClr>
          </a:solidFill>
          <a:ln w="25400" cmpd="sng" cap="rnd">
            <a:solidFill>
              <a:srgbClr val="000000">
                <a:alpha val="100000"/>
              </a:srgbClr>
            </a:solidFill>
            <a:prstDash val="sysDot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守护进程</a:t>
            </a:r>
            <a:r>
              <a:rPr lang="en-US" b="true" i="false" strike="noStrike" u="none" sz="20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/>
            </a:r>
            <a:endParaRPr lang="en-US" sz="1100"/>
          </a:p>
          <a:p>
            <a:pPr algn="ctr" marL="0" indent="0" defTabSz="914400">
              <a:lnSpc>
                <a:spcPct val="100000"/>
              </a:lnSpc>
            </a:pPr>
            <a:r>
              <a:rPr lang="en-US" b="true" i="false" strike="noStrike" u="none" sz="20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例如 httpd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3657600" y="2438400"/>
            <a:ext cx="1676400" cy="533400"/>
          </a:xfrm>
          <a:prstGeom prst="ellipse">
            <a:avLst/>
          </a:prstGeom>
          <a:solidFill>
            <a:srgbClr val="CCFFCC">
              <a:alpha val="100000"/>
            </a:srgbClr>
          </a:solidFill>
          <a:ln w="25400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rtlCol="false" wrap="non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init [1]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5638800" y="3581400"/>
            <a:ext cx="1676400" cy="533400"/>
          </a:xfrm>
          <a:prstGeom prst="ellipse">
            <a:avLst/>
          </a:prstGeom>
          <a:solidFill>
            <a:srgbClr val="F6F5BD">
              <a:alpha val="100000"/>
            </a:srgbClr>
          </a:solidFill>
          <a:ln w="25400" cmpd="sng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登录外壳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0" flipH="false" flipV="false">
            <a:off x="4914900" y="2959100"/>
            <a:ext cx="402019" cy="317500"/>
          </a:xfrm>
          <a:prstGeom prst="line">
            <a:avLst/>
          </a:prstGeom>
          <a:noFill/>
          <a:ln w="25400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5664200" y="4572000"/>
            <a:ext cx="1676400" cy="533400"/>
          </a:xfrm>
          <a:prstGeom prst="ellipse">
            <a:avLst/>
          </a:prstGeom>
          <a:solidFill>
            <a:srgbClr val="F6F5BD">
              <a:alpha val="100000"/>
            </a:srgbClr>
          </a:solidFill>
          <a:ln w="25400" cmpd="sng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子进程</a:t>
            </a:r>
            <a:endParaRPr lang="en-US" sz="1100"/>
          </a:p>
        </p:txBody>
      </p:sp>
      <p:cxnSp>
        <p:nvCxnSpPr>
          <p:cNvPr name="Connector 24" id="24"/>
          <p:cNvCxnSpPr/>
          <p:nvPr/>
        </p:nvCxnSpPr>
        <p:spPr>
          <a:xfrm rot="10800000" flipH="false" flipV="true">
            <a:off x="6502400" y="4114800"/>
            <a:ext cx="0" cy="457200"/>
          </a:xfrm>
          <a:prstGeom prst="line">
            <a:avLst/>
          </a:prstGeom>
          <a:noFill/>
          <a:ln w="25400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5" id="25"/>
          <p:cNvSpPr/>
          <p:nvPr/>
        </p:nvSpPr>
        <p:spPr>
          <a:xfrm rot="0" flipH="false" flipV="false">
            <a:off x="4876800" y="3276600"/>
            <a:ext cx="440119" cy="5232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-8220000" flipH="false" flipV="false">
            <a:off x="5216566" y="3224857"/>
            <a:ext cx="348886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lang="en-US" sz="1100"/>
          </a:p>
        </p:txBody>
      </p:sp>
      <p:cxnSp>
        <p:nvCxnSpPr>
          <p:cNvPr name="Connector 27" id="27"/>
          <p:cNvCxnSpPr/>
          <p:nvPr/>
        </p:nvCxnSpPr>
        <p:spPr>
          <a:xfrm rot="10800000" flipH="false" flipV="true">
            <a:off x="3581400" y="3416300"/>
            <a:ext cx="228600" cy="165100"/>
          </a:xfrm>
          <a:prstGeom prst="line">
            <a:avLst/>
          </a:prstGeom>
          <a:noFill/>
          <a:ln w="25400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8" id="28"/>
          <p:cNvSpPr/>
          <p:nvPr/>
        </p:nvSpPr>
        <p:spPr>
          <a:xfrm rot="-2099999" flipH="false" flipV="true">
            <a:off x="3807148" y="3224857"/>
            <a:ext cx="348886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lang="en-US" sz="1100"/>
          </a:p>
        </p:txBody>
      </p:sp>
      <p:cxnSp>
        <p:nvCxnSpPr>
          <p:cNvPr name="Connector 29" id="29"/>
          <p:cNvCxnSpPr/>
          <p:nvPr/>
        </p:nvCxnSpPr>
        <p:spPr>
          <a:xfrm rot="0" flipH="false" flipV="false">
            <a:off x="5562600" y="3450570"/>
            <a:ext cx="304800" cy="209887"/>
          </a:xfrm>
          <a:prstGeom prst="line">
            <a:avLst/>
          </a:prstGeom>
          <a:noFill/>
          <a:ln w="25400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0" id="30"/>
          <p:cNvSpPr/>
          <p:nvPr/>
        </p:nvSpPr>
        <p:spPr>
          <a:xfrm rot="0" flipH="false" flipV="false">
            <a:off x="6248400" y="5715000"/>
            <a:ext cx="2794000" cy="92333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注意：可使用 Linux 的 pstree 命令查看该层次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228600"/>
          </a:xfrm>
          <a:prstGeom prst="roundRect">
            <a:avLst>
              <a:gd name="adj" fmla="val 0"/>
            </a:avLst>
          </a:prstGeom>
          <a:solidFill>
            <a:srgbClr val="99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97813" y="-26988"/>
            <a:ext cx="1309687" cy="277813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Carnegie Mellon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6031" y="6629400"/>
            <a:ext cx="4649342" cy="246221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57018" y="435678"/>
            <a:ext cx="7592093" cy="762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119126" indent="-119126">
              <a:lnSpc>
                <a:spcPct val="100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外壳程序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63302" y="1143000"/>
            <a:ext cx="8475897" cy="18288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>
            <a:lvl1pPr marL="647700" indent="-304800"/>
            <a:lvl2pPr marL="971550" indent="-228600"/>
            <a:lvl3pPr marL="1295400" indent="-228600"/>
            <a:lvl4pPr marL="1619250" indent="-228600"/>
            <a:lvl5pPr marL="1943100" indent="-228600"/>
            <a:lvl6pPr marL="2266950" indent="-228600"/>
            <a:lvl7pPr marL="2590800" indent="-228600"/>
            <a:lvl8pPr marL="2914650" indent="-228600"/>
            <a:lvl9pPr marL="3238500" indent="-228600"/>
          </a:lstStyle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  <a:defRPr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外壳（shell）是一种应用程序，代表用户运行其他程序。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  <a:tabLst>
                <a:tab pos="1485900" algn="l"/>
              </a:tabLst>
            </a:pPr>
            <a:r>
              <a:rPr lang="en-US" b="true" i="false" strike="noStrike" u="none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sh 最初的 Unix 外壳（Stephen Bourne，AT&amp;T 贝尔实验室，1977）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  <a:tabLst>
                <a:tab pos="1485900" algn="l"/>
              </a:tabLst>
            </a:pPr>
            <a:r>
              <a:rPr lang="en-US" b="true" i="false" strike="noStrike" u="none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csh/tcsh BSD Unix 的 C 外壳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  <a:tabLst>
                <a:tab pos="1485900" algn="l"/>
              </a:tabLst>
            </a:pPr>
            <a:r>
              <a:rPr lang="en-US" b="true" i="false" strike="noStrike" u="none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bash “Bourne-Again” 外壳（Linux 默认外壳）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63303" y="3048000"/>
            <a:ext cx="5726798" cy="3429000"/>
          </a:xfrm>
          <a:prstGeom prst="rect">
            <a:avLst/>
          </a:prstGeom>
          <a:solidFill>
            <a:srgbClr val="F6F5BD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t" rtlCol="false" anchorCtr="false" vert="horz" wrap="square" lIns="45720" rIns="45720" tIns="45720" bIns="45720"/>
          <a:lstStyle/>
          <a:p>
            <a:pPr algn="l" marL="0" indent="0" defTabSz="914400">
              <a:lnSpc>
                <a:spcPct val="91666"/>
              </a:lnSpc>
              <a:defRPr/>
            </a:pPr>
            <a:r>
              <a:rPr lang="en-US" b="true" i="false" strike="noStrike" u="none" sz="16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int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600">
                <a:solidFill>
                  <a:srgbClr val="4A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main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()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  <a:endParaRPr lang="en-US" sz="1100"/>
          </a:p>
          <a:p>
            <a:pPr algn="l" marL="0" indent="0" defTabSz="914400">
              <a:lnSpc>
                <a:spcPct val="91666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{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91666"/>
              </a:lnSpc>
            </a:pPr>
            <a:r>
              <a:rPr lang="en-US" b="true" i="false" strike="noStrike" u="none" sz="16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char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600">
                <a:solidFill>
                  <a:srgbClr val="C1651C"/>
                </a:solidFill>
                <a:latin typeface="Menlo-Regular"/>
                <a:ea typeface="Menlo-Regular"/>
                <a:cs typeface="Menlo-Regular"/>
                <a:sym typeface="Menlo-Regular"/>
              </a:rPr>
              <a:t>cmdline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[MAXLINE]; </a:t>
            </a:r>
            <a:r>
              <a:rPr lang="en-US" b="true" i="false" strike="noStrike" u="none" sz="1600">
                <a:solidFill>
                  <a:srgbClr val="CB2418"/>
                </a:solidFill>
                <a:latin typeface="Menlo-Regular"/>
                <a:ea typeface="Menlo-Regular"/>
                <a:cs typeface="Menlo-Regular"/>
                <a:sym typeface="Menlo-Regular"/>
              </a:rPr>
              <a:t>/* 命令行 */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91666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91666"/>
              </a:lnSpc>
            </a:pPr>
            <a:r>
              <a:rPr lang="en-US" b="true" i="false" strike="noStrike" u="none" sz="1600">
                <a:solidFill>
                  <a:srgbClr val="C2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while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(1) {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91666"/>
              </a:lnSpc>
            </a:pPr>
            <a:r>
              <a:rPr lang="en-US" b="true" i="false" strike="noStrike" u="none" sz="1600">
                <a:solidFill>
                  <a:srgbClr val="CB2418"/>
                </a:solidFill>
                <a:latin typeface="Menlo-Regular"/>
                <a:ea typeface="Menlo-Regular"/>
                <a:cs typeface="Menlo-Regular"/>
                <a:sym typeface="Menlo-Regular"/>
              </a:rPr>
              <a:t>/* 读取 */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91666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printf(</a:t>
            </a:r>
            <a:r>
              <a:rPr lang="en-US" b="true" i="false" strike="noStrike" u="none" sz="1600">
                <a:solidFill>
                  <a:srgbClr val="9D206F"/>
                </a:solidFill>
                <a:latin typeface="Menlo-Regular"/>
                <a:ea typeface="Menlo-Regular"/>
                <a:cs typeface="Menlo-Regular"/>
                <a:sym typeface="Menlo-Regular"/>
              </a:rPr>
              <a:t>"&gt; "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);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91666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Fgets(cmdline, MAXLINE, stdin);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91666"/>
              </a:lnSpc>
            </a:pPr>
            <a:r>
              <a:rPr lang="en-US" b="true" i="false" strike="noStrike" u="none" sz="1600">
                <a:solidFill>
                  <a:srgbClr val="C2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if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(feof(stdin))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91666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exit(0);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91666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91666"/>
              </a:lnSpc>
            </a:pPr>
            <a:r>
              <a:rPr lang="en-US" b="true" i="false" strike="noStrike" u="none" sz="1600">
                <a:solidFill>
                  <a:srgbClr val="CB2418"/>
                </a:solidFill>
                <a:latin typeface="Menlo-Regular"/>
                <a:ea typeface="Menlo-Regular"/>
                <a:cs typeface="Menlo-Regular"/>
                <a:sym typeface="Menlo-Regular"/>
              </a:rPr>
              <a:t>/* 求值 */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91666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eval(cmdline);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91666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}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91666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}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324600" y="3200400"/>
            <a:ext cx="2245194" cy="10668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90479" rIns="90479" tIns="44446" bIns="44446"/>
          <a:lstStyle/>
          <a:p>
            <a:pPr algn="l" marL="0" indent="0" defTabSz="914400">
              <a:lnSpc>
                <a:spcPct val="91666"/>
              </a:lnSpc>
              <a:spcBef>
                <a:spcPct val="50000"/>
              </a:spcBef>
              <a:defRPr/>
            </a:pPr>
            <a:r>
              <a:rPr lang="en-US" b="true" i="false" strike="noStrike" u="none" sz="200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执行过程是一系列读取/求值步骤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689340" y="6119337"/>
            <a:ext cx="1482860" cy="357663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none" lIns="90000" rIns="90000" tIns="46800" bIns="46800"/>
          <a:lstStyle/>
          <a:p>
            <a:pPr algn="l" marL="0" indent="0" defTabSz="914400">
              <a:lnSpc>
                <a:spcPct val="91666"/>
              </a:lnSpc>
              <a:defRPr/>
            </a:pPr>
            <a:r>
              <a:rPr lang="en-US" b="true" i="false" strike="noStrike" u="none" sz="180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shellex.c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228600"/>
          </a:xfrm>
          <a:prstGeom prst="roundRect">
            <a:avLst>
              <a:gd name="adj" fmla="val 0"/>
            </a:avLst>
          </a:prstGeom>
          <a:solidFill>
            <a:srgbClr val="99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97813" y="-26988"/>
            <a:ext cx="1309687" cy="277813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Carnegie Mellon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6031" y="6629400"/>
            <a:ext cx="4649342" cy="246221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04800" y="158299"/>
            <a:ext cx="6757988" cy="78105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119126" indent="-119126">
              <a:lnSpc>
                <a:spcPct val="100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简单外壳的 eval 函数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79400" y="914400"/>
            <a:ext cx="8340725" cy="5867400"/>
          </a:xfrm>
          <a:prstGeom prst="rect">
            <a:avLst/>
          </a:prstGeom>
          <a:solidFill>
            <a:srgbClr val="F6F5BD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t" rtlCol="false" anchorCtr="false" vert="horz" wrap="square" lIns="45720" rIns="45720" tIns="45720" bIns="45720"/>
          <a:lstStyle/>
          <a:p>
            <a:pPr algn="l" marL="0" indent="0" defTabSz="914400">
              <a:lnSpc>
                <a:spcPct val="83333"/>
              </a:lnSpc>
              <a:defRPr/>
            </a:pPr>
            <a:r>
              <a:rPr lang="en-US" b="true" i="false" strike="noStrike" u="none" sz="148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void</a:t>
            </a:r>
            <a:r>
              <a:rPr lang="en-US" b="true" i="false" strike="noStrike" u="none" sz="148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480">
                <a:solidFill>
                  <a:srgbClr val="4A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eval</a:t>
            </a:r>
            <a:r>
              <a:rPr lang="en-US" b="true" i="false" strike="noStrike" u="none" sz="148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(</a:t>
            </a:r>
            <a:r>
              <a:rPr lang="en-US" b="true" i="false" strike="noStrike" u="none" sz="148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char</a:t>
            </a:r>
            <a:r>
              <a:rPr lang="en-US" b="true" i="false" strike="noStrike" u="none" sz="148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*</a:t>
            </a:r>
            <a:r>
              <a:rPr lang="en-US" b="true" i="false" strike="noStrike" u="none" sz="1480">
                <a:solidFill>
                  <a:srgbClr val="C1651C"/>
                </a:solidFill>
                <a:latin typeface="Menlo-Regular"/>
                <a:ea typeface="Menlo-Regular"/>
                <a:cs typeface="Menlo-Regular"/>
                <a:sym typeface="Menlo-Regular"/>
              </a:rPr>
              <a:t>cmdline</a:t>
            </a:r>
            <a:r>
              <a:rPr lang="en-US" b="true" i="false" strike="noStrike" u="none" sz="148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)</a:t>
            </a:r>
            <a:r>
              <a:rPr lang="en-US" b="true" i="false" strike="noStrike" u="none" sz="148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  <a:endParaRPr lang="en-US" sz="1100"/>
          </a:p>
          <a:p>
            <a:pPr algn="l" marL="0" indent="0" defTabSz="914400">
              <a:lnSpc>
                <a:spcPct val="83333"/>
              </a:lnSpc>
            </a:pPr>
            <a:r>
              <a:rPr lang="en-US" b="true" i="false" strike="noStrike" u="none" sz="148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{</a:t>
            </a:r>
            <a:r>
              <a:rPr lang="en-US" b="true" i="false" strike="noStrike" u="none" sz="148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83333"/>
              </a:lnSpc>
            </a:pPr>
            <a:r>
              <a:rPr lang="en-US" b="true" i="false" strike="noStrike" u="none" sz="148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char</a:t>
            </a:r>
            <a:r>
              <a:rPr lang="en-US" b="true" i="false" strike="noStrike" u="none" sz="148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*</a:t>
            </a:r>
            <a:r>
              <a:rPr lang="en-US" b="true" i="false" strike="noStrike" u="none" sz="1480">
                <a:solidFill>
                  <a:srgbClr val="C1651C"/>
                </a:solidFill>
                <a:latin typeface="Menlo-Regular"/>
                <a:ea typeface="Menlo-Regular"/>
                <a:cs typeface="Menlo-Regular"/>
                <a:sym typeface="Menlo-Regular"/>
              </a:rPr>
              <a:t>argv</a:t>
            </a:r>
            <a:r>
              <a:rPr lang="en-US" b="true" i="false" strike="noStrike" u="none" sz="148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[MAXARGS]; </a:t>
            </a:r>
            <a:r>
              <a:rPr lang="en-US" b="true" i="false" strike="noStrike" u="none" sz="1480">
                <a:solidFill>
                  <a:srgbClr val="CB2418"/>
                </a:solidFill>
                <a:latin typeface="Menlo-Regular"/>
                <a:ea typeface="Menlo-Regular"/>
                <a:cs typeface="Menlo-Regular"/>
                <a:sym typeface="Menlo-Regular"/>
              </a:rPr>
              <a:t>/* 供 execve() 使用的参数列表 */</a:t>
            </a:r>
            <a:r>
              <a:rPr lang="en-US" b="true" i="false" strike="noStrike" u="none" sz="148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83333"/>
              </a:lnSpc>
            </a:pPr>
            <a:r>
              <a:rPr lang="en-US" b="true" i="false" strike="noStrike" u="none" sz="148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char</a:t>
            </a:r>
            <a:r>
              <a:rPr lang="en-US" b="true" i="false" strike="noStrike" u="none" sz="148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480">
                <a:solidFill>
                  <a:srgbClr val="C1651C"/>
                </a:solidFill>
                <a:latin typeface="Menlo-Regular"/>
                <a:ea typeface="Menlo-Regular"/>
                <a:cs typeface="Menlo-Regular"/>
                <a:sym typeface="Menlo-Regular"/>
              </a:rPr>
              <a:t>buf</a:t>
            </a:r>
            <a:r>
              <a:rPr lang="en-US" b="true" i="false" strike="noStrike" u="none" sz="148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[MAXLINE]; </a:t>
            </a:r>
            <a:r>
              <a:rPr lang="en-US" b="true" i="false" strike="noStrike" u="none" sz="1480">
                <a:solidFill>
                  <a:srgbClr val="CB2418"/>
                </a:solidFill>
                <a:latin typeface="Menlo-Regular"/>
                <a:ea typeface="Menlo-Regular"/>
                <a:cs typeface="Menlo-Regular"/>
                <a:sym typeface="Menlo-Regular"/>
              </a:rPr>
              <a:t>/* 存放修改后的命令行 */</a:t>
            </a:r>
            <a:r>
              <a:rPr lang="en-US" b="true" i="false" strike="noStrike" u="none" sz="148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83333"/>
              </a:lnSpc>
            </a:pPr>
            <a:r>
              <a:rPr lang="en-US" b="true" i="false" strike="noStrike" u="none" sz="148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int</a:t>
            </a:r>
            <a:r>
              <a:rPr lang="en-US" b="true" i="false" strike="noStrike" u="none" sz="148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480">
                <a:solidFill>
                  <a:srgbClr val="C1651C"/>
                </a:solidFill>
                <a:latin typeface="Menlo-Regular"/>
                <a:ea typeface="Menlo-Regular"/>
                <a:cs typeface="Menlo-Regular"/>
                <a:sym typeface="Menlo-Regular"/>
              </a:rPr>
              <a:t>bg</a:t>
            </a:r>
            <a:r>
              <a:rPr lang="en-US" b="true" i="false" strike="noStrike" u="none" sz="148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; </a:t>
            </a:r>
            <a:r>
              <a:rPr lang="en-US" b="true" i="false" strike="noStrike" u="none" sz="1480">
                <a:solidFill>
                  <a:srgbClr val="CB2418"/>
                </a:solidFill>
                <a:latin typeface="Menlo-Regular"/>
                <a:ea typeface="Menlo-Regular"/>
                <a:cs typeface="Menlo-Regular"/>
                <a:sym typeface="Menlo-Regular"/>
              </a:rPr>
              <a:t>/* 作业应在后台还是前台运行？ */</a:t>
            </a:r>
            <a:r>
              <a:rPr lang="en-US" b="true" i="false" strike="noStrike" u="none" sz="148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83333"/>
              </a:lnSpc>
            </a:pPr>
            <a:r>
              <a:rPr lang="en-US" b="true" i="false" strike="noStrike" u="none" sz="148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pid_t</a:t>
            </a:r>
            <a:r>
              <a:rPr lang="en-US" b="true" i="false" strike="noStrike" u="none" sz="148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480">
                <a:solidFill>
                  <a:srgbClr val="C1651C"/>
                </a:solidFill>
                <a:latin typeface="Menlo-Regular"/>
                <a:ea typeface="Menlo-Regular"/>
                <a:cs typeface="Menlo-Regular"/>
                <a:sym typeface="Menlo-Regular"/>
              </a:rPr>
              <a:t>pid</a:t>
            </a:r>
            <a:r>
              <a:rPr lang="en-US" b="true" i="false" strike="noStrike" u="none" sz="148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; </a:t>
            </a:r>
            <a:r>
              <a:rPr lang="en-US" b="true" i="false" strike="noStrike" u="none" sz="1480">
                <a:solidFill>
                  <a:srgbClr val="CB2418"/>
                </a:solidFill>
                <a:latin typeface="Menlo-Regular"/>
                <a:ea typeface="Menlo-Regular"/>
                <a:cs typeface="Menlo-Regular"/>
                <a:sym typeface="Menlo-Regular"/>
              </a:rPr>
              <a:t>/* 进程 ID */</a:t>
            </a:r>
            <a:r>
              <a:rPr lang="en-US" b="true" i="false" strike="noStrike" u="none" sz="148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83333"/>
              </a:lnSpc>
            </a:pPr>
            <a:r>
              <a:rPr lang="en-US" b="true" i="false" strike="noStrike" u="none" sz="148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83333"/>
              </a:lnSpc>
            </a:pPr>
            <a:r>
              <a:rPr lang="en-US" b="true" i="false" strike="noStrike" u="none" sz="148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strcpy(buf, cmdline);</a:t>
            </a:r>
            <a:r>
              <a:rPr lang="en-US" b="true" i="false" strike="noStrike" u="none" sz="148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83333"/>
              </a:lnSpc>
            </a:pPr>
            <a:r>
              <a:rPr lang="en-US" b="true" i="false" strike="noStrike" u="none" sz="148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bg = parseline(buf, argv);</a:t>
            </a:r>
            <a:r>
              <a:rPr lang="en-US" b="true" i="false" strike="noStrike" u="none" sz="148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83333"/>
              </a:lnSpc>
            </a:pPr>
            <a:r>
              <a:rPr lang="en-US" b="true" i="false" strike="noStrike" u="none" sz="1480">
                <a:solidFill>
                  <a:srgbClr val="C2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if</a:t>
            </a:r>
            <a:r>
              <a:rPr lang="en-US" b="true" i="false" strike="noStrike" u="none" sz="148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(argv[0] == </a:t>
            </a:r>
            <a:r>
              <a:rPr lang="en-US" b="true" i="false" strike="noStrike" u="none" sz="1480">
                <a:solidFill>
                  <a:srgbClr val="2C9290"/>
                </a:solidFill>
                <a:latin typeface="Menlo-Regular"/>
                <a:ea typeface="Menlo-Regular"/>
                <a:cs typeface="Menlo-Regular"/>
                <a:sym typeface="Menlo-Regular"/>
              </a:rPr>
              <a:t>NULL</a:t>
            </a:r>
            <a:r>
              <a:rPr lang="en-US" b="true" i="false" strike="noStrike" u="none" sz="148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)</a:t>
            </a:r>
            <a:r>
              <a:rPr lang="en-US" b="true" i="false" strike="noStrike" u="none" sz="148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83333"/>
              </a:lnSpc>
            </a:pPr>
            <a:r>
              <a:rPr lang="en-US" b="true" i="false" strike="noStrike" u="none" sz="1480">
                <a:solidFill>
                  <a:srgbClr val="C2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return</a:t>
            </a:r>
            <a:r>
              <a:rPr lang="en-US" b="true" i="false" strike="noStrike" u="none" sz="148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; </a:t>
            </a:r>
            <a:r>
              <a:rPr lang="en-US" b="true" i="false" strike="noStrike" u="none" sz="1480">
                <a:solidFill>
                  <a:srgbClr val="CB2418"/>
                </a:solidFill>
                <a:latin typeface="Menlo-Regular"/>
                <a:ea typeface="Menlo-Regular"/>
                <a:cs typeface="Menlo-Regular"/>
                <a:sym typeface="Menlo-Regular"/>
              </a:rPr>
              <a:t>/* 忽略空行 */</a:t>
            </a:r>
            <a:r>
              <a:rPr lang="en-US" b="true" i="false" strike="noStrike" u="none" sz="148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83333"/>
              </a:lnSpc>
            </a:pPr>
            <a:r>
              <a:rPr lang="en-US" b="true" i="false" strike="noStrike" u="none" sz="148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83333"/>
              </a:lnSpc>
            </a:pPr>
            <a:r>
              <a:rPr lang="en-US" b="true" i="false" strike="noStrike" u="none" sz="1480">
                <a:solidFill>
                  <a:srgbClr val="C2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if</a:t>
            </a:r>
            <a:r>
              <a:rPr lang="en-US" b="true" i="false" strike="noStrike" u="none" sz="148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(!builtin_command(argv)) {</a:t>
            </a:r>
            <a:r>
              <a:rPr lang="en-US" b="true" i="false" strike="noStrike" u="none" sz="148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83333"/>
              </a:lnSpc>
            </a:pPr>
            <a:r>
              <a:rPr lang="en-US" b="true" i="false" strike="noStrike" u="none" sz="1480">
                <a:solidFill>
                  <a:srgbClr val="C2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if</a:t>
            </a:r>
            <a:r>
              <a:rPr lang="en-US" b="true" i="false" strike="noStrike" u="none" sz="148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((pid = Fork()) == 0) { </a:t>
            </a:r>
            <a:r>
              <a:rPr lang="en-US" b="true" i="false" strike="noStrike" u="none" sz="1480">
                <a:solidFill>
                  <a:srgbClr val="CB2418"/>
                </a:solidFill>
                <a:latin typeface="Menlo-Regular"/>
                <a:ea typeface="Menlo-Regular"/>
                <a:cs typeface="Menlo-Regular"/>
                <a:sym typeface="Menlo-Regular"/>
              </a:rPr>
              <a:t>/* 子进程运行用户作业 */</a:t>
            </a:r>
            <a:r>
              <a:rPr lang="en-US" b="true" i="false" strike="noStrike" u="none" sz="148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83333"/>
              </a:lnSpc>
            </a:pPr>
            <a:r>
              <a:rPr lang="en-US" b="true" i="false" strike="noStrike" u="none" sz="1480">
                <a:solidFill>
                  <a:srgbClr val="C2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if</a:t>
            </a:r>
            <a:r>
              <a:rPr lang="en-US" b="true" i="false" strike="noStrike" u="none" sz="148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(execve(argv[0], argv, environ) &lt; 0) {</a:t>
            </a:r>
            <a:r>
              <a:rPr lang="en-US" b="true" i="false" strike="noStrike" u="none" sz="148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83333"/>
              </a:lnSpc>
            </a:pPr>
            <a:r>
              <a:rPr lang="en-US" b="true" i="false" strike="noStrike" u="none" sz="148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printf(</a:t>
            </a:r>
            <a:r>
              <a:rPr lang="en-US" b="true" i="false" strike="noStrike" u="none" sz="1480">
                <a:solidFill>
                  <a:srgbClr val="9D206F"/>
                </a:solidFill>
                <a:latin typeface="Menlo-Regular"/>
                <a:ea typeface="Menlo-Regular"/>
                <a:cs typeface="Menlo-Regular"/>
                <a:sym typeface="Menlo-Regular"/>
              </a:rPr>
              <a:t>"%s：找不到命令。\n"</a:t>
            </a:r>
            <a:r>
              <a:rPr lang="en-US" b="true" i="false" strike="noStrike" u="none" sz="148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, argv[0]);</a:t>
            </a:r>
            <a:r>
              <a:rPr lang="en-US" b="true" i="false" strike="noStrike" u="none" sz="148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83333"/>
              </a:lnSpc>
            </a:pPr>
            <a:r>
              <a:rPr lang="en-US" b="true" i="false" strike="noStrike" u="none" sz="148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exit(0);</a:t>
            </a:r>
            <a:r>
              <a:rPr lang="en-US" b="true" i="false" strike="noStrike" u="none" sz="148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83333"/>
              </a:lnSpc>
            </a:pPr>
            <a:r>
              <a:rPr lang="en-US" b="true" i="false" strike="noStrike" u="none" sz="148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}</a:t>
            </a:r>
            <a:r>
              <a:rPr lang="en-US" b="true" i="false" strike="noStrike" u="none" sz="148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83333"/>
              </a:lnSpc>
            </a:pPr>
            <a:r>
              <a:rPr lang="en-US" b="true" i="false" strike="noStrike" u="none" sz="148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}</a:t>
            </a:r>
            <a:r>
              <a:rPr lang="en-US" b="true" i="false" strike="noStrike" u="none" sz="148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83333"/>
              </a:lnSpc>
            </a:pPr>
            <a:r>
              <a:rPr lang="en-US" b="true" i="false" strike="noStrike" u="none" sz="148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83333"/>
              </a:lnSpc>
            </a:pPr>
            <a:r>
              <a:rPr lang="en-US" b="true" i="false" strike="noStrike" u="none" sz="1480">
                <a:solidFill>
                  <a:srgbClr val="CB2418"/>
                </a:solidFill>
                <a:latin typeface="Menlo-Regular"/>
                <a:ea typeface="Menlo-Regular"/>
                <a:cs typeface="Menlo-Regular"/>
                <a:sym typeface="Menlo-Regular"/>
              </a:rPr>
              <a:t>/* 父进程等待前台作业终止 */</a:t>
            </a:r>
            <a:r>
              <a:rPr lang="en-US" b="true" i="false" strike="noStrike" u="none" sz="148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83333"/>
              </a:lnSpc>
            </a:pPr>
            <a:r>
              <a:rPr lang="en-US" b="true" i="false" strike="noStrike" u="none" sz="148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	</a:t>
            </a:r>
            <a:r>
              <a:rPr lang="en-US" b="true" i="false" strike="noStrike" u="none" sz="1480">
                <a:solidFill>
                  <a:srgbClr val="C2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if</a:t>
            </a:r>
            <a:r>
              <a:rPr lang="en-US" b="true" i="false" strike="noStrike" u="none" sz="148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(!bg) {</a:t>
            </a:r>
            <a:r>
              <a:rPr lang="en-US" b="true" i="false" strike="noStrike" u="none" sz="148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83333"/>
              </a:lnSpc>
            </a:pPr>
            <a:r>
              <a:rPr lang="en-US" b="true" i="false" strike="noStrike" u="none" sz="148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int</a:t>
            </a:r>
            <a:r>
              <a:rPr lang="en-US" b="true" i="false" strike="noStrike" u="none" sz="148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480">
                <a:solidFill>
                  <a:srgbClr val="C1651C"/>
                </a:solidFill>
                <a:latin typeface="Menlo-Regular"/>
                <a:ea typeface="Menlo-Regular"/>
                <a:cs typeface="Menlo-Regular"/>
                <a:sym typeface="Menlo-Regular"/>
              </a:rPr>
              <a:t>status</a:t>
            </a:r>
            <a:r>
              <a:rPr lang="en-US" b="true" i="false" strike="noStrike" u="none" sz="148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;</a:t>
            </a:r>
            <a:r>
              <a:rPr lang="en-US" b="true" i="false" strike="noStrike" u="none" sz="148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83333"/>
              </a:lnSpc>
            </a:pPr>
            <a:r>
              <a:rPr lang="en-US" b="true" i="false" strike="noStrike" u="none" sz="1480">
                <a:solidFill>
                  <a:srgbClr val="C2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if</a:t>
            </a:r>
            <a:r>
              <a:rPr lang="en-US" b="true" i="false" strike="noStrike" u="none" sz="148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(waitpid(pid, &amp;status, 0) &lt; 0)</a:t>
            </a:r>
            <a:r>
              <a:rPr lang="en-US" b="true" i="false" strike="noStrike" u="none" sz="148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83333"/>
              </a:lnSpc>
            </a:pPr>
            <a:r>
              <a:rPr lang="en-US" b="true" i="false" strike="noStrike" u="none" sz="148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unix_error(</a:t>
            </a:r>
            <a:r>
              <a:rPr lang="en-US" b="true" i="false" strike="noStrike" u="none" sz="1480">
                <a:solidFill>
                  <a:srgbClr val="9D206F"/>
                </a:solidFill>
                <a:latin typeface="Menlo-Regular"/>
                <a:ea typeface="Menlo-Regular"/>
                <a:cs typeface="Menlo-Regular"/>
                <a:sym typeface="Menlo-Regular"/>
              </a:rPr>
              <a:t>"waitfg：waitpid 错误"</a:t>
            </a:r>
            <a:r>
              <a:rPr lang="en-US" b="true" i="false" strike="noStrike" u="none" sz="148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);</a:t>
            </a:r>
            <a:r>
              <a:rPr lang="en-US" b="true" i="false" strike="noStrike" u="none" sz="148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83333"/>
              </a:lnSpc>
            </a:pPr>
            <a:r>
              <a:rPr lang="en-US" b="true" i="false" strike="noStrike" u="none" sz="148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}</a:t>
            </a:r>
            <a:r>
              <a:rPr lang="en-US" b="true" i="false" strike="noStrike" u="none" sz="148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83333"/>
              </a:lnSpc>
            </a:pPr>
            <a:r>
              <a:rPr lang="en-US" b="true" i="false" strike="noStrike" u="none" sz="1480">
                <a:solidFill>
                  <a:srgbClr val="C2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else</a:t>
            </a:r>
            <a:r>
              <a:rPr lang="en-US" b="true" i="false" strike="noStrike" u="none" sz="148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83333"/>
              </a:lnSpc>
            </a:pPr>
            <a:r>
              <a:rPr lang="en-US" b="true" i="false" strike="noStrike" u="none" sz="148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printf(</a:t>
            </a:r>
            <a:r>
              <a:rPr lang="en-US" b="true" i="false" strike="noStrike" u="none" sz="1480">
                <a:solidFill>
                  <a:srgbClr val="9D206F"/>
                </a:solidFill>
                <a:latin typeface="Menlo-Regular"/>
                <a:ea typeface="Menlo-Regular"/>
                <a:cs typeface="Menlo-Regular"/>
                <a:sym typeface="Menlo-Regular"/>
              </a:rPr>
              <a:t>"%d %s"</a:t>
            </a:r>
            <a:r>
              <a:rPr lang="en-US" b="true" i="false" strike="noStrike" u="none" sz="148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, pid, cmdline);</a:t>
            </a:r>
            <a:r>
              <a:rPr lang="en-US" b="true" i="false" strike="noStrike" u="none" sz="148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83333"/>
              </a:lnSpc>
            </a:pPr>
            <a:r>
              <a:rPr lang="en-US" b="true" i="false" strike="noStrike" u="none" sz="148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}</a:t>
            </a:r>
            <a:r>
              <a:rPr lang="en-US" b="true" i="false" strike="noStrike" u="none" sz="148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83333"/>
              </a:lnSpc>
            </a:pPr>
            <a:r>
              <a:rPr lang="en-US" b="true" i="false" strike="noStrike" u="none" sz="1480">
                <a:solidFill>
                  <a:srgbClr val="C2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return</a:t>
            </a:r>
            <a:r>
              <a:rPr lang="en-US" b="true" i="false" strike="noStrike" u="none" sz="148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;</a:t>
            </a:r>
            <a:r>
              <a:rPr lang="en-US" b="true" i="false" strike="noStrike" u="none" sz="148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83333"/>
              </a:lnSpc>
            </a:pPr>
            <a:r>
              <a:rPr lang="en-US" b="true" i="false" strike="noStrike" u="none" sz="148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}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124565" y="6474937"/>
            <a:ext cx="1482860" cy="357663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none" lIns="90000" rIns="90000" tIns="46800" bIns="46800"/>
          <a:lstStyle/>
          <a:p>
            <a:pPr algn="l" marL="0" indent="0" defTabSz="914400">
              <a:lnSpc>
                <a:spcPct val="91666"/>
              </a:lnSpc>
              <a:defRPr/>
            </a:pPr>
            <a:r>
              <a:rPr lang="en-US" b="true" i="false" strike="noStrike" u="none" sz="180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shellex.c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228600"/>
          </a:xfrm>
          <a:prstGeom prst="roundRect">
            <a:avLst>
              <a:gd name="adj" fmla="val 0"/>
            </a:avLst>
          </a:prstGeom>
          <a:solidFill>
            <a:srgbClr val="99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97813" y="-26988"/>
            <a:ext cx="1309687" cy="277813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Carnegie Mellon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6031" y="6629400"/>
            <a:ext cx="4649342" cy="246221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425450" y="360362"/>
            <a:ext cx="8718550" cy="782638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119126" indent="-119126" defTabSz="457200">
              <a:lnSpc>
                <a:spcPct val="100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简单外壳示例的问题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25216" y="1220788"/>
            <a:ext cx="8548687" cy="3503612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0360" rIns="90360" tIns="44280" bIns="44280"/>
          <a:lstStyle>
            <a:lvl1pPr marL="589026" indent="-304800"/>
            <a:lvl2pPr marL="885825" indent="-254000"/>
            <a:lvl3pPr marL="1182624" indent="-254000"/>
            <a:lvl4pPr marL="1479423" indent="-254000"/>
            <a:lvl5pPr marL="1776222" indent="-254000"/>
            <a:lvl6pPr marL="2073021" indent="-254000"/>
            <a:lvl7pPr marL="2369820" indent="-254000"/>
            <a:lvl8pPr marL="2666619" indent="-254000"/>
            <a:lvl9pPr marL="2963418" indent="-254000"/>
          </a:lstStyle>
          <a:p>
            <a:pPr algn="l" indent="-319151" marL="284226" defTabSz="4572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  <a:defRPr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我们的示例外壳能正确等待并回收前台作业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marL="284226" indent="-319151" defTabSz="457200">
              <a:lnSpc>
                <a:spcPct val="100000"/>
              </a:lnSpc>
              <a:spcBef>
                <a:spcPct val="20000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-319151" marL="284226" defTabSz="4572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但后台作业呢？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indent="-266700" marL="631825" defTabSz="4572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它们终止时会变成僵尸进程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indent="-266700" marL="631825" defTabSz="4572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永远不会被回收，因为外壳（通常）不会终止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indent="-266700" marL="631825" defTabSz="4572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会造成内存泄漏，可能耗尽内核内存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228600"/>
          </a:xfrm>
          <a:prstGeom prst="roundRect">
            <a:avLst>
              <a:gd name="adj" fmla="val 0"/>
            </a:avLst>
          </a:prstGeom>
          <a:solidFill>
            <a:srgbClr val="99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97813" y="-26988"/>
            <a:ext cx="1309687" cy="277813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Carnegie Mellon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6031" y="6629400"/>
            <a:ext cx="4649342" cy="246221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50838" y="334295"/>
            <a:ext cx="8716962" cy="782638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119126" indent="-119126" defTabSz="457200">
              <a:lnSpc>
                <a:spcPct val="100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ECF 来救场！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68300" y="1225550"/>
            <a:ext cx="8470900" cy="5224463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0360" rIns="90360" tIns="44280" bIns="44280"/>
          <a:lstStyle>
            <a:lvl1pPr marL="589026" indent="-304800"/>
            <a:lvl2pPr marL="885825" indent="-254000"/>
            <a:lvl3pPr marL="1182624" indent="-254000"/>
            <a:lvl4pPr marL="1479423" indent="-254000"/>
            <a:lvl5pPr marL="1776222" indent="-254000"/>
            <a:lvl6pPr marL="2073021" indent="-254000"/>
            <a:lvl7pPr marL="2369820" indent="-254000"/>
            <a:lvl8pPr marL="2666619" indent="-254000"/>
            <a:lvl9pPr marL="2963418" indent="-254000"/>
          </a:lstStyle>
          <a:p>
            <a:pPr algn="l" indent="-319151" marL="284226" defTabSz="4572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  <a:defRPr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解决办法：异常控制流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lvl="1" indent="-266700" marL="631825" defTabSz="4572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当后台进程完成时，内核会中断常规处理来提醒我们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indent="-266700" marL="631825" defTabSz="4572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在 Unix 中，这种提醒机制称为信号（signal）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228600"/>
          </a:xfrm>
          <a:prstGeom prst="roundRect">
            <a:avLst>
              <a:gd name="adj" fmla="val 0"/>
            </a:avLst>
          </a:prstGeom>
          <a:solidFill>
            <a:srgbClr val="99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97813" y="-26988"/>
            <a:ext cx="1309687" cy="277813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Carnegie Mellon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6031" y="6629400"/>
            <a:ext cx="4649342" cy="246221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57018" y="435678"/>
            <a:ext cx="7592093" cy="762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119126" indent="-119126">
              <a:lnSpc>
                <a:spcPct val="100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今日内容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96875" y="1362075"/>
            <a:ext cx="7896225" cy="497205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>
            <a:lvl1pPr marL="647700" indent="-304800"/>
            <a:lvl2pPr marL="1104900" indent="-304800"/>
            <a:lvl3pPr marL="1562100" indent="-304800"/>
            <a:lvl4pPr marL="2019300" indent="-304800"/>
            <a:lvl5pPr marL="2476500" indent="-304800"/>
            <a:lvl6pPr marL="2933700" indent="-304800"/>
            <a:lvl7pPr marL="3390900" indent="-304800"/>
            <a:lvl8pPr marL="3848100" indent="-304800"/>
            <a:lvl9pPr marL="4305300" indent="-304800"/>
          </a:lstStyle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  <a:defRPr/>
            </a:pPr>
            <a:r>
              <a:rPr lang="en-US" b="true" i="false" strike="noStrike" u="none" sz="240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外壳 Shell</a:t>
            </a:r>
            <a:r>
              <a:rPr lang="en-US" b="true" i="false" strike="noStrike" u="none" sz="240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信号 Signals</a:t>
            </a:r>
            <a:r>
              <a:rPr lang="en-US" b="true" i="false" strike="noStrike" u="none" sz="240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</a:pPr>
            <a:r>
              <a:rPr lang="en-US" b="true" i="false" strike="noStrike" u="none" sz="240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非本地跳转 Nonlocal jumps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228600"/>
          </a:xfrm>
          <a:prstGeom prst="roundRect">
            <a:avLst>
              <a:gd name="adj" fmla="val 0"/>
            </a:avLst>
          </a:prstGeom>
          <a:solidFill>
            <a:srgbClr val="99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97813" y="-26988"/>
            <a:ext cx="1309687" cy="277813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Carnegie Mellon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6031" y="6629400"/>
            <a:ext cx="4649342" cy="246221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57018" y="435678"/>
            <a:ext cx="7592093" cy="762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119126" indent="-119126">
              <a:lnSpc>
                <a:spcPct val="100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信号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66713" y="1220788"/>
            <a:ext cx="8396287" cy="2741612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>
            <a:lvl1pPr marL="647700" indent="-304800"/>
            <a:lvl2pPr marL="996950" indent="-254000"/>
            <a:lvl3pPr marL="1346200" indent="-254000"/>
            <a:lvl4pPr marL="1695450" indent="-254000"/>
            <a:lvl5pPr marL="2044700" indent="-254000"/>
            <a:lvl6pPr marL="2393950" indent="-254000"/>
            <a:lvl7pPr marL="2743200" indent="-254000"/>
            <a:lvl8pPr marL="3092450" indent="-254000"/>
            <a:lvl9pPr marL="3441700" indent="-254000"/>
          </a:lstStyle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  <a:defRPr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信号是一种小消息，用于通知进程系统中发生了某类事件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类似于异常和中断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由内核（有时应另一个进程的请求）发送给进程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信号类型由小整数 ID（1-30）标识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信号中仅包含其 ID 和“已到达”这一事实</a:t>
            </a: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609601" y="4038600"/>
          <a:ext cx="8001000" cy="230886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679331"/>
                <a:gridCol w="1149468"/>
                <a:gridCol w="2052167"/>
                <a:gridCol w="4120034"/>
              </a:tblGrid>
              <a:tr h="342900">
                <a:tc>
                  <a:txBody>
                    <a:bodyPr anchor="t" rtlCol="false"/>
                    <a:lstStyle/>
                    <a:p>
                      <a:pPr algn="r" marL="0" indent="0" defTabSz="895350">
                        <a:lnSpc>
                          <a:spcPct val="91666"/>
                        </a:lnSpc>
                        <a:spcBef>
                          <a:spcPct val="50000"/>
                        </a:spcBef>
                        <a:defRPr/>
                      </a:pPr>
                      <a:r>
                        <a:rPr lang="en-US" b="true" i="true" strike="noStrike" u="none" sz="1800">
                          <a:solidFill>
                            <a:srgbClr val="990000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编号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54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defTabSz="895350">
                        <a:lnSpc>
                          <a:spcPct val="91666"/>
                        </a:lnSpc>
                        <a:spcBef>
                          <a:spcPct val="50000"/>
                        </a:spcBef>
                        <a:defRPr/>
                      </a:pPr>
                      <a:r>
                        <a:rPr lang="en-US" b="true" i="true" strike="noStrike" u="none" sz="1800">
                          <a:solidFill>
                            <a:srgbClr val="990000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名称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54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defTabSz="895350">
                        <a:lnSpc>
                          <a:spcPct val="91666"/>
                        </a:lnSpc>
                        <a:spcBef>
                          <a:spcPct val="50000"/>
                        </a:spcBef>
                        <a:defRPr/>
                      </a:pPr>
                      <a:r>
                        <a:rPr lang="en-US" b="true" i="true" strike="noStrike" u="none" sz="1800">
                          <a:solidFill>
                            <a:srgbClr val="990000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默认动作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54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defTabSz="895350">
                        <a:lnSpc>
                          <a:spcPct val="91666"/>
                        </a:lnSpc>
                        <a:spcBef>
                          <a:spcPct val="50000"/>
                        </a:spcBef>
                        <a:defRPr/>
                      </a:pPr>
                      <a:r>
                        <a:rPr lang="en-US" b="true" i="true" strike="noStrike" u="none" sz="1800">
                          <a:solidFill>
                            <a:srgbClr val="990000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对应事件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54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>
                        <a:alpha val="100000"/>
                      </a:srgbClr>
                    </a:solidFill>
                  </a:tcPr>
                </a:tc>
              </a:tr>
              <a:tr h="342900">
                <a:tc>
                  <a:txBody>
                    <a:bodyPr anchor="t" rtlCol="false"/>
                    <a:lstStyle/>
                    <a:p>
                      <a:pPr algn="r" marL="0" indent="0" defTabSz="895350">
                        <a:lnSpc>
                          <a:spcPct val="91666"/>
                        </a:lnSpc>
                        <a:spcBef>
                          <a:spcPct val="50000"/>
                        </a:spcBef>
                        <a:tabLst/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2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defTabSz="895350">
                        <a:lnSpc>
                          <a:spcPct val="91666"/>
                        </a:lnSpc>
                        <a:spcBef>
                          <a:spcPct val="50000"/>
                        </a:spcBef>
                        <a:tabLst/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SIGINT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defTabSz="895350">
                        <a:lnSpc>
                          <a:spcPct val="91666"/>
                        </a:lnSpc>
                        <a:spcBef>
                          <a:spcPct val="50000"/>
                        </a:spcBef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终止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defTabSz="895350">
                        <a:lnSpc>
                          <a:spcPct val="91666"/>
                        </a:lnSpc>
                        <a:spcBef>
                          <a:spcPct val="50000"/>
                        </a:spcBef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用户键入 ctrl-c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94360">
                <a:tc>
                  <a:txBody>
                    <a:bodyPr anchor="t" rtlCol="false"/>
                    <a:lstStyle/>
                    <a:p>
                      <a:pPr algn="r" marL="0" indent="0" defTabSz="895350">
                        <a:lnSpc>
                          <a:spcPct val="91666"/>
                        </a:lnSpc>
                        <a:spcBef>
                          <a:spcPct val="50000"/>
                        </a:spcBef>
                        <a:tabLst/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9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defTabSz="895350">
                        <a:lnSpc>
                          <a:spcPct val="91666"/>
                        </a:lnSpc>
                        <a:spcBef>
                          <a:spcPct val="50000"/>
                        </a:spcBef>
                        <a:tabLst/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SIGKILL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defTabSz="895350">
                        <a:lnSpc>
                          <a:spcPct val="91666"/>
                        </a:lnSpc>
                        <a:spcBef>
                          <a:spcPct val="50000"/>
                        </a:spcBef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终止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defTabSz="895350">
                        <a:lnSpc>
                          <a:spcPct val="91666"/>
                        </a:lnSpc>
                        <a:spcBef>
                          <a:spcPct val="50000"/>
                        </a:spcBef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终止程序（无法覆盖或忽略）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>
                        <a:alpha val="100000"/>
                      </a:srgbClr>
                    </a:solidFill>
                  </a:tcPr>
                </a:tc>
              </a:tr>
              <a:tr h="342900">
                <a:tc>
                  <a:txBody>
                    <a:bodyPr anchor="t" rtlCol="false"/>
                    <a:lstStyle/>
                    <a:p>
                      <a:pPr algn="r" marL="0" indent="0" defTabSz="895350">
                        <a:lnSpc>
                          <a:spcPct val="91666"/>
                        </a:lnSpc>
                        <a:spcBef>
                          <a:spcPct val="50000"/>
                        </a:spcBef>
                        <a:tabLst/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11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defTabSz="895350">
                        <a:lnSpc>
                          <a:spcPct val="91666"/>
                        </a:lnSpc>
                        <a:spcBef>
                          <a:spcPct val="50000"/>
                        </a:spcBef>
                        <a:tabLst/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SIGSEGV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defTabSz="895350">
                        <a:lnSpc>
                          <a:spcPct val="91666"/>
                        </a:lnSpc>
                        <a:spcBef>
                          <a:spcPct val="50000"/>
                        </a:spcBef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终止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defTabSz="895350">
                        <a:lnSpc>
                          <a:spcPct val="91666"/>
                        </a:lnSpc>
                        <a:spcBef>
                          <a:spcPct val="50000"/>
                        </a:spcBef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段违规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42900">
                <a:tc>
                  <a:txBody>
                    <a:bodyPr anchor="t" rtlCol="false"/>
                    <a:lstStyle/>
                    <a:p>
                      <a:pPr algn="r" marL="0" indent="0" defTabSz="895350">
                        <a:lnSpc>
                          <a:spcPct val="91666"/>
                        </a:lnSpc>
                        <a:spcBef>
                          <a:spcPct val="50000"/>
                        </a:spcBef>
                        <a:tabLst/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14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defTabSz="895350">
                        <a:lnSpc>
                          <a:spcPct val="91666"/>
                        </a:lnSpc>
                        <a:spcBef>
                          <a:spcPct val="50000"/>
                        </a:spcBef>
                        <a:tabLst/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SIGALRM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defTabSz="895350">
                        <a:lnSpc>
                          <a:spcPct val="91666"/>
                        </a:lnSpc>
                        <a:spcBef>
                          <a:spcPct val="50000"/>
                        </a:spcBef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终止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defTabSz="895350">
                        <a:lnSpc>
                          <a:spcPct val="91666"/>
                        </a:lnSpc>
                        <a:spcBef>
                          <a:spcPct val="50000"/>
                        </a:spcBef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定时器信号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>
                        <a:alpha val="100000"/>
                      </a:srgbClr>
                    </a:solidFill>
                  </a:tcPr>
                </a:tc>
              </a:tr>
              <a:tr h="342900">
                <a:tc>
                  <a:txBody>
                    <a:bodyPr anchor="t" rtlCol="false"/>
                    <a:lstStyle/>
                    <a:p>
                      <a:pPr algn="r" marL="0" indent="0" defTabSz="895350">
                        <a:lnSpc>
                          <a:spcPct val="91666"/>
                        </a:lnSpc>
                        <a:spcBef>
                          <a:spcPct val="50000"/>
                        </a:spcBef>
                        <a:tabLst/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17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54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defTabSz="895350">
                        <a:lnSpc>
                          <a:spcPct val="91666"/>
                        </a:lnSpc>
                        <a:spcBef>
                          <a:spcPct val="50000"/>
                        </a:spcBef>
                        <a:tabLst/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SIGCHLD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54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defTabSz="895350">
                        <a:lnSpc>
                          <a:spcPct val="91666"/>
                        </a:lnSpc>
                        <a:spcBef>
                          <a:spcPct val="50000"/>
                        </a:spcBef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忽略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54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defTabSz="895350">
                        <a:lnSpc>
                          <a:spcPct val="91666"/>
                        </a:lnSpc>
                        <a:spcBef>
                          <a:spcPct val="50000"/>
                        </a:spcBef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子进程停止或终止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54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nodeType="tmRoot" restart="never" dur="indefinite">
          <p:childTnLst>
            <p:seq concurrent="true" nextAc="seek">
              <p:cTn nodeType="mainSeq" dur="indefinite" id="2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228600"/>
          </a:xfrm>
          <a:prstGeom prst="roundRect">
            <a:avLst>
              <a:gd name="adj" fmla="val 0"/>
            </a:avLst>
          </a:prstGeom>
          <a:solidFill>
            <a:srgbClr val="99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97813" y="-26988"/>
            <a:ext cx="1309687" cy="277813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Carnegie Mellon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6031" y="6629400"/>
            <a:ext cx="4649342" cy="246221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57018" y="435678"/>
            <a:ext cx="7592093" cy="762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119126" indent="-119126">
              <a:lnSpc>
                <a:spcPct val="100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信号概念：发送信号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66713" y="1328738"/>
            <a:ext cx="8548687" cy="4691062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>
            <a:lvl1pPr marL="647700" indent="-304800"/>
            <a:lvl2pPr marL="996950" indent="-254000"/>
            <a:lvl3pPr marL="1346200" indent="-254000"/>
            <a:lvl4pPr marL="1695450" indent="-254000"/>
            <a:lvl5pPr marL="2044700" indent="-254000"/>
            <a:lvl6pPr marL="2393950" indent="-254000"/>
            <a:lvl7pPr marL="2743200" indent="-254000"/>
            <a:lvl8pPr marL="3092450" indent="-254000"/>
            <a:lvl9pPr marL="3441700" indent="-254000"/>
          </a:lstStyle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  <a:defRPr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内核通过更新目标进程上下文中的某些状态，向目标进程发送（递送）信号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内核因以下原因之一发送信号：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内核检测到系统事件，如除零（SIGFPE）或子进程终止（SIGCHLD）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另一进程调用了 kill 系统调用，显式请求内核向目标进程发送信号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3">
              <a:lnSpc>
                <a:spcPct val="100000"/>
              </a:lnSpc>
              <a:spcBef>
                <a:spcPct val="20000"/>
              </a:spcBef>
            </a:pPr>
          </a:p>
        </p:txBody>
      </p:sp>
    </p:spTree>
  </p:cSld>
  <p:clrMapOvr>
    <a:masterClrMapping/>
  </p:clrMapOvr>
  <p:timing>
    <p:tnLst>
      <p:par>
        <p:cTn id="1" nodeType="tmRoot" restart="never" dur="indefinite">
          <p:childTnLst>
            <p:seq concurrent="true" nextAc="seek">
              <p:cTn nodeType="mainSeq" dur="indefinite" id="2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7" nodeType="with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9" nodeType="with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228600"/>
          </a:xfrm>
          <a:prstGeom prst="roundRect">
            <a:avLst>
              <a:gd name="adj" fmla="val 0"/>
            </a:avLst>
          </a:prstGeom>
          <a:solidFill>
            <a:srgbClr val="99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97813" y="-26988"/>
            <a:ext cx="1309687" cy="277813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Carnegie Mellon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6031" y="6629400"/>
            <a:ext cx="4649342" cy="246221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57018" y="435678"/>
            <a:ext cx="7592093" cy="762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119126" indent="-119126">
              <a:lnSpc>
                <a:spcPct val="100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信号概念：接收信号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96875" y="1143000"/>
            <a:ext cx="8366125" cy="497205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>
            <a:lvl1pPr marL="647700" indent="-304800"/>
            <a:lvl2pPr marL="996950" indent="-254000"/>
            <a:lvl3pPr marL="1397000" indent="-254000"/>
            <a:lvl4pPr marL="1797050" indent="-254000"/>
            <a:lvl5pPr marL="2197100" indent="-254000"/>
            <a:lvl6pPr marL="2597150" indent="-254000"/>
            <a:lvl7pPr marL="2997200" indent="-254000"/>
            <a:lvl8pPr marL="3397250" indent="-254000"/>
            <a:lvl9pPr marL="3797300" indent="-254000"/>
          </a:lstStyle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  <a:defRPr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当内核强制目标进程以某种方式对该信号的递送作出反应时，目标进程就接收了信号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可能的反应方式：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true" i="false" strike="noStrike" u="none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忽略信号（不做任何事）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true" i="false" strike="noStrike" u="none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终止进程（可选择转储 core）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true" i="false" strike="noStrike" u="none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通过执行称为信号处理程序的用户级函数来捕获信号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2" indent="-228600" marL="11430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8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类似于响应异步中断而调用硬件异常处理程序：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2">
              <a:lnSpc>
                <a:spcPct val="100000"/>
              </a:lnSpc>
              <a:spcBef>
                <a:spcPct val="20000"/>
              </a:spcBef>
            </a:pPr>
          </a:p>
        </p:txBody>
      </p:sp>
      <p:cxnSp>
        <p:nvCxnSpPr>
          <p:cNvPr name="Connector 7" id="7"/>
          <p:cNvCxnSpPr/>
          <p:nvPr/>
        </p:nvCxnSpPr>
        <p:spPr>
          <a:xfrm rot="0" flipH="false" flipV="false">
            <a:off x="3424238" y="4810118"/>
            <a:ext cx="0" cy="598488"/>
          </a:xfrm>
          <a:prstGeom prst="line">
            <a:avLst/>
          </a:prstGeom>
          <a:noFill/>
          <a:ln w="12700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name="Connector 8" id="8"/>
          <p:cNvCxnSpPr/>
          <p:nvPr/>
        </p:nvCxnSpPr>
        <p:spPr>
          <a:xfrm rot="0" flipH="false" flipV="false">
            <a:off x="3430588" y="5414956"/>
            <a:ext cx="2400300" cy="0"/>
          </a:xfrm>
          <a:prstGeom prst="line">
            <a:avLst/>
          </a:prstGeom>
          <a:noFill/>
          <a:ln w="12700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name="Connector 9" id="9"/>
          <p:cNvCxnSpPr/>
          <p:nvPr/>
        </p:nvCxnSpPr>
        <p:spPr>
          <a:xfrm rot="10800000" flipH="false" flipV="true">
            <a:off x="5829300" y="5421306"/>
            <a:ext cx="0" cy="533400"/>
          </a:xfrm>
          <a:prstGeom prst="line">
            <a:avLst/>
          </a:prstGeom>
          <a:noFill/>
          <a:ln w="12700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name="Connector 10" id="10"/>
          <p:cNvCxnSpPr/>
          <p:nvPr/>
        </p:nvCxnSpPr>
        <p:spPr>
          <a:xfrm rot="10800000" flipH="false" flipV="false">
            <a:off x="3427413" y="5541956"/>
            <a:ext cx="2352675" cy="387350"/>
          </a:xfrm>
          <a:prstGeom prst="line">
            <a:avLst/>
          </a:prstGeom>
          <a:noFill/>
          <a:ln w="12700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name="Connector 11" id="11"/>
          <p:cNvCxnSpPr/>
          <p:nvPr/>
        </p:nvCxnSpPr>
        <p:spPr>
          <a:xfrm rot="0" flipH="false" flipV="false">
            <a:off x="3425825" y="5549893"/>
            <a:ext cx="3175" cy="876300"/>
          </a:xfrm>
          <a:prstGeom prst="line">
            <a:avLst/>
          </a:prstGeom>
          <a:noFill/>
          <a:ln w="12700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3613150" y="4813293"/>
            <a:ext cx="2016360" cy="582203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none" lIns="90479" rIns="90479" tIns="44446" bIns="44446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(2) 控制传递</a:t>
            </a:r>
            <a:r>
              <a:rPr lang="en-US" b="true" i="false" strike="noStrike" u="none" sz="16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/>
            </a:r>
            <a:endParaRPr lang="en-US" sz="1100"/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给信号处理程序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899150" y="5397493"/>
            <a:ext cx="1492250" cy="582203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90479" rIns="90479" tIns="44446" bIns="44446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(3) 信号处理程序运行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671888" y="5861043"/>
            <a:ext cx="1947832" cy="828424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none" lIns="90479" rIns="90479" tIns="44446" bIns="44446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(4) 信号处理程序</a:t>
            </a:r>
            <a:r>
              <a:rPr lang="en-US" b="true" i="false" strike="noStrike" u="none" sz="16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/>
            </a:r>
            <a:endParaRPr lang="en-US" sz="1100"/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返回到</a:t>
            </a:r>
            <a:r>
              <a:rPr lang="en-US" b="true" i="false" strike="noStrike" u="none" sz="16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下一条指令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2921000" y="5132381"/>
            <a:ext cx="547258" cy="338554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当前指令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2921000" y="5329231"/>
            <a:ext cx="561066" cy="338554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下一条指令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65200" y="4787893"/>
            <a:ext cx="1979613" cy="582203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90479" rIns="90479" tIns="44446" bIns="44446"/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(1) 进程接收到信号</a:t>
            </a:r>
            <a:endParaRPr lang="en-US" sz="1100"/>
          </a:p>
        </p:txBody>
      </p:sp>
    </p:spTree>
  </p:cSld>
  <p:clrMapOvr>
    <a:masterClrMapping/>
  </p:clrMapOvr>
  <p:timing>
    <p:tnLst>
      <p:par>
        <p:cTn id="1" nodeType="tmRoot" restart="never" dur="indefinite">
          <p:childTnLst>
            <p:seq concurrent="true" nextAc="seek">
              <p:cTn nodeType="mainSeq" dur="indefinite" id="2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7" nodeType="with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9" nodeType="with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11" nodeType="with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13" nodeType="with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childTnLst>
                        <p:par>
                          <p:cTn id="16" fill="hold">
                            <p:childTnLst>
                              <p:par>
                                <p:cTn fill="hold" id="17" nodeType="click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19" nodeType="with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21" nodeType="with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23" nodeType="with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25" nodeType="with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27" nodeType="with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29" nodeType="with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31" nodeType="with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33" nodeType="with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35" nodeType="with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37" nodeType="with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228600"/>
          </a:xfrm>
          <a:prstGeom prst="roundRect">
            <a:avLst>
              <a:gd name="adj" fmla="val 0"/>
            </a:avLst>
          </a:prstGeom>
          <a:solidFill>
            <a:srgbClr val="99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97813" y="-26988"/>
            <a:ext cx="1309687" cy="277813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Carnegie Mellon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6031" y="6629400"/>
            <a:ext cx="4649342" cy="246221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" y="435678"/>
            <a:ext cx="8915400" cy="762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119126" indent="-119126">
              <a:lnSpc>
                <a:spcPct val="100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信号概念：待处理信号与阻塞信号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90513" y="1633538"/>
            <a:ext cx="8548687" cy="4614862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>
            <a:lvl1pPr marL="647700" indent="-304800"/>
            <a:lvl2pPr marL="996950" indent="-254000"/>
            <a:lvl3pPr marL="1397000" indent="-254000"/>
            <a:lvl4pPr marL="1797050" indent="-254000"/>
            <a:lvl5pPr marL="2197100" indent="-254000"/>
            <a:lvl6pPr marL="2597150" indent="-254000"/>
            <a:lvl7pPr marL="2997200" indent="-254000"/>
            <a:lvl8pPr marL="3397250" indent="-254000"/>
            <a:lvl9pPr marL="3797300" indent="-254000"/>
          </a:lstStyle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  <a:defRPr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信号已发送但尚未被接收，即为待处理（pending）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任何特定类型的待处理信号最多只能有一个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重要：信号不会排队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2" indent="-228600" marL="11430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8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如果进程已有类型 k 的待处理信号，那么之后发送给该进程的类型 k 信号都会被丢弃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进程可以阻塞某些信号的接收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阻塞的信号可以被递送，但在解除阻塞之前不会被接收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待处理信号最多被接收一次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ct val="20000"/>
              </a:spcBef>
            </a:pPr>
          </a:p>
        </p:txBody>
      </p:sp>
    </p:spTree>
  </p:cSld>
  <p:clrMapOvr>
    <a:masterClrMapping/>
  </p:clrMapOvr>
  <p:timing>
    <p:tnLst>
      <p:par>
        <p:cTn id="1" nodeType="tmRoot" restart="never" dur="indefinite">
          <p:childTnLst>
            <p:seq concurrent="true" nextAc="seek">
              <p:cTn nodeType="mainSeq" dur="indefinite" id="2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7" nodeType="with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childTnLst>
                        <p:par>
                          <p:cTn id="10" fill="hold">
                            <p:childTnLst>
                              <p:par>
                                <p:cTn fill="hold" id="11" nodeType="click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228600"/>
          </a:xfrm>
          <a:prstGeom prst="roundRect">
            <a:avLst>
              <a:gd name="adj" fmla="val 0"/>
            </a:avLst>
          </a:prstGeom>
          <a:solidFill>
            <a:srgbClr val="99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97813" y="-26988"/>
            <a:ext cx="1309687" cy="277813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Carnegie Mellon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6031" y="6629400"/>
            <a:ext cx="4649342" cy="246221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57018" y="435678"/>
            <a:ext cx="7592093" cy="762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119126" indent="-119126">
              <a:lnSpc>
                <a:spcPct val="100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信号概念：待处理/阻塞位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43117" y="1676400"/>
            <a:ext cx="8419883" cy="3700462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>
            <a:lvl1pPr marL="647700" indent="-304800"/>
            <a:lvl2pPr marL="996950" indent="-254000"/>
            <a:lvl3pPr marL="1397000" indent="-254000"/>
            <a:lvl4pPr marL="1797050" indent="-254000"/>
            <a:lvl5pPr marL="2197100" indent="-254000"/>
            <a:lvl6pPr marL="2597150" indent="-254000"/>
            <a:lvl7pPr marL="2997200" indent="-254000"/>
            <a:lvl8pPr marL="3397250" indent="-254000"/>
            <a:lvl9pPr marL="3797300" indent="-254000"/>
          </a:lstStyle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  <a:defRPr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内核在每个进程的上下文中维护待处理（pending）和阻塞（blocked）位向量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true" i="false" strike="noStrike" u="none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pending：表示待处理信号的集合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2" indent="-228600" marL="11430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8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当类型 k 的信号被递送时，内核在 pending 中置位 k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2" indent="-228600" marL="11430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8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当类型 k 的信号被接收时，内核清除 pending 中的位 k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marL="74295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true" i="false" strike="noStrike" u="none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blocked：表示被阻塞信号的集合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2" indent="-228600" marL="11430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8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可以使用 sigprocmask 函数设置和清除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2" indent="-228600" marL="11430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8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也称为信号掩码（signal mask）。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228600"/>
          </a:xfrm>
          <a:prstGeom prst="roundRect">
            <a:avLst>
              <a:gd name="adj" fmla="val 0"/>
            </a:avLst>
          </a:prstGeom>
          <a:solidFill>
            <a:srgbClr val="99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97813" y="-26988"/>
            <a:ext cx="1309687" cy="277813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Carnegie Mellon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6031" y="6629400"/>
            <a:ext cx="4649342" cy="246221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096000" y="3156387"/>
            <a:ext cx="2057400" cy="1644213"/>
          </a:xfrm>
          <a:prstGeom prst="roundRect">
            <a:avLst>
              <a:gd name="adj" fmla="val 0"/>
            </a:avLst>
          </a:prstGeom>
          <a:solidFill>
            <a:srgbClr val="E6E6E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810000" y="3147796"/>
            <a:ext cx="2057400" cy="1644213"/>
          </a:xfrm>
          <a:prstGeom prst="roundRect">
            <a:avLst>
              <a:gd name="adj" fmla="val 0"/>
            </a:avLst>
          </a:prstGeom>
          <a:solidFill>
            <a:srgbClr val="E6E6E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84497" y="3147796"/>
            <a:ext cx="2514600" cy="3099375"/>
          </a:xfrm>
          <a:prstGeom prst="roundRect">
            <a:avLst>
              <a:gd name="adj" fmla="val 0"/>
            </a:avLst>
          </a:prstGeom>
          <a:solidFill>
            <a:srgbClr val="E6E6E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80614" y="381000"/>
            <a:ext cx="7592093" cy="762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119126" indent="-119126">
              <a:lnSpc>
                <a:spcPct val="100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发送信号：进程组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80999" y="1219200"/>
            <a:ext cx="7720013" cy="6096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>
            <a:lvl1pPr marL="647700" indent="-304800"/>
            <a:lvl2pPr marL="1104900" indent="-304800"/>
            <a:lvl3pPr marL="1562100" indent="-304800"/>
            <a:lvl4pPr marL="2019300" indent="-304800"/>
            <a:lvl5pPr marL="2476500" indent="-304800"/>
            <a:lvl6pPr marL="2933700" indent="-304800"/>
            <a:lvl7pPr marL="3390900" indent="-304800"/>
            <a:lvl8pPr marL="3848100" indent="-304800"/>
            <a:lvl9pPr marL="4305300" indent="-304800"/>
          </a:lstStyle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  <a:defRPr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每个进程恰好属于一个进程组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898650" y="3228975"/>
            <a:ext cx="982663" cy="885825"/>
          </a:xfrm>
          <a:prstGeom prst="ellipse">
            <a:avLst/>
          </a:prstGeom>
          <a:solidFill>
            <a:srgbClr val="D6D6F5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前</a:t>
            </a:r>
            <a:r>
              <a:rPr lang="en-US" b="tru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ctr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台</a:t>
            </a:r>
            <a:r>
              <a:rPr lang="en-US" b="tru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ctr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作业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094163" y="3228975"/>
            <a:ext cx="982662" cy="863600"/>
          </a:xfrm>
          <a:prstGeom prst="ellipse">
            <a:avLst/>
          </a:prstGeom>
          <a:solidFill>
            <a:srgbClr val="D6D6F5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后</a:t>
            </a:r>
            <a:r>
              <a:rPr lang="en-US" b="tru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ctr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台</a:t>
            </a:r>
            <a:r>
              <a:rPr lang="en-US" b="tru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ctr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作业 #1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48400" y="3228975"/>
            <a:ext cx="984250" cy="885825"/>
          </a:xfrm>
          <a:prstGeom prst="ellipse">
            <a:avLst/>
          </a:prstGeom>
          <a:solidFill>
            <a:srgbClr val="D6D6F5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后</a:t>
            </a:r>
            <a:r>
              <a:rPr lang="en-US" b="tru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ctr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台</a:t>
            </a:r>
            <a:r>
              <a:rPr lang="en-US" b="tru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ctr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作业 #2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098925" y="1905000"/>
            <a:ext cx="984250" cy="776288"/>
          </a:xfrm>
          <a:prstGeom prst="ellipse">
            <a:avLst/>
          </a:prstGeom>
          <a:solidFill>
            <a:srgbClr val="D6D6F5">
              <a:alpha val="100000"/>
            </a:srgbClr>
          </a:solidFill>
          <a:ln w="12700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rtlCol="false" wrap="non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Shell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339850" y="4414838"/>
            <a:ext cx="984250" cy="776287"/>
          </a:xfrm>
          <a:prstGeom prst="ellipse">
            <a:avLst/>
          </a:prstGeom>
          <a:solidFill>
            <a:srgbClr val="D6D6F5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子进程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2465388" y="4414838"/>
            <a:ext cx="984250" cy="776287"/>
          </a:xfrm>
          <a:prstGeom prst="ellipse">
            <a:avLst/>
          </a:prstGeom>
          <a:solidFill>
            <a:srgbClr val="D6D6F5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子进程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10800000" flipH="false" flipV="true">
            <a:off x="1906588" y="4051300"/>
            <a:ext cx="182562" cy="369888"/>
          </a:xfrm>
          <a:prstGeom prst="line">
            <a:avLst/>
          </a:prstGeom>
          <a:noFill/>
          <a:ln w="12700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17" id="17"/>
          <p:cNvCxnSpPr/>
          <p:nvPr/>
        </p:nvCxnSpPr>
        <p:spPr>
          <a:xfrm rot="0" flipH="false" flipV="false">
            <a:off x="2686050" y="4048125"/>
            <a:ext cx="163513" cy="361950"/>
          </a:xfrm>
          <a:prstGeom prst="line">
            <a:avLst/>
          </a:prstGeom>
          <a:noFill/>
          <a:ln w="12700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18" id="18"/>
          <p:cNvCxnSpPr/>
          <p:nvPr/>
        </p:nvCxnSpPr>
        <p:spPr>
          <a:xfrm rot="0" flipH="false" flipV="false">
            <a:off x="4594225" y="2667000"/>
            <a:ext cx="0" cy="557213"/>
          </a:xfrm>
          <a:prstGeom prst="line">
            <a:avLst/>
          </a:prstGeom>
          <a:noFill/>
          <a:ln w="12700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19" id="19"/>
          <p:cNvCxnSpPr/>
          <p:nvPr/>
        </p:nvCxnSpPr>
        <p:spPr>
          <a:xfrm rot="10800000" flipH="false" flipV="true">
            <a:off x="2768600" y="2574925"/>
            <a:ext cx="1481138" cy="801688"/>
          </a:xfrm>
          <a:prstGeom prst="line">
            <a:avLst/>
          </a:prstGeom>
          <a:noFill/>
          <a:ln w="12700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20" id="20"/>
          <p:cNvCxnSpPr/>
          <p:nvPr/>
        </p:nvCxnSpPr>
        <p:spPr>
          <a:xfrm rot="0" flipH="false" flipV="false">
            <a:off x="4968875" y="2535238"/>
            <a:ext cx="1412875" cy="833437"/>
          </a:xfrm>
          <a:prstGeom prst="line">
            <a:avLst/>
          </a:prstGeom>
          <a:noFill/>
          <a:ln w="12700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3297238" y="2070100"/>
            <a:ext cx="828675" cy="457200"/>
          </a:xfrm>
          <a:prstGeom prst="rect">
            <a:avLst/>
          </a:prstGeom>
          <a:noFill/>
          <a:ln w="12700">
            <a:noFill/>
            <a:prstDash val="solid"/>
            <a:miter lim="800000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pid=10</a:t>
            </a:r>
            <a:endParaRPr lang="en-US" sz="1100"/>
          </a:p>
          <a:p>
            <a:pPr algn="r" marL="0" indent="0" defTabSz="914400">
              <a:lnSpc>
                <a:spcPct val="100000"/>
              </a:lnSpc>
            </a:pPr>
            <a:r>
              <a:rPr lang="en-US" b="true" i="false" strike="noStrike" u="none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pgid=10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084498" y="5663625"/>
            <a:ext cx="1765066" cy="584775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前台</a:t>
            </a:r>
            <a:r>
              <a:rPr lang="en-US" b="true" i="false" strike="noStrike" u="none" sz="160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进程组 20</a:t>
            </a:r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3810000" y="4191000"/>
            <a:ext cx="1629100" cy="584775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后台</a:t>
            </a:r>
            <a:r>
              <a:rPr lang="en-US" b="true" i="false" strike="noStrike" u="none" sz="160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进程组 32</a:t>
            </a:r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096000" y="4215825"/>
            <a:ext cx="1629100" cy="584775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后台</a:t>
            </a:r>
            <a:r>
              <a:rPr lang="en-US" b="true" i="false" strike="noStrike" u="none" sz="160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进程组 40</a:t>
            </a:r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1098550" y="3365500"/>
            <a:ext cx="828675" cy="457200"/>
          </a:xfrm>
          <a:prstGeom prst="rect">
            <a:avLst/>
          </a:prstGeom>
          <a:noFill/>
          <a:ln w="12700">
            <a:noFill/>
            <a:prstDash val="solid"/>
            <a:miter lim="800000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pid=20</a:t>
            </a:r>
            <a:endParaRPr lang="en-US" sz="1100"/>
          </a:p>
          <a:p>
            <a:pPr algn="r" marL="0" indent="0" defTabSz="914400">
              <a:lnSpc>
                <a:spcPct val="100000"/>
              </a:lnSpc>
            </a:pPr>
            <a:r>
              <a:rPr lang="en-US" b="true" i="false" strike="noStrike" u="none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pgid=20</a:t>
            </a:r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5038725" y="3416300"/>
            <a:ext cx="828675" cy="457200"/>
          </a:xfrm>
          <a:prstGeom prst="rect">
            <a:avLst/>
          </a:prstGeom>
          <a:noFill/>
          <a:ln w="12700">
            <a:noFill/>
            <a:prstDash val="solid"/>
            <a:miter lim="800000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pid=32</a:t>
            </a:r>
            <a:endParaRPr lang="en-US" sz="1100"/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pgid=32</a:t>
            </a:r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224929" y="3443288"/>
            <a:ext cx="828675" cy="457200"/>
          </a:xfrm>
          <a:prstGeom prst="rect">
            <a:avLst/>
          </a:prstGeom>
          <a:noFill/>
          <a:ln w="12700">
            <a:noFill/>
            <a:prstDash val="solid"/>
            <a:miter lim="800000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pid=40</a:t>
            </a:r>
            <a:endParaRPr lang="en-US" sz="1100"/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pgid=40</a:t>
            </a:r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1398588" y="5181600"/>
            <a:ext cx="828675" cy="457200"/>
          </a:xfrm>
          <a:prstGeom prst="rect">
            <a:avLst/>
          </a:prstGeom>
          <a:noFill/>
          <a:ln w="12700">
            <a:noFill/>
            <a:prstDash val="solid"/>
            <a:miter lim="800000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pid=21</a:t>
            </a:r>
            <a:endParaRPr lang="en-US" sz="1100"/>
          </a:p>
          <a:p>
            <a:pPr algn="r" marL="0" indent="0" defTabSz="914400">
              <a:lnSpc>
                <a:spcPct val="100000"/>
              </a:lnSpc>
            </a:pPr>
            <a:r>
              <a:rPr lang="en-US" b="true" i="false" strike="noStrike" u="none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pgid=20</a:t>
            </a:r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2541588" y="5181600"/>
            <a:ext cx="828675" cy="457200"/>
          </a:xfrm>
          <a:prstGeom prst="rect">
            <a:avLst/>
          </a:prstGeom>
          <a:noFill/>
          <a:ln w="12700">
            <a:noFill/>
            <a:prstDash val="solid"/>
            <a:miter lim="800000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pid=22</a:t>
            </a:r>
            <a:endParaRPr lang="en-US" sz="1100"/>
          </a:p>
          <a:p>
            <a:pPr algn="r" marL="0" indent="0" defTabSz="914400">
              <a:lnSpc>
                <a:spcPct val="100000"/>
              </a:lnSpc>
            </a:pPr>
            <a:r>
              <a:rPr lang="en-US" b="true" i="false" strike="noStrike" u="none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pgid=20</a:t>
            </a:r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3733800" y="5070493"/>
            <a:ext cx="4114800" cy="1558907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90479" rIns="90479" tIns="44446" bIns="44446"/>
          <a:lstStyle/>
          <a:p>
            <a:pPr algn="l" marL="0" indent="0" defTabSz="914400">
              <a:lnSpc>
                <a:spcPct val="91666"/>
              </a:lnSpc>
              <a:spcBef>
                <a:spcPct val="50000"/>
              </a:spcBef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getpgrp()</a:t>
            </a: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返回当前进程的进程组</a:t>
            </a: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 defTabSz="914400">
              <a:lnSpc>
                <a:spcPct val="91666"/>
              </a:lnSpc>
              <a:spcBef>
                <a:spcPct val="50000"/>
              </a:spcBef>
            </a:pPr>
            <a:r>
              <a:rPr lang="en-US" b="true" i="false" strike="noStrike" u="none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setpgid()</a:t>
            </a: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改变进程的进程组（详见课本）</a:t>
            </a:r>
          </a:p>
        </p:txBody>
      </p:sp>
    </p:spTree>
  </p:cSld>
  <p:clrMapOvr>
    <a:masterClrMapping/>
  </p:clrMapOvr>
  <p:timing>
    <p:tnLst>
      <p:par>
        <p:cTn id="1" nodeType="tmRoot" restart="never" dur="indefinite">
          <p:childTnLst>
            <p:seq concurrent="true" nextAc="seek">
              <p:cTn nodeType="mainSeq" dur="indefinite" id="2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228600"/>
          </a:xfrm>
          <a:prstGeom prst="roundRect">
            <a:avLst>
              <a:gd name="adj" fmla="val 0"/>
            </a:avLst>
          </a:prstGeom>
          <a:solidFill>
            <a:srgbClr val="99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97813" y="-26988"/>
            <a:ext cx="1309687" cy="277813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Carnegie Mellon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6031" y="6629400"/>
            <a:ext cx="4649342" cy="246221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57018" y="435678"/>
            <a:ext cx="8786982" cy="762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119126" indent="-119126">
              <a:lnSpc>
                <a:spcPct val="100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用 /bin/kill 程序发送信号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90513" y="1220788"/>
            <a:ext cx="3900487" cy="5224462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>
            <a:lvl1pPr marL="587375" indent="-304800"/>
            <a:lvl2pPr marL="282575" indent="0"/>
            <a:lvl3pPr marL="0" indent="0"/>
            <a:lvl4pPr marL="0" indent="0"/>
            <a:lvl5pPr marL="0" indent="0"/>
            <a:lvl6pPr marL="0" indent="0"/>
            <a:lvl7pPr marL="0" indent="0"/>
            <a:lvl8pPr marL="0" indent="0"/>
            <a:lvl9pPr marL="0" indent="0"/>
          </a:lstStyle>
          <a:p>
            <a:pPr algn="l" indent="-282575" marL="282575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  <a:defRPr/>
            </a:pPr>
            <a:r>
              <a:rPr lang="en-US" b="true" i="false" strike="noStrike" u="none" sz="2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/bin/kill 程序可向进程或进程组发送任意信号</a:t>
            </a:r>
            <a:r>
              <a:rPr lang="en-US" b="true" i="false" strike="noStrike" u="none" sz="2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lang="en-US" sz="1100"/>
          </a:p>
          <a:p>
            <a:pPr algn="l" lvl="1" marL="282575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indent="-282575" marL="282575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示例</a:t>
            </a:r>
            <a:r>
              <a:rPr lang="en-US" b="true" i="false" strike="noStrike" u="none" sz="2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true" i="false" strike="noStrike" u="none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/bin/kill –9 24818</a:t>
            </a:r>
            <a:r>
              <a:rPr lang="en-US" b="true" i="false" strike="noStrike" u="none" sz="2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br>
              <a:rPr lang="en-US" b="true" i="false" strike="noStrike" u="none" sz="2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向进程 24818 发送 SIGKILL</a:t>
            </a:r>
            <a:r>
              <a:rPr lang="en-US" b="true" i="false" strike="noStrike" u="none" sz="2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lvl="1" marL="74295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true" i="false" strike="noStrike" u="none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/bin/kill –9 –24817</a:t>
            </a:r>
            <a:r>
              <a:rPr lang="en-US" b="true" i="false" strike="noStrike" u="none" sz="2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br>
              <a:rPr lang="en-US" b="true" i="false" strike="noStrike" u="none" sz="2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向进程组 24817 中的每个进程发送 SIGKILL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191000" y="1682750"/>
            <a:ext cx="3878586" cy="4031873"/>
          </a:xfrm>
          <a:prstGeom prst="rect">
            <a:avLst/>
          </a:prstGeom>
          <a:solidFill>
            <a:srgbClr val="D9D9D9">
              <a:alpha val="100000"/>
            </a:srgbClr>
          </a:solidFill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linux&gt; ./forks 16</a:t>
            </a: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lang="en-US" sz="1100"/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Child1: pid=24818 pgrp=24817</a:t>
            </a: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Child2: pid=24819 pgrp=24817</a:t>
            </a: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linux&gt; ps</a:t>
            </a: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PID TTY TIME CMD</a:t>
            </a: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24788 pts/2 00:00:00 tcsh</a:t>
            </a: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24818 pts/2 00:00:02 forks</a:t>
            </a: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24819 pts/2 00:00:02 forks</a:t>
            </a: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24820 pts/2 00:00:00 ps</a:t>
            </a: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linux&gt; /bin/kill -9 -24817</a:t>
            </a: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linux&gt; ps</a:t>
            </a: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PID TTY TIME CMD</a:t>
            </a: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24788 pts/2 00:00:00 tcsh</a:t>
            </a: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24823 pts/2 00:00:00 ps</a:t>
            </a: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linux&gt;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191000" y="3429000"/>
            <a:ext cx="3733800" cy="266700"/>
          </a:xfrm>
          <a:prstGeom prst="roundRect">
            <a:avLst>
              <a:gd name="adj" fmla="val 0"/>
            </a:avLst>
          </a:prstGeom>
          <a:noFill/>
          <a:ln w="25400" cmpd="sng" cap="flat">
            <a:solidFill>
              <a:srgbClr val="C00000">
                <a:alpha val="100000"/>
              </a:srgbClr>
            </a:solidFill>
            <a:prstDash val="solid"/>
            <a:miter lim="800000"/>
          </a:ln>
        </p:spPr>
        <p:txBody>
          <a:bodyPr anchor="ctr" rtlCol="false" anchorCtr="false" vert="horz" wrap="none" lIns="45720" rIns="45720" tIns="45720" bIns="45720"/>
          <a:lstStyle/>
          <a:p>
            <a:pPr algn="l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191000" y="3429000"/>
            <a:ext cx="3733800" cy="504825"/>
          </a:xfrm>
          <a:prstGeom prst="roundRect">
            <a:avLst>
              <a:gd name="adj" fmla="val 0"/>
            </a:avLst>
          </a:prstGeom>
          <a:noFill/>
          <a:ln w="25400" cmpd="sng" cap="flat">
            <a:solidFill>
              <a:srgbClr val="C00000">
                <a:alpha val="100000"/>
              </a:srgbClr>
            </a:solidFill>
            <a:prstDash val="solid"/>
            <a:miter lim="800000"/>
          </a:ln>
        </p:spPr>
        <p:txBody>
          <a:bodyPr anchor="ctr" rtlCol="false" anchorCtr="false" vert="horz" wrap="none" lIns="45720" rIns="45720" tIns="45720" bIns="45720"/>
          <a:lstStyle/>
          <a:p>
            <a:pPr algn="l">
              <a:defRPr/>
            </a:pPr>
            <a:endParaRPr/>
          </a:p>
        </p:txBody>
      </p:sp>
    </p:spTree>
  </p:cSld>
  <p:clrMapOvr>
    <a:masterClrMapping/>
  </p:clrMapOvr>
  <p:timing>
    <p:tnLst>
      <p:par>
        <p:cTn id="1" nodeType="tmRoot" restart="never" dur="indefinite">
          <p:childTnLst>
            <p:seq concurrent="true" nextAc="seek">
              <p:cTn nodeType="mainSeq" dur="indefinite" id="2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7" nodeType="with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childTnLst>
                        <p:par>
                          <p:cTn id="10" fill="hold">
                            <p:childTnLst>
                              <p:par>
                                <p:cTn fill="hold" id="11" nodeType="click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13" nodeType="withEffect" presetClass="exit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15" nodeType="with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228600"/>
          </a:xfrm>
          <a:prstGeom prst="roundRect">
            <a:avLst>
              <a:gd name="adj" fmla="val 0"/>
            </a:avLst>
          </a:prstGeom>
          <a:solidFill>
            <a:srgbClr val="99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97813" y="-26988"/>
            <a:ext cx="1309687" cy="277813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Carnegie Mellon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6031" y="6629400"/>
            <a:ext cx="4649342" cy="246221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57018" y="435678"/>
            <a:ext cx="7592093" cy="762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119126" indent="-119126">
              <a:lnSpc>
                <a:spcPct val="100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从键盘发送信号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90513" y="1220788"/>
            <a:ext cx="8307387" cy="1293812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>
            <a:lvl1pPr marL="596900" indent="-254000"/>
            <a:lvl2pPr marL="971550" indent="-228600"/>
            <a:lvl3pPr marL="1346200" indent="-228600"/>
            <a:lvl4pPr marL="1720850" indent="-228600"/>
            <a:lvl5pPr marL="2095500" indent="-228600"/>
            <a:lvl6pPr marL="2470150" indent="-228600"/>
            <a:lvl7pPr marL="2844800" indent="-228600"/>
            <a:lvl8pPr marL="3219450" indent="-228600"/>
            <a:lvl9pPr marL="3594100" indent="-228600"/>
          </a:lstStyle>
          <a:p>
            <a:pPr algn="l" indent="-342900" marL="342900">
              <a:lnSpc>
                <a:spcPct val="83333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键入 ctrl-c（ctrl-z）会使内核向前台进程组中的每个作业发送 SIGINT（SIGTSTP）。</a:t>
            </a:r>
            <a:r>
              <a:rPr lang="en-US" b="tru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lvl="1" indent="-285750" marL="742950">
              <a:lnSpc>
                <a:spcPct val="91666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SIGINT – 默认动作是终止每个进程</a:t>
            </a:r>
            <a:r>
              <a:rPr lang="en-US" b="tru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indent="-285750" marL="742950">
              <a:lnSpc>
                <a:spcPct val="91666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SIGTSTP – 默认动作是停止（挂起）每个进程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096000" y="3689787"/>
            <a:ext cx="2057400" cy="1644213"/>
          </a:xfrm>
          <a:prstGeom prst="roundRect">
            <a:avLst>
              <a:gd name="adj" fmla="val 0"/>
            </a:avLst>
          </a:prstGeom>
          <a:solidFill>
            <a:srgbClr val="E6E6E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810000" y="3681196"/>
            <a:ext cx="2057400" cy="1644213"/>
          </a:xfrm>
          <a:prstGeom prst="roundRect">
            <a:avLst>
              <a:gd name="adj" fmla="val 0"/>
            </a:avLst>
          </a:prstGeom>
          <a:solidFill>
            <a:srgbClr val="E6E6E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84497" y="3681196"/>
            <a:ext cx="2514600" cy="3099375"/>
          </a:xfrm>
          <a:prstGeom prst="roundRect">
            <a:avLst>
              <a:gd name="adj" fmla="val 0"/>
            </a:avLst>
          </a:prstGeom>
          <a:solidFill>
            <a:srgbClr val="F1C7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898650" y="3762375"/>
            <a:ext cx="982663" cy="885825"/>
          </a:xfrm>
          <a:prstGeom prst="ellipse">
            <a:avLst/>
          </a:prstGeom>
          <a:solidFill>
            <a:srgbClr val="D6D6F5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前</a:t>
            </a:r>
            <a:r>
              <a:rPr lang="en-US" b="tru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ctr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台</a:t>
            </a:r>
            <a:r>
              <a:rPr lang="en-US" b="tru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ctr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作业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094163" y="3762375"/>
            <a:ext cx="982662" cy="863600"/>
          </a:xfrm>
          <a:prstGeom prst="ellipse">
            <a:avLst/>
          </a:prstGeom>
          <a:solidFill>
            <a:srgbClr val="D6D6F5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后</a:t>
            </a:r>
            <a:r>
              <a:rPr lang="en-US" b="tru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ctr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台</a:t>
            </a:r>
            <a:r>
              <a:rPr lang="en-US" b="tru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ctr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作业 #1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48400" y="3762375"/>
            <a:ext cx="984250" cy="885825"/>
          </a:xfrm>
          <a:prstGeom prst="ellipse">
            <a:avLst/>
          </a:prstGeom>
          <a:solidFill>
            <a:srgbClr val="D6D6F5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后</a:t>
            </a:r>
            <a:r>
              <a:rPr lang="en-US" b="tru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ctr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台</a:t>
            </a:r>
            <a:r>
              <a:rPr lang="en-US" b="tru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ctr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作业 #2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098925" y="2438400"/>
            <a:ext cx="984250" cy="776288"/>
          </a:xfrm>
          <a:prstGeom prst="ellipse">
            <a:avLst/>
          </a:prstGeom>
          <a:solidFill>
            <a:srgbClr val="D6D6F5">
              <a:alpha val="100000"/>
            </a:srgbClr>
          </a:solidFill>
          <a:ln w="12700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rtlCol="false" wrap="non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Shell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339850" y="4948238"/>
            <a:ext cx="984250" cy="776287"/>
          </a:xfrm>
          <a:prstGeom prst="ellipse">
            <a:avLst/>
          </a:prstGeom>
          <a:solidFill>
            <a:srgbClr val="D6D6F5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子进程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2465388" y="4948238"/>
            <a:ext cx="984250" cy="776287"/>
          </a:xfrm>
          <a:prstGeom prst="ellipse">
            <a:avLst/>
          </a:prstGeom>
          <a:solidFill>
            <a:srgbClr val="D6D6F5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子进程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10800000" flipH="false" flipV="true">
            <a:off x="1906588" y="4584700"/>
            <a:ext cx="182562" cy="369888"/>
          </a:xfrm>
          <a:prstGeom prst="line">
            <a:avLst/>
          </a:prstGeom>
          <a:noFill/>
          <a:ln w="12700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17" id="17"/>
          <p:cNvCxnSpPr/>
          <p:nvPr/>
        </p:nvCxnSpPr>
        <p:spPr>
          <a:xfrm rot="0" flipH="false" flipV="false">
            <a:off x="2686050" y="4581525"/>
            <a:ext cx="163513" cy="361950"/>
          </a:xfrm>
          <a:prstGeom prst="line">
            <a:avLst/>
          </a:prstGeom>
          <a:noFill/>
          <a:ln w="12700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18" id="18"/>
          <p:cNvCxnSpPr/>
          <p:nvPr/>
        </p:nvCxnSpPr>
        <p:spPr>
          <a:xfrm rot="0" flipH="false" flipV="false">
            <a:off x="4594225" y="3200400"/>
            <a:ext cx="0" cy="557213"/>
          </a:xfrm>
          <a:prstGeom prst="line">
            <a:avLst/>
          </a:prstGeom>
          <a:noFill/>
          <a:ln w="12700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19" id="19"/>
          <p:cNvCxnSpPr/>
          <p:nvPr/>
        </p:nvCxnSpPr>
        <p:spPr>
          <a:xfrm rot="10800000" flipH="false" flipV="true">
            <a:off x="2768600" y="3108325"/>
            <a:ext cx="1481138" cy="801688"/>
          </a:xfrm>
          <a:prstGeom prst="line">
            <a:avLst/>
          </a:prstGeom>
          <a:noFill/>
          <a:ln w="12700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20" id="20"/>
          <p:cNvCxnSpPr/>
          <p:nvPr/>
        </p:nvCxnSpPr>
        <p:spPr>
          <a:xfrm rot="0" flipH="false" flipV="false">
            <a:off x="4968875" y="3068638"/>
            <a:ext cx="1412875" cy="833437"/>
          </a:xfrm>
          <a:prstGeom prst="line">
            <a:avLst/>
          </a:prstGeom>
          <a:noFill/>
          <a:ln w="12700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3297238" y="2603500"/>
            <a:ext cx="828675" cy="457200"/>
          </a:xfrm>
          <a:prstGeom prst="rect">
            <a:avLst/>
          </a:prstGeom>
          <a:noFill/>
          <a:ln w="12700">
            <a:noFill/>
            <a:prstDash val="solid"/>
            <a:miter lim="800000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pid=10</a:t>
            </a:r>
            <a:endParaRPr lang="en-US" sz="1100"/>
          </a:p>
          <a:p>
            <a:pPr algn="r" marL="0" indent="0" defTabSz="914400">
              <a:lnSpc>
                <a:spcPct val="100000"/>
              </a:lnSpc>
            </a:pPr>
            <a:r>
              <a:rPr lang="en-US" b="true" i="false" strike="noStrike" u="none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pgid=10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084498" y="6197025"/>
            <a:ext cx="1765066" cy="584775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前台</a:t>
            </a:r>
            <a:r>
              <a:rPr lang="en-US" b="true" i="false" strike="noStrike" u="none"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进程组 20</a:t>
            </a:r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3810000" y="4724400"/>
            <a:ext cx="1629100" cy="584775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后台</a:t>
            </a:r>
            <a:r>
              <a:rPr lang="en-US" b="true" i="false" strike="noStrike" u="none" sz="160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进程组 32</a:t>
            </a:r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096000" y="4749225"/>
            <a:ext cx="1629100" cy="584775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后台</a:t>
            </a:r>
            <a:r>
              <a:rPr lang="en-US" b="true" i="false" strike="noStrike" u="none" sz="160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进程组 40</a:t>
            </a:r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1098550" y="3898900"/>
            <a:ext cx="828675" cy="457200"/>
          </a:xfrm>
          <a:prstGeom prst="rect">
            <a:avLst/>
          </a:prstGeom>
          <a:noFill/>
          <a:ln w="12700">
            <a:noFill/>
            <a:prstDash val="solid"/>
            <a:miter lim="800000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pid=20</a:t>
            </a:r>
            <a:endParaRPr lang="en-US" sz="1100"/>
          </a:p>
          <a:p>
            <a:pPr algn="r" marL="0" indent="0" defTabSz="914400">
              <a:lnSpc>
                <a:spcPct val="100000"/>
              </a:lnSpc>
            </a:pPr>
            <a:r>
              <a:rPr lang="en-US" b="true" i="false" strike="noStrike" u="none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pgid=20</a:t>
            </a:r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5038725" y="3949700"/>
            <a:ext cx="828675" cy="457200"/>
          </a:xfrm>
          <a:prstGeom prst="rect">
            <a:avLst/>
          </a:prstGeom>
          <a:noFill/>
          <a:ln w="12700">
            <a:noFill/>
            <a:prstDash val="solid"/>
            <a:miter lim="800000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pid=32</a:t>
            </a:r>
            <a:endParaRPr lang="en-US" sz="1100"/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pgid=32</a:t>
            </a:r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224929" y="3976688"/>
            <a:ext cx="828675" cy="457200"/>
          </a:xfrm>
          <a:prstGeom prst="rect">
            <a:avLst/>
          </a:prstGeom>
          <a:noFill/>
          <a:ln w="12700">
            <a:noFill/>
            <a:prstDash val="solid"/>
            <a:miter lim="800000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pid=40</a:t>
            </a:r>
            <a:endParaRPr lang="en-US" sz="1100"/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pgid=40</a:t>
            </a:r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1398588" y="5715000"/>
            <a:ext cx="828675" cy="457200"/>
          </a:xfrm>
          <a:prstGeom prst="rect">
            <a:avLst/>
          </a:prstGeom>
          <a:noFill/>
          <a:ln w="12700">
            <a:noFill/>
            <a:prstDash val="solid"/>
            <a:miter lim="800000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pid=21</a:t>
            </a:r>
            <a:endParaRPr lang="en-US" sz="1100"/>
          </a:p>
          <a:p>
            <a:pPr algn="r" marL="0" indent="0" defTabSz="914400">
              <a:lnSpc>
                <a:spcPct val="100000"/>
              </a:lnSpc>
            </a:pPr>
            <a:r>
              <a:rPr lang="en-US" b="true" i="false" strike="noStrike" u="none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pgid=20</a:t>
            </a:r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2541588" y="5715000"/>
            <a:ext cx="828675" cy="457200"/>
          </a:xfrm>
          <a:prstGeom prst="rect">
            <a:avLst/>
          </a:prstGeom>
          <a:noFill/>
          <a:ln w="12700">
            <a:noFill/>
            <a:prstDash val="solid"/>
            <a:miter lim="800000"/>
          </a:ln>
        </p:spPr>
        <p:txBody>
          <a:bodyPr anchor="ctr" rtlCol="false" wrap="none" lIns="91440" rIns="91440" tIns="45720" bIns="45720">
            <a:spAutoFit/>
          </a:bodyPr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pid=22</a:t>
            </a:r>
            <a:endParaRPr lang="en-US" sz="1100"/>
          </a:p>
          <a:p>
            <a:pPr algn="r" marL="0" indent="0" defTabSz="914400">
              <a:lnSpc>
                <a:spcPct val="100000"/>
              </a:lnSpc>
            </a:pPr>
            <a:r>
              <a:rPr lang="en-US" b="true" i="false" strike="noStrike" u="none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pgid=20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228600"/>
          </a:xfrm>
          <a:prstGeom prst="roundRect">
            <a:avLst>
              <a:gd name="adj" fmla="val 0"/>
            </a:avLst>
          </a:prstGeom>
          <a:solidFill>
            <a:srgbClr val="99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97813" y="-26988"/>
            <a:ext cx="1309687" cy="277813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Carnegie Mellon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6031" y="6629400"/>
            <a:ext cx="4649342" cy="246221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57018" y="435678"/>
            <a:ext cx="7592093" cy="762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119126" indent="-119126">
              <a:lnSpc>
                <a:spcPct val="100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ctrl-c 与 ctrl-z 示例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52400" y="1295401"/>
            <a:ext cx="5334000" cy="4770537"/>
          </a:xfrm>
          <a:prstGeom prst="rect">
            <a:avLst/>
          </a:prstGeom>
          <a:solidFill>
            <a:srgbClr val="D9D9D9">
              <a:alpha val="100000"/>
            </a:srgbClr>
          </a:solidFill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bluefish&gt; ./forks 17</a:t>
            </a: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lang="en-US" sz="1100"/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Child: pid=28108 pgrp=28107</a:t>
            </a: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Parent: pid=28107 pgrp=28107</a:t>
            </a: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&lt;键入 ctrl-z&gt;</a:t>
            </a: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已挂起</a:t>
            </a: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bluefish&gt; ps w</a:t>
            </a: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PID TTY STAT TIME COMMAND</a:t>
            </a: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27699 pts/8 Ss 0:00 -tcsh</a:t>
            </a: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28107 pts/8 T 0:01 ./forks 17</a:t>
            </a: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28108 pts/8 T 0:01 ./forks 17</a:t>
            </a: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28109 pts/8 R+ 0:00 ps w</a:t>
            </a: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bluefish&gt; fg</a:t>
            </a: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./forks 17</a:t>
            </a: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&lt;键入 ctrl-c&gt;</a:t>
            </a: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bluefish&gt; ps w</a:t>
            </a: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PID TTY STAT TIME COMMAND</a:t>
            </a: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27699 pts/8 Ss 0:00 -tcsh</a:t>
            </a: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28110 pts/8 R+ 0:00 ps w</a:t>
            </a: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defTabSz="914400">
              <a:lnSpc>
                <a:spcPct val="100000"/>
              </a:lnSpc>
            </a:pP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638800" y="1207402"/>
            <a:ext cx="3124200" cy="3693319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45720" rIns="4572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STAT（进程状态）图例：</a:t>
            </a:r>
            <a:r>
              <a:rPr lang="en-US" b="true" i="false" strike="noStrike" u="none" sz="1800">
                <a:solidFill>
                  <a:srgbClr val="1F2329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800">
                <a:solidFill>
                  <a:srgbClr val="1F2329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第一个字母：</a:t>
            </a:r>
            <a:r>
              <a:rPr lang="en-US" b="true" i="false" strike="noStrike" u="none" sz="1800">
                <a:solidFill>
                  <a:srgbClr val="1F2329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S：睡眠中</a:t>
            </a:r>
            <a:r>
              <a:rPr lang="en-US" b="true" i="false" strike="noStrike" u="none" sz="1800">
                <a:solidFill>
                  <a:srgbClr val="1F2329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T：已停止</a:t>
            </a:r>
            <a:r>
              <a:rPr lang="en-US" b="true" i="false" strike="noStrike" u="none" sz="1800">
                <a:solidFill>
                  <a:srgbClr val="1F2329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R：运行中</a:t>
            </a:r>
            <a:r>
              <a:rPr lang="en-US" b="true" i="false" strike="noStrike" u="none" sz="1800">
                <a:solidFill>
                  <a:srgbClr val="1F2329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800">
                <a:solidFill>
                  <a:srgbClr val="1F2329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第二个字母：</a:t>
            </a:r>
            <a:r>
              <a:rPr lang="en-US" b="true" i="false" strike="noStrike" u="none" sz="1800">
                <a:solidFill>
                  <a:srgbClr val="1F2329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s：会话首进程</a:t>
            </a:r>
            <a:r>
              <a:rPr lang="en-US" b="true" i="false" strike="noStrike" u="none" sz="1800">
                <a:solidFill>
                  <a:srgbClr val="1F2329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+：前台进程组</a:t>
            </a:r>
            <a:r>
              <a:rPr lang="en-US" b="true" i="false" strike="noStrike" u="none" sz="1800">
                <a:solidFill>
                  <a:srgbClr val="1F2329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800">
                <a:solidFill>
                  <a:srgbClr val="1F2329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更多信息参见 “man ps”</a:t>
            </a:r>
            <a:r>
              <a:rPr lang="en-US" b="true" i="false" strike="noStrike" u="none" sz="1800">
                <a:solidFill>
                  <a:srgbClr val="1F2329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详情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228600"/>
          </a:xfrm>
          <a:prstGeom prst="roundRect">
            <a:avLst>
              <a:gd name="adj" fmla="val 0"/>
            </a:avLst>
          </a:prstGeom>
          <a:solidFill>
            <a:srgbClr val="99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97813" y="-26988"/>
            <a:ext cx="1309687" cy="277813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Carnegie Mellon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6031" y="6629400"/>
            <a:ext cx="4649342" cy="246221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57018" y="435678"/>
            <a:ext cx="7592093" cy="762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119126" indent="-119126">
              <a:lnSpc>
                <a:spcPct val="100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用 kill 函数发送信号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57200" y="1197678"/>
            <a:ext cx="7696200" cy="5312865"/>
          </a:xfrm>
          <a:prstGeom prst="rect">
            <a:avLst/>
          </a:prstGeom>
          <a:solidFill>
            <a:srgbClr val="F6F5BD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91666"/>
              </a:lnSpc>
              <a:defRPr/>
            </a:pPr>
            <a:r>
              <a:rPr lang="en-US" b="true" i="false" strike="noStrike" u="none" sz="14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void</a:t>
            </a: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400">
                <a:solidFill>
                  <a:srgbClr val="4A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fork12</a:t>
            </a: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()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  <a:endParaRPr lang="en-US" sz="1100"/>
          </a:p>
          <a:p>
            <a:pPr algn="l" marL="0" indent="0" defTabSz="914400">
              <a:lnSpc>
                <a:spcPct val="91666"/>
              </a:lnSpc>
            </a:pP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{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91666"/>
              </a:lnSpc>
            </a:pPr>
            <a:r>
              <a:rPr lang="en-US" b="true" i="false" strike="noStrike" u="none" sz="14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pid_t</a:t>
            </a: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400">
                <a:solidFill>
                  <a:srgbClr val="C1651C"/>
                </a:solidFill>
                <a:latin typeface="Menlo-Regular"/>
                <a:ea typeface="Menlo-Regular"/>
                <a:cs typeface="Menlo-Regular"/>
                <a:sym typeface="Menlo-Regular"/>
              </a:rPr>
              <a:t>pid</a:t>
            </a: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[N];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91666"/>
              </a:lnSpc>
            </a:pPr>
            <a:r>
              <a:rPr lang="en-US" b="true" i="false" strike="noStrike" u="none" sz="14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int</a:t>
            </a: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400">
                <a:solidFill>
                  <a:srgbClr val="C1651C"/>
                </a:solidFill>
                <a:latin typeface="Menlo-Regular"/>
                <a:ea typeface="Menlo-Regular"/>
                <a:cs typeface="Menlo-Regular"/>
                <a:sym typeface="Menlo-Regular"/>
              </a:rPr>
              <a:t>i</a:t>
            </a: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;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91666"/>
              </a:lnSpc>
            </a:pPr>
            <a:r>
              <a:rPr lang="en-US" b="true" i="false" strike="noStrike" u="none" sz="14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int</a:t>
            </a: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400">
                <a:solidFill>
                  <a:srgbClr val="C1651C"/>
                </a:solidFill>
                <a:latin typeface="Menlo-Regular"/>
                <a:ea typeface="Menlo-Regular"/>
                <a:cs typeface="Menlo-Regular"/>
                <a:sym typeface="Menlo-Regular"/>
              </a:rPr>
              <a:t>child_status</a:t>
            </a: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;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91666"/>
              </a:lnSpc>
            </a:pP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91666"/>
              </a:lnSpc>
            </a:pPr>
            <a:r>
              <a:rPr lang="en-US" b="true" i="false" strike="noStrike" u="none" sz="1400">
                <a:solidFill>
                  <a:srgbClr val="C2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for</a:t>
            </a: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(i = 0; i &lt; N; i++)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91666"/>
              </a:lnSpc>
            </a:pPr>
            <a:r>
              <a:rPr lang="en-US" b="true" i="false" strike="noStrike" u="none" sz="1400">
                <a:solidFill>
                  <a:srgbClr val="C2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if</a:t>
            </a: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((pid[i] = fork()) == 0) {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91666"/>
              </a:lnSpc>
            </a:pPr>
            <a:r>
              <a:rPr lang="en-US" b="true" i="false" strike="noStrike" u="none" sz="1400">
                <a:solidFill>
                  <a:srgbClr val="CB2418"/>
                </a:solidFill>
                <a:latin typeface="Menlo-Regular"/>
                <a:ea typeface="Menlo-Regular"/>
                <a:cs typeface="Menlo-Regular"/>
                <a:sym typeface="Menlo-Regular"/>
              </a:rPr>
              <a:t>/* 子进程：无限循环 */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91666"/>
              </a:lnSpc>
            </a:pPr>
            <a:r>
              <a:rPr lang="en-US" b="true" i="false" strike="noStrike" u="none" sz="1400">
                <a:solidFill>
                  <a:srgbClr val="C2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while</a:t>
            </a: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(1)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91666"/>
              </a:lnSpc>
            </a:pP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;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91666"/>
              </a:lnSpc>
            </a:pP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}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91666"/>
              </a:lnSpc>
            </a:pP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91666"/>
              </a:lnSpc>
            </a:pPr>
            <a:r>
              <a:rPr lang="en-US" b="true" i="false" strike="noStrike" u="none" sz="1400">
                <a:solidFill>
                  <a:srgbClr val="C2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for</a:t>
            </a: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(i = 0; i &lt; N; i++) {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91666"/>
              </a:lnSpc>
            </a:pP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printf(</a:t>
            </a:r>
            <a:r>
              <a:rPr lang="en-US" b="true" i="false" strike="noStrike" u="none" sz="1400">
                <a:solidFill>
                  <a:srgbClr val="9D206F"/>
                </a:solidFill>
                <a:latin typeface="Menlo-Regular"/>
                <a:ea typeface="Menlo-Regular"/>
                <a:cs typeface="Menlo-Regular"/>
                <a:sym typeface="Menlo-Regular"/>
              </a:rPr>
              <a:t>"正在终止进程 %d\n"</a:t>
            </a: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, pid[i]);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91666"/>
              </a:lnSpc>
            </a:pP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kill(pid[i], SIGINT);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91666"/>
              </a:lnSpc>
            </a:pP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}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91666"/>
              </a:lnSpc>
            </a:pP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91666"/>
              </a:lnSpc>
            </a:pPr>
            <a:r>
              <a:rPr lang="en-US" b="true" i="false" strike="noStrike" u="none" sz="1400">
                <a:solidFill>
                  <a:srgbClr val="C2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for</a:t>
            </a: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(i = 0; i &lt; N; i++) {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91666"/>
              </a:lnSpc>
            </a:pPr>
            <a:r>
              <a:rPr lang="en-US" b="true" i="false" strike="noStrike" u="none" sz="14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pid_t</a:t>
            </a: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400">
                <a:solidFill>
                  <a:srgbClr val="C1651C"/>
                </a:solidFill>
                <a:latin typeface="Menlo-Regular"/>
                <a:ea typeface="Menlo-Regular"/>
                <a:cs typeface="Menlo-Regular"/>
                <a:sym typeface="Menlo-Regular"/>
              </a:rPr>
              <a:t>wpid</a:t>
            </a: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= wait(&amp;child_status);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91666"/>
              </a:lnSpc>
            </a:pPr>
            <a:r>
              <a:rPr lang="en-US" b="true" i="false" strike="noStrike" u="none" sz="1400">
                <a:solidFill>
                  <a:srgbClr val="C2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if</a:t>
            </a: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(WIFEXITED(child_status))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91666"/>
              </a:lnSpc>
            </a:pP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printf(</a:t>
            </a:r>
            <a:r>
              <a:rPr lang="en-US" b="true" i="false" strike="noStrike" u="none" sz="1400">
                <a:solidFill>
                  <a:srgbClr val="9D206F"/>
                </a:solidFill>
                <a:latin typeface="Menlo-Regular"/>
                <a:ea typeface="Menlo-Regular"/>
                <a:cs typeface="Menlo-Regular"/>
                <a:sym typeface="Menlo-Regular"/>
              </a:rPr>
              <a:t>"Child %d terminated with exit status %d\n"</a:t>
            </a: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,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91666"/>
              </a:lnSpc>
            </a:pP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wpid, WEXITSTATUS(child_status));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91666"/>
              </a:lnSpc>
            </a:pPr>
            <a:r>
              <a:rPr lang="en-US" b="true" i="false" strike="noStrike" u="none" sz="1400">
                <a:solidFill>
                  <a:srgbClr val="C2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else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91666"/>
              </a:lnSpc>
            </a:pP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printf(</a:t>
            </a:r>
            <a:r>
              <a:rPr lang="en-US" b="true" i="false" strike="noStrike" u="none" sz="1400">
                <a:solidFill>
                  <a:srgbClr val="9D206F"/>
                </a:solidFill>
                <a:latin typeface="Menlo-Regular"/>
                <a:ea typeface="Menlo-Regular"/>
                <a:cs typeface="Menlo-Regular"/>
                <a:sym typeface="Menlo-Regular"/>
              </a:rPr>
              <a:t>"子进程 %d 异常终止\n"</a:t>
            </a: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, wpid);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91666"/>
              </a:lnSpc>
            </a:pP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}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91666"/>
              </a:lnSpc>
            </a:pP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}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947584" y="6172200"/>
            <a:ext cx="1205816" cy="357663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none" lIns="90000" rIns="90000" tIns="46800" bIns="46800"/>
          <a:lstStyle/>
          <a:p>
            <a:pPr algn="l" marL="0" indent="0" defTabSz="914400">
              <a:lnSpc>
                <a:spcPct val="91666"/>
              </a:lnSpc>
              <a:defRPr/>
            </a:pPr>
            <a:r>
              <a:rPr lang="en-US" b="true" i="false" strike="noStrike" u="none" sz="180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forks.c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228600"/>
          </a:xfrm>
          <a:prstGeom prst="roundRect">
            <a:avLst>
              <a:gd name="adj" fmla="val 0"/>
            </a:avLst>
          </a:prstGeom>
          <a:solidFill>
            <a:srgbClr val="99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97813" y="-26988"/>
            <a:ext cx="1309687" cy="277813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Carnegie Mellon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6031" y="6629400"/>
            <a:ext cx="4649342" cy="246221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57018" y="435678"/>
            <a:ext cx="7592093" cy="762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119126" indent="-119126">
              <a:lnSpc>
                <a:spcPct val="100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接收信号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96875" y="1200150"/>
            <a:ext cx="7896225" cy="108585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>
            <a:lvl1pPr marL="647700" indent="-304800"/>
            <a:lvl2pPr marL="1104900" indent="-304800"/>
            <a:lvl3pPr marL="1562100" indent="-304800"/>
            <a:lvl4pPr marL="2019300" indent="-304800"/>
            <a:lvl5pPr marL="2476500" indent="-304800"/>
            <a:lvl6pPr marL="2933700" indent="-304800"/>
            <a:lvl7pPr marL="3390900" indent="-304800"/>
            <a:lvl8pPr marL="3848100" indent="-304800"/>
            <a:lvl9pPr marL="4305300" indent="-304800"/>
          </a:lstStyle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  <a:defRPr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假设内核正从异常处理程序返回，准备把控制权交给进程 p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>
              <a:lnSpc>
                <a:spcPct val="100000"/>
              </a:lnSpc>
              <a:spcBef>
                <a:spcPct val="20000"/>
              </a:spcBef>
            </a:pP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815644" y="4494660"/>
            <a:ext cx="4495800" cy="425450"/>
          </a:xfrm>
          <a:prstGeom prst="roundRect">
            <a:avLst>
              <a:gd name="adj" fmla="val 0"/>
            </a:avLst>
          </a:prstGeom>
          <a:solidFill>
            <a:srgbClr val="F1C7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tru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815644" y="4069210"/>
            <a:ext cx="4495800" cy="425450"/>
          </a:xfrm>
          <a:prstGeom prst="roundRect">
            <a:avLst>
              <a:gd name="adj" fmla="val 0"/>
            </a:avLst>
          </a:prstGeom>
          <a:solidFill>
            <a:srgbClr val="F2F2F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tru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815644" y="4920110"/>
            <a:ext cx="4495800" cy="425450"/>
          </a:xfrm>
          <a:prstGeom prst="roundRect">
            <a:avLst>
              <a:gd name="adj" fmla="val 0"/>
            </a:avLst>
          </a:prstGeom>
          <a:solidFill>
            <a:srgbClr val="F2F2F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tru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815644" y="3637866"/>
            <a:ext cx="4495800" cy="425450"/>
          </a:xfrm>
          <a:prstGeom prst="roundRect">
            <a:avLst>
              <a:gd name="adj" fmla="val 0"/>
            </a:avLst>
          </a:prstGeom>
          <a:solidFill>
            <a:srgbClr val="F1C7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tru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815644" y="3212416"/>
            <a:ext cx="4495800" cy="425450"/>
          </a:xfrm>
          <a:prstGeom prst="roundRect">
            <a:avLst>
              <a:gd name="adj" fmla="val 0"/>
            </a:avLst>
          </a:prstGeom>
          <a:solidFill>
            <a:srgbClr val="F2F2F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tru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2037666" y="2590800"/>
            <a:ext cx="1097160" cy="369332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进程 A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560658" y="2590800"/>
            <a:ext cx="1087542" cy="369332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进程 B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10800000" flipH="false" flipV="true">
            <a:off x="2590800" y="3215600"/>
            <a:ext cx="6350" cy="420624"/>
          </a:xfrm>
          <a:prstGeom prst="line">
            <a:avLst/>
          </a:prstGeom>
          <a:noFill/>
          <a:ln w="25400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name="Connector 15" id="15"/>
          <p:cNvCxnSpPr/>
          <p:nvPr/>
        </p:nvCxnSpPr>
        <p:spPr>
          <a:xfrm rot="10800000" flipH="false" flipV="true">
            <a:off x="3416300" y="2590800"/>
            <a:ext cx="12700" cy="3124200"/>
          </a:xfrm>
          <a:prstGeom prst="line">
            <a:avLst/>
          </a:prstGeom>
          <a:noFill/>
          <a:ln w="25400">
            <a:solidFill>
              <a:srgbClr val="000000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5118100" y="3276600"/>
            <a:ext cx="1009187" cy="338554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用户代码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118100" y="3690938"/>
            <a:ext cx="1171859" cy="338554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内核代码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5118100" y="4103688"/>
            <a:ext cx="1009187" cy="338554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用户代码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100638" y="4540250"/>
            <a:ext cx="1171859" cy="338554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内核代码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5118100" y="4997450"/>
            <a:ext cx="1009187" cy="338554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用户代码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553200" y="3636743"/>
            <a:ext cx="76200" cy="381000"/>
          </a:xfrm>
          <a:prstGeom prst="rightBrace">
            <a:avLst>
              <a:gd name="adj1" fmla="val 41667"/>
              <a:gd name="adj2" fmla="val 50000"/>
            </a:avLst>
          </a:prstGeom>
          <a:noFill/>
          <a:ln w="25400" cmpd="sng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l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632575" y="3657966"/>
            <a:ext cx="1403654" cy="338554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上下文切换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553200" y="4506237"/>
            <a:ext cx="76200" cy="381000"/>
          </a:xfrm>
          <a:prstGeom prst="rightBrace">
            <a:avLst>
              <a:gd name="adj1" fmla="val 41667"/>
              <a:gd name="adj2" fmla="val 50000"/>
            </a:avLst>
          </a:prstGeom>
          <a:noFill/>
          <a:ln w="25400" cmpd="sng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l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632575" y="4527460"/>
            <a:ext cx="1403654" cy="338554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上下文切换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228600" y="3962400"/>
            <a:ext cx="817853" cy="461665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时间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990600" y="3162300"/>
            <a:ext cx="457200" cy="24003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A6A6A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tru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cxnSp>
        <p:nvCxnSpPr>
          <p:cNvPr name="Connector 27" id="27"/>
          <p:cNvCxnSpPr/>
          <p:nvPr/>
        </p:nvCxnSpPr>
        <p:spPr>
          <a:xfrm rot="10800000" flipH="false" flipV="true">
            <a:off x="2584450" y="4913376"/>
            <a:ext cx="6350" cy="420624"/>
          </a:xfrm>
          <a:prstGeom prst="line">
            <a:avLst/>
          </a:prstGeom>
          <a:noFill/>
          <a:ln w="25400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name="Connector 28" id="28"/>
          <p:cNvCxnSpPr/>
          <p:nvPr/>
        </p:nvCxnSpPr>
        <p:spPr>
          <a:xfrm rot="10800000" flipH="false" flipV="true">
            <a:off x="4184650" y="4075176"/>
            <a:ext cx="6350" cy="420624"/>
          </a:xfrm>
          <a:prstGeom prst="line">
            <a:avLst/>
          </a:prstGeom>
          <a:noFill/>
          <a:ln w="25400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name="Connector 29" id="29"/>
          <p:cNvCxnSpPr/>
          <p:nvPr/>
        </p:nvCxnSpPr>
        <p:spPr>
          <a:xfrm rot="5400000" flipH="false" flipV="true">
            <a:off x="3171424" y="3055600"/>
            <a:ext cx="438952" cy="1600200"/>
          </a:xfrm>
          <a:prstGeom prst="straightConnector1">
            <a:avLst/>
          </a:prstGeom>
          <a:noFill/>
          <a:ln w="25400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name="Connector 30" id="30"/>
          <p:cNvCxnSpPr/>
          <p:nvPr/>
        </p:nvCxnSpPr>
        <p:spPr>
          <a:xfrm rot="5400000" flipH="false" flipV="false">
            <a:off x="3178937" y="3907663"/>
            <a:ext cx="417576" cy="1593850"/>
          </a:xfrm>
          <a:prstGeom prst="straightConnector1">
            <a:avLst/>
          </a:prstGeom>
          <a:noFill/>
          <a:ln w="25400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name="AutoShape 31" id="31"/>
          <p:cNvSpPr/>
          <p:nvPr/>
        </p:nvSpPr>
        <p:spPr>
          <a:xfrm rot="0" flipH="false" flipV="false">
            <a:off x="4191000" y="2133600"/>
            <a:ext cx="985838" cy="2057400"/>
          </a:xfrm>
          <a:prstGeom prst="downArrow">
            <a:avLst>
              <a:gd name="adj1" fmla="val 51947"/>
              <a:gd name="adj2" fmla="val 50000"/>
            </a:avLst>
          </a:prstGeom>
          <a:solidFill>
            <a:srgbClr val="FFFFFF">
              <a:alpha val="100000"/>
            </a:srgbClr>
          </a:solidFill>
          <a:ln w="25400" cmpd="sng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228600"/>
          </a:xfrm>
          <a:prstGeom prst="roundRect">
            <a:avLst>
              <a:gd name="adj" fmla="val 0"/>
            </a:avLst>
          </a:prstGeom>
          <a:solidFill>
            <a:srgbClr val="99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97813" y="-26988"/>
            <a:ext cx="1309687" cy="277813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Carnegie Mellon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6031" y="6629400"/>
            <a:ext cx="4649342" cy="246221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57018" y="435678"/>
            <a:ext cx="7592093" cy="762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119126" indent="-119126">
              <a:lnSpc>
                <a:spcPct val="100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接收信号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96875" y="1200150"/>
            <a:ext cx="7896225" cy="497205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>
            <a:lvl1pPr marL="647700" indent="-304800"/>
            <a:lvl2pPr marL="996950" indent="-254000"/>
            <a:lvl3pPr marL="1346200" indent="-254000"/>
            <a:lvl4pPr marL="1695450" indent="-254000"/>
            <a:lvl5pPr marL="2044700" indent="-254000"/>
            <a:lvl6pPr marL="2393950" indent="-254000"/>
            <a:lvl7pPr marL="2743200" indent="-254000"/>
            <a:lvl8pPr marL="3092450" indent="-254000"/>
            <a:lvl9pPr marL="3441700" indent="-254000"/>
          </a:lstStyle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  <a:defRPr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假设内核正从异常处理程序返回，准备把控制权交给进程 p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内核计算 pnb = pending &amp; ~blocked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即进程 p 的待处理且未阻塞的信号集合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如果（pnb == 0）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把控制权交给 p 逻辑流中的下一条指令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否则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选择 pnb 中最低的非零位 k，强制进程 p 接收信号 k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信号的接收会触发 p 的某种动作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对 pnb 中所有非零位 k 重复此过程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把控制权交给 p 逻辑流中的下一条指令</a:t>
            </a:r>
          </a:p>
        </p:txBody>
      </p:sp>
    </p:spTree>
  </p:cSld>
  <p:clrMapOvr>
    <a:masterClrMapping/>
  </p:clrMapOvr>
  <p:timing>
    <p:tnLst>
      <p:par>
        <p:cTn id="1" nodeType="tmRoot" restart="never" dur="indefinite">
          <p:childTnLst>
            <p:seq concurrent="true" nextAc="seek">
              <p:cTn nodeType="mainSeq" dur="indefinite" id="2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7" nodeType="with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childTnLst>
                        <p:par>
                          <p:cTn id="10" fill="hold">
                            <p:childTnLst>
                              <p:par>
                                <p:cTn fill="hold" id="11" nodeType="click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13" nodeType="with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15" nodeType="with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17" nodeType="with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19" nodeType="with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228600"/>
          </a:xfrm>
          <a:prstGeom prst="roundRect">
            <a:avLst>
              <a:gd name="adj" fmla="val 0"/>
            </a:avLst>
          </a:prstGeom>
          <a:solidFill>
            <a:srgbClr val="99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97813" y="-26988"/>
            <a:ext cx="1309687" cy="277813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Carnegie Mellon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6031" y="6629400"/>
            <a:ext cx="4649342" cy="246221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81000" y="435678"/>
            <a:ext cx="7592093" cy="762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119126" indent="-119126">
              <a:lnSpc>
                <a:spcPct val="100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默认动作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96875" y="1362075"/>
            <a:ext cx="7896225" cy="497205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>
            <a:lvl1pPr marL="647700" indent="-304800"/>
            <a:lvl2pPr marL="996950" indent="-254000"/>
            <a:lvl3pPr marL="1346200" indent="-254000"/>
            <a:lvl4pPr marL="1695450" indent="-254000"/>
            <a:lvl5pPr marL="2044700" indent="-254000"/>
            <a:lvl6pPr marL="2393950" indent="-254000"/>
            <a:lvl7pPr marL="2743200" indent="-254000"/>
            <a:lvl8pPr marL="3092450" indent="-254000"/>
            <a:lvl9pPr marL="3441700" indent="-254000"/>
          </a:lstStyle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  <a:defRPr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每种信号类型都有一个预定义的默认动作，可能是以下之一：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进程终止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进程停止，直到被 SIGCONT 信号重新启动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进程忽略该信号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ct val="20000"/>
              </a:spcBef>
            </a:pP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228600"/>
          </a:xfrm>
          <a:prstGeom prst="roundRect">
            <a:avLst>
              <a:gd name="adj" fmla="val 0"/>
            </a:avLst>
          </a:prstGeom>
          <a:solidFill>
            <a:srgbClr val="99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97813" y="-26988"/>
            <a:ext cx="1309687" cy="277813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Carnegie Mellon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6031" y="6629400"/>
            <a:ext cx="4649342" cy="246221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78922" y="435678"/>
            <a:ext cx="7592093" cy="762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119126" indent="-119126">
              <a:lnSpc>
                <a:spcPct val="100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安装信号处理程序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90513" y="1220788"/>
            <a:ext cx="8701087" cy="5224462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>
            <a:lvl1pPr marL="647700" indent="-304800"/>
            <a:lvl2pPr marL="996950" indent="-254000"/>
            <a:lvl3pPr marL="1397000" indent="-254000"/>
            <a:lvl4pPr marL="1797050" indent="-254000"/>
            <a:lvl5pPr marL="2197100" indent="-254000"/>
            <a:lvl6pPr marL="2597150" indent="-254000"/>
            <a:lvl7pPr marL="2997200" indent="-254000"/>
            <a:lvl8pPr marL="3397250" indent="-254000"/>
            <a:lvl9pPr marL="3797300" indent="-254000"/>
          </a:lstStyle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  <a:defRPr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signal 函数修改接收信号 signum 时的默认动作：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true" i="false" strike="noStrike" u="none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handler_t *signal(int signum, handler_t *handler)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handler 的不同取值：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SIG_IGN：忽略类型为 signum 的信号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SIG_DFL：收到类型为 signum 的信号时恢复默认动作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否则，handler 是用户级信号处理程序的地址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2" indent="-228600" marL="11430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8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进程收到类型为 signum 的信号时被调用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2" indent="-228600" marL="11430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8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这被称为“安装”处理程序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2" indent="-228600" marL="11430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8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执行处理程序称为“捕获”或“处理”信号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2" indent="-228600" marL="11430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8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当处理程序执行其 return 语句时，控制权交回被信号接收所中断的进程控制流中的那条指令</a:t>
            </a:r>
          </a:p>
        </p:txBody>
      </p:sp>
    </p:spTree>
  </p:cSld>
  <p:clrMapOvr>
    <a:masterClrMapping/>
  </p:clrMapOvr>
  <p:timing>
    <p:tnLst>
      <p:par>
        <p:cTn id="1" nodeType="tmRoot" restart="never" dur="indefinite">
          <p:childTnLst>
            <p:seq concurrent="true" nextAc="seek">
              <p:cTn nodeType="mainSeq" dur="indefinite" id="2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7" nodeType="with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9" nodeType="with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11" nodeType="with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13" nodeType="with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15" nodeType="with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17" nodeType="with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19" nodeType="with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228600"/>
          </a:xfrm>
          <a:prstGeom prst="roundRect">
            <a:avLst>
              <a:gd name="adj" fmla="val 0"/>
            </a:avLst>
          </a:prstGeom>
          <a:solidFill>
            <a:srgbClr val="99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97813" y="-26988"/>
            <a:ext cx="1309687" cy="277813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Carnegie Mellon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6031" y="6629400"/>
            <a:ext cx="4649342" cy="246221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28600" y="304800"/>
            <a:ext cx="5181600" cy="573087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119126" indent="-119126">
              <a:lnSpc>
                <a:spcPct val="100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信号处理示例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" y="967799"/>
            <a:ext cx="8991600" cy="5509201"/>
          </a:xfrm>
          <a:prstGeom prst="rect">
            <a:avLst/>
          </a:prstGeom>
          <a:solidFill>
            <a:srgbClr val="F6F5BD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void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600">
                <a:solidFill>
                  <a:srgbClr val="4A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sigint_handler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(</a:t>
            </a:r>
            <a:r>
              <a:rPr lang="en-US" b="true" i="false" strike="noStrike" u="none" sz="16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int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600">
                <a:solidFill>
                  <a:srgbClr val="BA8C1C"/>
                </a:solidFill>
                <a:latin typeface="Menlo-Regular"/>
                <a:ea typeface="Menlo-Regular"/>
                <a:cs typeface="Menlo-Regular"/>
                <a:sym typeface="Menlo-Regular"/>
              </a:rPr>
              <a:t>sig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) </a:t>
            </a:r>
            <a:r>
              <a:rPr lang="en-US" b="true" i="false" strike="noStrike" u="none" sz="1600">
                <a:solidFill>
                  <a:srgbClr val="CB2418"/>
                </a:solidFill>
                <a:latin typeface="Menlo-Regular"/>
                <a:ea typeface="Menlo-Regular"/>
                <a:cs typeface="Menlo-Regular"/>
                <a:sym typeface="Menlo-Regular"/>
              </a:rPr>
              <a:t>/* SIGINT 处理程序 */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  <a:endParaRPr lang="en-US" sz="1100"/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{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printf(</a:t>
            </a:r>
            <a:r>
              <a:rPr lang="en-US" b="true" i="false" strike="noStrike" u="none" sz="1600">
                <a:solidFill>
                  <a:srgbClr val="B7898A"/>
                </a:solidFill>
                <a:latin typeface="Menlo-Regular"/>
                <a:ea typeface="Menlo-Regular"/>
                <a:cs typeface="Menlo-Regular"/>
                <a:sym typeface="Menlo-Regular"/>
              </a:rPr>
              <a:t>"你以为用 ctrl-c 就能停掉炸弹吗？\n"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);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sleep(2);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printf(</a:t>
            </a:r>
            <a:r>
              <a:rPr lang="en-US" b="true" i="false" strike="noStrike" u="none" sz="1600">
                <a:solidFill>
                  <a:srgbClr val="B7898A"/>
                </a:solidFill>
                <a:latin typeface="Menlo-Regular"/>
                <a:ea typeface="Menlo-Regular"/>
                <a:cs typeface="Menlo-Regular"/>
                <a:sym typeface="Menlo-Regular"/>
              </a:rPr>
              <a:t>"好吧..."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);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fflush(stdout);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sleep(1);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printf(</a:t>
            </a:r>
            <a:r>
              <a:rPr lang="en-US" b="true" i="false" strike="noStrike" u="none" sz="1600">
                <a:solidFill>
                  <a:srgbClr val="B7898A"/>
                </a:solidFill>
                <a:latin typeface="Menlo-Regular"/>
                <a:ea typeface="Menlo-Regular"/>
                <a:cs typeface="Menlo-Regular"/>
                <a:sym typeface="Menlo-Regular"/>
              </a:rPr>
              <a:t>"好的。:-)\n"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);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exit(0);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}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int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600">
                <a:solidFill>
                  <a:srgbClr val="4A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main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()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{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CB2418"/>
                </a:solidFill>
                <a:latin typeface="Menlo-Regular"/>
                <a:ea typeface="Menlo-Regular"/>
                <a:cs typeface="Menlo-Regular"/>
                <a:sym typeface="Menlo-Regular"/>
              </a:rPr>
              <a:t>/* 安装 SIGINT 处理程序 */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C2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if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(signal(SIGINT, sigint_handler) == SIG_ERR)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unix_error(</a:t>
            </a:r>
            <a:r>
              <a:rPr lang="en-US" b="true" i="false" strike="noStrike" u="none" sz="1600">
                <a:solidFill>
                  <a:srgbClr val="B7898A"/>
                </a:solidFill>
                <a:latin typeface="Menlo-Regular"/>
                <a:ea typeface="Menlo-Regular"/>
                <a:cs typeface="Menlo-Regular"/>
                <a:sym typeface="Menlo-Regular"/>
              </a:rPr>
              <a:t>"signal 错误"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);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CB2418"/>
                </a:solidFill>
                <a:latin typeface="Menlo-Regular"/>
                <a:ea typeface="Menlo-Regular"/>
                <a:cs typeface="Menlo-Regular"/>
                <a:sym typeface="Menlo-Regular"/>
              </a:rPr>
              <a:t>/* 等待信号的接收 */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pause();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C2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return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0;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}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206078" y="6096000"/>
            <a:ext cx="861722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sigint.c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228600"/>
          </a:xfrm>
          <a:prstGeom prst="roundRect">
            <a:avLst>
              <a:gd name="adj" fmla="val 0"/>
            </a:avLst>
          </a:prstGeom>
          <a:solidFill>
            <a:srgbClr val="99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97813" y="-26988"/>
            <a:ext cx="1309687" cy="277813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Carnegie Mellon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6031" y="6629400"/>
            <a:ext cx="4649342" cy="246221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81000" y="435678"/>
            <a:ext cx="7592093" cy="762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119126" indent="-119126">
              <a:lnSpc>
                <a:spcPct val="100000"/>
              </a:lnSpc>
              <a:defRPr/>
            </a:pPr>
            <a:r>
              <a:rPr lang="en-US" b="true" i="false" strike="noStrike" u="none" sz="3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信号处理程序作为并发流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81000" y="1371600"/>
            <a:ext cx="8307388" cy="12954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>
            <a:lvl1pPr marL="647700" indent="-304800"/>
            <a:lvl2pPr marL="1104900" indent="-304800"/>
            <a:lvl3pPr marL="1562100" indent="-304800"/>
            <a:lvl4pPr marL="2019300" indent="-304800"/>
            <a:lvl5pPr marL="2476500" indent="-304800"/>
            <a:lvl6pPr marL="2933700" indent="-304800"/>
            <a:lvl7pPr marL="3390900" indent="-304800"/>
            <a:lvl8pPr marL="3848100" indent="-304800"/>
            <a:lvl9pPr marL="4305300" indent="-304800"/>
          </a:lstStyle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  <a:defRPr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信号处理程序是一个独立的逻辑流（不是进程），与主程序并发运行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0" flipH="false" flipV="false">
            <a:off x="2987675" y="4343400"/>
            <a:ext cx="0" cy="304800"/>
          </a:xfrm>
          <a:prstGeom prst="line">
            <a:avLst/>
          </a:prstGeom>
          <a:noFill/>
          <a:ln w="25400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2420938" y="3124200"/>
            <a:ext cx="1284287" cy="1069975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进程 A</a:t>
            </a: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while (1)</a:t>
            </a: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944938" y="3124200"/>
            <a:ext cx="1406525" cy="131445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进程 A</a:t>
            </a: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handler(){</a:t>
            </a: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…</a:t>
            </a: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468938" y="3124200"/>
            <a:ext cx="990079" cy="338554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进程 B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0" flipH="false" flipV="false">
            <a:off x="4511675" y="4953000"/>
            <a:ext cx="0" cy="304800"/>
          </a:xfrm>
          <a:prstGeom prst="line">
            <a:avLst/>
          </a:prstGeom>
          <a:noFill/>
          <a:ln w="25400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12" id="12"/>
          <p:cNvCxnSpPr/>
          <p:nvPr/>
        </p:nvCxnSpPr>
        <p:spPr>
          <a:xfrm rot="0" flipH="false" flipV="false">
            <a:off x="6035675" y="4648200"/>
            <a:ext cx="0" cy="304800"/>
          </a:xfrm>
          <a:prstGeom prst="line">
            <a:avLst/>
          </a:prstGeom>
          <a:noFill/>
          <a:ln w="25400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13" id="13"/>
          <p:cNvCxnSpPr/>
          <p:nvPr/>
        </p:nvCxnSpPr>
        <p:spPr>
          <a:xfrm rot="0" flipH="false" flipV="false">
            <a:off x="2987675" y="5257800"/>
            <a:ext cx="0" cy="304800"/>
          </a:xfrm>
          <a:prstGeom prst="line">
            <a:avLst/>
          </a:prstGeom>
          <a:noFill/>
          <a:ln w="25400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14" id="14"/>
          <p:cNvCxnSpPr/>
          <p:nvPr/>
        </p:nvCxnSpPr>
        <p:spPr>
          <a:xfrm rot="0" flipH="false" flipV="false">
            <a:off x="6035675" y="5562600"/>
            <a:ext cx="0" cy="304800"/>
          </a:xfrm>
          <a:prstGeom prst="line">
            <a:avLst/>
          </a:prstGeom>
          <a:noFill/>
          <a:ln w="25400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15" id="15"/>
          <p:cNvCxnSpPr/>
          <p:nvPr/>
        </p:nvCxnSpPr>
        <p:spPr>
          <a:xfrm rot="0" flipH="false" flipV="false">
            <a:off x="2530475" y="4648200"/>
            <a:ext cx="4038600" cy="0"/>
          </a:xfrm>
          <a:prstGeom prst="line">
            <a:avLst/>
          </a:prstGeom>
          <a:noFill/>
          <a:ln w="12700">
            <a:solidFill>
              <a:srgbClr val="000000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name="Connector 16" id="16"/>
          <p:cNvCxnSpPr/>
          <p:nvPr/>
        </p:nvCxnSpPr>
        <p:spPr>
          <a:xfrm rot="0" flipH="false" flipV="false">
            <a:off x="2530475" y="4953000"/>
            <a:ext cx="4038600" cy="0"/>
          </a:xfrm>
          <a:prstGeom prst="line">
            <a:avLst/>
          </a:prstGeom>
          <a:noFill/>
          <a:ln w="12700">
            <a:solidFill>
              <a:srgbClr val="000000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name="Connector 17" id="17"/>
          <p:cNvCxnSpPr/>
          <p:nvPr/>
        </p:nvCxnSpPr>
        <p:spPr>
          <a:xfrm rot="0" flipH="false" flipV="false">
            <a:off x="2530475" y="5257800"/>
            <a:ext cx="4038600" cy="0"/>
          </a:xfrm>
          <a:prstGeom prst="line">
            <a:avLst/>
          </a:prstGeom>
          <a:noFill/>
          <a:ln w="12700">
            <a:solidFill>
              <a:srgbClr val="000000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name="Connector 18" id="18"/>
          <p:cNvCxnSpPr/>
          <p:nvPr/>
        </p:nvCxnSpPr>
        <p:spPr>
          <a:xfrm rot="0" flipH="false" flipV="false">
            <a:off x="2530475" y="5562600"/>
            <a:ext cx="4038600" cy="0"/>
          </a:xfrm>
          <a:prstGeom prst="line">
            <a:avLst/>
          </a:prstGeom>
          <a:noFill/>
          <a:ln w="12700">
            <a:solidFill>
              <a:srgbClr val="000000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name="Connector 19" id="19"/>
          <p:cNvCxnSpPr/>
          <p:nvPr/>
        </p:nvCxnSpPr>
        <p:spPr>
          <a:xfrm rot="0" flipH="false" flipV="false">
            <a:off x="2530475" y="5867400"/>
            <a:ext cx="4038600" cy="0"/>
          </a:xfrm>
          <a:prstGeom prst="line">
            <a:avLst/>
          </a:prstGeom>
          <a:noFill/>
          <a:ln w="12700">
            <a:solidFill>
              <a:srgbClr val="000000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990600" y="4796135"/>
            <a:ext cx="817853" cy="461665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时间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732253" y="4419600"/>
            <a:ext cx="457200" cy="1600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A6A6A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tru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228600"/>
          </a:xfrm>
          <a:prstGeom prst="roundRect">
            <a:avLst>
              <a:gd name="adj" fmla="val 0"/>
            </a:avLst>
          </a:prstGeom>
          <a:solidFill>
            <a:srgbClr val="99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97813" y="-26988"/>
            <a:ext cx="1309687" cy="277813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Carnegie Mellon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6031" y="6629400"/>
            <a:ext cx="4649342" cy="246221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771015" y="4724400"/>
            <a:ext cx="4495800" cy="425450"/>
          </a:xfrm>
          <a:prstGeom prst="roundRect">
            <a:avLst>
              <a:gd name="adj" fmla="val 0"/>
            </a:avLst>
          </a:prstGeom>
          <a:solidFill>
            <a:srgbClr val="F1C7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tru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771015" y="5149850"/>
            <a:ext cx="4495800" cy="425450"/>
          </a:xfrm>
          <a:prstGeom prst="roundRect">
            <a:avLst>
              <a:gd name="adj" fmla="val 0"/>
            </a:avLst>
          </a:prstGeom>
          <a:solidFill>
            <a:srgbClr val="D6D6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tru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57018" y="609600"/>
            <a:ext cx="7592093" cy="762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3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信号处理程序作为并发流的另一视角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97782" y="2667000"/>
            <a:ext cx="1615286" cy="646331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45720" rIns="4572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信号被递送</a:t>
            </a:r>
            <a:r>
              <a:rPr lang="en-US" b="tru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给进程 A</a:t>
            </a:r>
          </a:p>
        </p:txBody>
      </p:sp>
      <p:cxnSp>
        <p:nvCxnSpPr>
          <p:cNvPr name="Connector 9" id="9"/>
          <p:cNvCxnSpPr/>
          <p:nvPr/>
        </p:nvCxnSpPr>
        <p:spPr>
          <a:xfrm rot="0" flipH="false" flipV="false">
            <a:off x="2362200" y="2851666"/>
            <a:ext cx="381000" cy="0"/>
          </a:xfrm>
          <a:prstGeom prst="line">
            <a:avLst/>
          </a:prstGeom>
          <a:noFill/>
          <a:ln w="38100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781138" y="4132052"/>
            <a:ext cx="1531316" cy="646331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45720" rIns="4572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信号被接收</a:t>
            </a:r>
            <a:r>
              <a:rPr lang="en-US" b="tru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由进程 A</a:t>
            </a:r>
          </a:p>
        </p:txBody>
      </p:sp>
      <p:cxnSp>
        <p:nvCxnSpPr>
          <p:cNvPr name="Connector 11" id="11"/>
          <p:cNvCxnSpPr/>
          <p:nvPr/>
        </p:nvCxnSpPr>
        <p:spPr>
          <a:xfrm rot="0" flipH="false" flipV="false">
            <a:off x="2362200" y="4316718"/>
            <a:ext cx="381000" cy="0"/>
          </a:xfrm>
          <a:prstGeom prst="line">
            <a:avLst/>
          </a:prstGeom>
          <a:noFill/>
          <a:ln w="38100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2771015" y="3885060"/>
            <a:ext cx="4495800" cy="425450"/>
          </a:xfrm>
          <a:prstGeom prst="roundRect">
            <a:avLst>
              <a:gd name="adj" fmla="val 0"/>
            </a:avLst>
          </a:prstGeom>
          <a:solidFill>
            <a:srgbClr val="F1C7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tru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2771015" y="3459610"/>
            <a:ext cx="4495800" cy="425450"/>
          </a:xfrm>
          <a:prstGeom prst="roundRect">
            <a:avLst>
              <a:gd name="adj" fmla="val 0"/>
            </a:avLst>
          </a:prstGeom>
          <a:solidFill>
            <a:srgbClr val="F2F2F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tru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2771015" y="4310510"/>
            <a:ext cx="4495800" cy="425450"/>
          </a:xfrm>
          <a:prstGeom prst="roundRect">
            <a:avLst>
              <a:gd name="adj" fmla="val 0"/>
            </a:avLst>
          </a:prstGeom>
          <a:solidFill>
            <a:srgbClr val="D6D6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tru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2771015" y="3028266"/>
            <a:ext cx="4495800" cy="425450"/>
          </a:xfrm>
          <a:prstGeom prst="roundRect">
            <a:avLst>
              <a:gd name="adj" fmla="val 0"/>
            </a:avLst>
          </a:prstGeom>
          <a:solidFill>
            <a:srgbClr val="F1C7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tru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2771015" y="2602816"/>
            <a:ext cx="4495800" cy="425450"/>
          </a:xfrm>
          <a:prstGeom prst="roundRect">
            <a:avLst>
              <a:gd name="adj" fmla="val 0"/>
            </a:avLst>
          </a:prstGeom>
          <a:solidFill>
            <a:srgbClr val="D6D6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tru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2993037" y="1981200"/>
            <a:ext cx="1097160" cy="369332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进程 A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516029" y="1981200"/>
            <a:ext cx="1087542" cy="369332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进程 B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10800000" flipH="false" flipV="true">
            <a:off x="3546171" y="2606000"/>
            <a:ext cx="0" cy="420624"/>
          </a:xfrm>
          <a:prstGeom prst="line">
            <a:avLst/>
          </a:prstGeom>
          <a:noFill/>
          <a:ln w="25400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name="Connector 20" id="20"/>
          <p:cNvCxnSpPr/>
          <p:nvPr/>
        </p:nvCxnSpPr>
        <p:spPr>
          <a:xfrm rot="10800000" flipH="false" flipV="true">
            <a:off x="4371671" y="1981200"/>
            <a:ext cx="12700" cy="3931920"/>
          </a:xfrm>
          <a:prstGeom prst="line">
            <a:avLst/>
          </a:prstGeom>
          <a:noFill/>
          <a:ln w="25400">
            <a:solidFill>
              <a:srgbClr val="000000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5472451" y="2667000"/>
            <a:ext cx="1611916" cy="338554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用户代码（main）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5472451" y="3081338"/>
            <a:ext cx="1171859" cy="338554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内核代码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5472451" y="3494088"/>
            <a:ext cx="1611916" cy="338554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用户代码（main）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5454989" y="3930650"/>
            <a:ext cx="1171859" cy="338554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内核代码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5472451" y="4343400"/>
            <a:ext cx="1842749" cy="338554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用户代码（处理程序）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508571" y="3027143"/>
            <a:ext cx="76200" cy="381000"/>
          </a:xfrm>
          <a:prstGeom prst="rightBrace">
            <a:avLst>
              <a:gd name="adj1" fmla="val 41667"/>
              <a:gd name="adj2" fmla="val 50000"/>
            </a:avLst>
          </a:prstGeom>
          <a:noFill/>
          <a:ln w="25400" cmpd="sng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l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587946" y="3048366"/>
            <a:ext cx="1403654" cy="338554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上下文切换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508571" y="3896637"/>
            <a:ext cx="76200" cy="381000"/>
          </a:xfrm>
          <a:prstGeom prst="rightBrace">
            <a:avLst>
              <a:gd name="adj1" fmla="val 41667"/>
              <a:gd name="adj2" fmla="val 50000"/>
            </a:avLst>
          </a:prstGeom>
          <a:noFill/>
          <a:ln w="25400" cmpd="sng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l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7587946" y="3917860"/>
            <a:ext cx="1403654" cy="338554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上下文切换</a:t>
            </a:r>
            <a:endParaRPr lang="en-US" sz="1100"/>
          </a:p>
        </p:txBody>
      </p:sp>
      <p:cxnSp>
        <p:nvCxnSpPr>
          <p:cNvPr name="Connector 30" id="30"/>
          <p:cNvCxnSpPr/>
          <p:nvPr/>
        </p:nvCxnSpPr>
        <p:spPr>
          <a:xfrm rot="10800000" flipH="false" flipV="true">
            <a:off x="3539821" y="4303776"/>
            <a:ext cx="0" cy="420624"/>
          </a:xfrm>
          <a:prstGeom prst="line">
            <a:avLst/>
          </a:prstGeom>
          <a:noFill/>
          <a:ln w="25400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name="Connector 31" id="31"/>
          <p:cNvCxnSpPr/>
          <p:nvPr/>
        </p:nvCxnSpPr>
        <p:spPr>
          <a:xfrm rot="10800000" flipH="false" flipV="true">
            <a:off x="5140021" y="3465576"/>
            <a:ext cx="0" cy="420624"/>
          </a:xfrm>
          <a:prstGeom prst="line">
            <a:avLst/>
          </a:prstGeom>
          <a:noFill/>
          <a:ln w="25400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name="Connector 32" id="32"/>
          <p:cNvCxnSpPr/>
          <p:nvPr/>
        </p:nvCxnSpPr>
        <p:spPr>
          <a:xfrm rot="5400000" flipH="false" flipV="true">
            <a:off x="4123620" y="2449175"/>
            <a:ext cx="438952" cy="1593850"/>
          </a:xfrm>
          <a:prstGeom prst="straightConnector1">
            <a:avLst/>
          </a:prstGeom>
          <a:noFill/>
          <a:ln w="25400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name="Connector 33" id="33"/>
          <p:cNvCxnSpPr/>
          <p:nvPr/>
        </p:nvCxnSpPr>
        <p:spPr>
          <a:xfrm rot="5400000" flipH="false" flipV="false">
            <a:off x="4131133" y="3294888"/>
            <a:ext cx="417576" cy="1600200"/>
          </a:xfrm>
          <a:prstGeom prst="straightConnector1">
            <a:avLst/>
          </a:prstGeom>
          <a:noFill/>
          <a:ln w="25400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name="Connector 34" id="34"/>
          <p:cNvCxnSpPr/>
          <p:nvPr/>
        </p:nvCxnSpPr>
        <p:spPr>
          <a:xfrm rot="10800000" flipH="false" flipV="true">
            <a:off x="3538270" y="4724400"/>
            <a:ext cx="0" cy="420624"/>
          </a:xfrm>
          <a:prstGeom prst="line">
            <a:avLst/>
          </a:prstGeom>
          <a:noFill/>
          <a:ln w="25400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name="Connector 35" id="35"/>
          <p:cNvCxnSpPr/>
          <p:nvPr/>
        </p:nvCxnSpPr>
        <p:spPr>
          <a:xfrm rot="10800000" flipH="false" flipV="true">
            <a:off x="3538270" y="5141976"/>
            <a:ext cx="0" cy="420624"/>
          </a:xfrm>
          <a:prstGeom prst="line">
            <a:avLst/>
          </a:prstGeom>
          <a:noFill/>
          <a:ln w="25400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name="AutoShape 36" id="36"/>
          <p:cNvSpPr/>
          <p:nvPr/>
        </p:nvSpPr>
        <p:spPr>
          <a:xfrm rot="0" flipH="false" flipV="false">
            <a:off x="5457541" y="4766846"/>
            <a:ext cx="1171859" cy="338554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内核代码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5474684" y="5181600"/>
            <a:ext cx="1611916" cy="338554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用户代码（main）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3130739" y="2709446"/>
            <a:ext cx="374461" cy="338554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45720" rIns="4572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当前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3124200" y="5071646"/>
            <a:ext cx="397994" cy="338554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45720" rIns="4572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下一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3505200" y="2977086"/>
            <a:ext cx="91440" cy="91440"/>
          </a:xfrm>
          <a:prstGeom prst="ellipse">
            <a:avLst/>
          </a:prstGeom>
          <a:solidFill>
            <a:srgbClr val="00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3489960" y="5122652"/>
            <a:ext cx="91440" cy="91440"/>
          </a:xfrm>
          <a:prstGeom prst="ellipse">
            <a:avLst/>
          </a:prstGeom>
          <a:solidFill>
            <a:srgbClr val="00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228600"/>
          </a:xfrm>
          <a:prstGeom prst="roundRect">
            <a:avLst>
              <a:gd name="adj" fmla="val 0"/>
            </a:avLst>
          </a:prstGeom>
          <a:solidFill>
            <a:srgbClr val="99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97813" y="-26988"/>
            <a:ext cx="1309687" cy="277813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Carnegie Mellon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6031" y="6629400"/>
            <a:ext cx="4649342" cy="246221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57018" y="435678"/>
            <a:ext cx="7592093" cy="762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119126" indent="-119126">
              <a:lnSpc>
                <a:spcPct val="100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嵌套信号处理程序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96875" y="1362075"/>
            <a:ext cx="7896225" cy="619125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>
            <a:lvl1pPr marL="647700" indent="-304800"/>
            <a:lvl2pPr marL="1104900" indent="-304800"/>
            <a:lvl3pPr marL="1562100" indent="-304800"/>
            <a:lvl4pPr marL="2019300" indent="-304800"/>
            <a:lvl5pPr marL="2476500" indent="-304800"/>
            <a:lvl6pPr marL="2933700" indent="-304800"/>
            <a:lvl7pPr marL="3390900" indent="-304800"/>
            <a:lvl8pPr marL="3848100" indent="-304800"/>
            <a:lvl9pPr marL="4305300" indent="-304800"/>
          </a:lstStyle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  <a:defRPr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处理程序可能被其他处理程序中断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0" flipH="false" flipV="false">
            <a:off x="2844290" y="2822565"/>
            <a:ext cx="0" cy="598488"/>
          </a:xfrm>
          <a:prstGeom prst="line">
            <a:avLst/>
          </a:prstGeom>
          <a:noFill/>
          <a:ln w="12700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name="Connector 8" id="8"/>
          <p:cNvCxnSpPr/>
          <p:nvPr/>
        </p:nvCxnSpPr>
        <p:spPr>
          <a:xfrm rot="0" flipH="false" flipV="false">
            <a:off x="2850640" y="3427403"/>
            <a:ext cx="2400300" cy="0"/>
          </a:xfrm>
          <a:prstGeom prst="line">
            <a:avLst/>
          </a:prstGeom>
          <a:noFill/>
          <a:ln w="12700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name="Connector 9" id="9"/>
          <p:cNvCxnSpPr/>
          <p:nvPr/>
        </p:nvCxnSpPr>
        <p:spPr>
          <a:xfrm rot="10800000" flipH="false" flipV="false">
            <a:off x="5198533" y="4116924"/>
            <a:ext cx="2355340" cy="531795"/>
          </a:xfrm>
          <a:prstGeom prst="line">
            <a:avLst/>
          </a:prstGeom>
          <a:noFill/>
          <a:ln w="12700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name="Connector 10" id="10"/>
          <p:cNvCxnSpPr/>
          <p:nvPr/>
        </p:nvCxnSpPr>
        <p:spPr>
          <a:xfrm rot="0" flipH="false" flipV="false">
            <a:off x="2845877" y="4108440"/>
            <a:ext cx="3175" cy="876300"/>
          </a:xfrm>
          <a:prstGeom prst="line">
            <a:avLst/>
          </a:prstGeom>
          <a:noFill/>
          <a:ln w="12700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3033202" y="2825740"/>
            <a:ext cx="2051032" cy="582203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90479" rIns="90479" tIns="44446" bIns="44446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(2) 控制传递给处理程序 S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2017189" y="2286000"/>
            <a:ext cx="1644643" cy="335981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90479" rIns="90479" tIns="44446" bIns="44446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主程序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612346" y="4571994"/>
            <a:ext cx="1478488" cy="828424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90479" rIns="90479" tIns="44446" bIns="44446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(5) 处理程序 T</a:t>
            </a:r>
            <a:r>
              <a:rPr lang="en-US" b="true" i="false" strike="noStrike" u="none" sz="16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/>
            </a:r>
            <a:endParaRPr lang="en-US" sz="1100"/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返回处理程序 S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2341052" y="3144828"/>
            <a:ext cx="547258" cy="338554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当前指令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2341052" y="3849678"/>
            <a:ext cx="561066" cy="338554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下一条指令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36033" y="3105157"/>
            <a:ext cx="1917701" cy="582203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90479" rIns="90479" tIns="44446" bIns="44446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(1) 程序捕获信号 s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595290" y="2286000"/>
            <a:ext cx="1280576" cy="335981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90479" rIns="90479" tIns="44446" bIns="44446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处理程序 S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949024" y="2286000"/>
            <a:ext cx="1280576" cy="335981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90479" rIns="90479" tIns="44446" bIns="44446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处理程序 T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3369734" y="3600457"/>
            <a:ext cx="1854200" cy="582203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90479" rIns="90479" tIns="44446" bIns="44446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(3) 程序捕获信号 t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0" flipH="false" flipV="false">
            <a:off x="5231890" y="3432165"/>
            <a:ext cx="0" cy="598488"/>
          </a:xfrm>
          <a:prstGeom prst="line">
            <a:avLst/>
          </a:prstGeom>
          <a:noFill/>
          <a:ln w="12700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name="Connector 21" id="21"/>
          <p:cNvCxnSpPr/>
          <p:nvPr/>
        </p:nvCxnSpPr>
        <p:spPr>
          <a:xfrm rot="0" flipH="false" flipV="false">
            <a:off x="5225540" y="4024303"/>
            <a:ext cx="2400300" cy="0"/>
          </a:xfrm>
          <a:prstGeom prst="line">
            <a:avLst/>
          </a:prstGeom>
          <a:noFill/>
          <a:ln w="12700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5357301" y="3409940"/>
            <a:ext cx="2114531" cy="582203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90479" rIns="90479" tIns="44446" bIns="44446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(4) 控制传递给处理程序 T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0" flipH="false" flipV="false">
            <a:off x="7606790" y="4079865"/>
            <a:ext cx="0" cy="598488"/>
          </a:xfrm>
          <a:prstGeom prst="line">
            <a:avLst/>
          </a:prstGeom>
          <a:noFill/>
          <a:ln w="12700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name="Connector 24" id="24"/>
          <p:cNvCxnSpPr/>
          <p:nvPr/>
        </p:nvCxnSpPr>
        <p:spPr>
          <a:xfrm rot="0" flipH="false" flipV="false">
            <a:off x="5231890" y="4206865"/>
            <a:ext cx="0" cy="598488"/>
          </a:xfrm>
          <a:prstGeom prst="line">
            <a:avLst/>
          </a:prstGeom>
          <a:noFill/>
          <a:ln w="12700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name="Connector 25" id="25"/>
          <p:cNvCxnSpPr/>
          <p:nvPr/>
        </p:nvCxnSpPr>
        <p:spPr>
          <a:xfrm rot="10800000" flipH="false" flipV="false">
            <a:off x="2836333" y="4040723"/>
            <a:ext cx="2342640" cy="709595"/>
          </a:xfrm>
          <a:prstGeom prst="line">
            <a:avLst/>
          </a:prstGeom>
          <a:noFill/>
          <a:ln w="12700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name="AutoShape 26" id="26"/>
          <p:cNvSpPr/>
          <p:nvPr/>
        </p:nvSpPr>
        <p:spPr>
          <a:xfrm rot="0" flipH="false" flipV="false">
            <a:off x="3529546" y="4698994"/>
            <a:ext cx="1478488" cy="1074645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90479" rIns="90479" tIns="44446" bIns="44446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(6) 处理程序 S</a:t>
            </a:r>
            <a:r>
              <a:rPr lang="en-US" b="true" i="false" strike="noStrike" u="none" sz="16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/>
            </a:r>
            <a:endParaRPr lang="en-US" sz="1100"/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返回主程序</a:t>
            </a:r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436033" y="3930657"/>
            <a:ext cx="1917701" cy="582203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90479" rIns="90479" tIns="44446" bIns="44446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(7) 主程序恢复执行</a:t>
            </a:r>
            <a:endParaRPr lang="en-US" sz="1100"/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228600"/>
          </a:xfrm>
          <a:prstGeom prst="roundRect">
            <a:avLst>
              <a:gd name="adj" fmla="val 0"/>
            </a:avLst>
          </a:prstGeom>
          <a:solidFill>
            <a:srgbClr val="99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97813" y="-26988"/>
            <a:ext cx="1309687" cy="277813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Carnegie Mellon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6031" y="6629400"/>
            <a:ext cx="4649342" cy="246221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57018" y="435678"/>
            <a:ext cx="7592093" cy="762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119126" indent="-119126">
              <a:lnSpc>
                <a:spcPct val="100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阻塞与解除阻塞信号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96875" y="1362075"/>
            <a:ext cx="7896225" cy="497205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>
            <a:lvl1pPr marL="647700" indent="-304800"/>
            <a:lvl2pPr marL="996950" indent="-254000"/>
            <a:lvl3pPr marL="1346200" indent="-254000"/>
            <a:lvl4pPr marL="1695450" indent="-254000"/>
            <a:lvl5pPr marL="2044700" indent="-254000"/>
            <a:lvl6pPr marL="2393950" indent="-254000"/>
            <a:lvl7pPr marL="2743200" indent="-254000"/>
            <a:lvl8pPr marL="3092450" indent="-254000"/>
            <a:lvl9pPr marL="3441700" indent="-254000"/>
          </a:lstStyle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  <a:defRPr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隐式阻塞机制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内核阻塞当前正在处理的信号类型的所有待处理信号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例如，SIGINT 处理程序不会被另一个 SIGINT 中断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显式阻塞与解除阻塞机制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sigprocmask 函数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marL="74295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辅助函数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sigemptyset – 创建空集合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sigfillset – 将每个信号编号加入集合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sigaddset – 将信号编号加入集合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sigdelset – 从集合中删除信号编号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>
              <a:lnSpc>
                <a:spcPct val="100000"/>
              </a:lnSpc>
              <a:spcBef>
                <a:spcPct val="20000"/>
              </a:spcBef>
            </a:pP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228600"/>
          </a:xfrm>
          <a:prstGeom prst="roundRect">
            <a:avLst>
              <a:gd name="adj" fmla="val 0"/>
            </a:avLst>
          </a:prstGeom>
          <a:solidFill>
            <a:srgbClr val="99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97813" y="-26988"/>
            <a:ext cx="1309687" cy="277813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Carnegie Mellon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6031" y="6629400"/>
            <a:ext cx="4649342" cy="246221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57019" y="435678"/>
            <a:ext cx="6119982" cy="762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119126" indent="-119126">
              <a:lnSpc>
                <a:spcPct val="100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临时阻塞信号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57200" y="1828800"/>
            <a:ext cx="8153400" cy="3293209"/>
          </a:xfrm>
          <a:prstGeom prst="rect">
            <a:avLst/>
          </a:prstGeom>
          <a:solidFill>
            <a:srgbClr val="F6F5BD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sigset_t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600">
                <a:solidFill>
                  <a:srgbClr val="C1651C"/>
                </a:solidFill>
                <a:latin typeface="Menlo-Regular"/>
                <a:ea typeface="Menlo-Regular"/>
                <a:cs typeface="Menlo-Regular"/>
                <a:sym typeface="Menlo-Regular"/>
              </a:rPr>
              <a:t>mask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, </a:t>
            </a:r>
            <a:r>
              <a:rPr lang="en-US" b="true" i="false" strike="noStrike" u="none" sz="1600">
                <a:solidFill>
                  <a:srgbClr val="C1651C"/>
                </a:solidFill>
                <a:latin typeface="Menlo-Regular"/>
                <a:ea typeface="Menlo-Regular"/>
                <a:cs typeface="Menlo-Regular"/>
                <a:sym typeface="Menlo-Regular"/>
              </a:rPr>
              <a:t>prev_mask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;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  <a:endParaRPr lang="en-US" sz="1100"/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Sigemptyset(&amp;mask);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Sigaddset(&amp;mask, SIGINT);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CB2418"/>
                </a:solidFill>
                <a:latin typeface="Menlo-Regular"/>
                <a:ea typeface="Menlo-Regular"/>
                <a:cs typeface="Menlo-Regular"/>
                <a:sym typeface="Menlo-Regular"/>
              </a:rPr>
              <a:t>/* 阻塞 SIGINT 并保存之前的阻塞集合 */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Sigprocmask(SIG_BLOCK, &amp;mask, &amp;prev_mask);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7878DE"/>
                </a:solidFill>
                <a:latin typeface="Menlo-Regular"/>
                <a:ea typeface="Menlo-Regular"/>
                <a:cs typeface="Menlo-Regular"/>
                <a:sym typeface="Menlo-Regular"/>
              </a:rPr>
              <a:t>/* 不会被 SIGINT 中断的代码区域 */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CB2418"/>
                </a:solidFill>
                <a:latin typeface="Menlo-Regular"/>
                <a:ea typeface="Menlo-Regular"/>
                <a:cs typeface="Menlo-Regular"/>
                <a:sym typeface="Menlo-Regular"/>
              </a:rPr>
              <a:t>/* 恢复之前的阻塞集合，解除对 SIGINT 的阻塞 */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Sigprocmask(SIG_SETMASK, &amp;prev_mask, </a:t>
            </a:r>
            <a:r>
              <a:rPr lang="en-US" b="true" i="false" strike="noStrike" u="none" sz="1600">
                <a:solidFill>
                  <a:srgbClr val="2C9290"/>
                </a:solidFill>
                <a:latin typeface="Menlo-Regular"/>
                <a:ea typeface="Menlo-Regular"/>
                <a:cs typeface="Menlo-Regular"/>
                <a:sym typeface="Menlo-Regular"/>
              </a:rPr>
              <a:t>NULL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);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defTabSz="914400">
              <a:lnSpc>
                <a:spcPct val="100000"/>
              </a:lnSpc>
            </a:pPr>
          </a:p>
        </p:txBody>
      </p:sp>
      <p:sp>
        <p:nvSpPr>
          <p:cNvPr name="AutoShape 7" id="7"/>
          <p:cNvSpPr/>
          <p:nvPr/>
        </p:nvSpPr>
        <p:spPr>
          <a:xfrm rot="-5400000" flipH="false" flipV="false">
            <a:off x="513666" y="3448735"/>
            <a:ext cx="838200" cy="64633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lang="en-US" sz="1100"/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228600"/>
          </a:xfrm>
          <a:prstGeom prst="roundRect">
            <a:avLst>
              <a:gd name="adj" fmla="val 0"/>
            </a:avLst>
          </a:prstGeom>
          <a:solidFill>
            <a:srgbClr val="99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97813" y="-26988"/>
            <a:ext cx="1309687" cy="277813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Carnegie Mellon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6031" y="6629400"/>
            <a:ext cx="4649342" cy="246221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57018" y="435678"/>
            <a:ext cx="7592093" cy="762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119126" indent="-119126">
              <a:lnSpc>
                <a:spcPct val="100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安全的信号处理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81000" y="1362075"/>
            <a:ext cx="7896225" cy="497205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>
            <a:lvl1pPr marL="647700" indent="-304800"/>
            <a:lvl2pPr marL="996950" indent="-254000"/>
            <a:lvl3pPr marL="1346200" indent="-254000"/>
            <a:lvl4pPr marL="1695450" indent="-254000"/>
            <a:lvl5pPr marL="2044700" indent="-254000"/>
            <a:lvl6pPr marL="2393950" indent="-254000"/>
            <a:lvl7pPr marL="2743200" indent="-254000"/>
            <a:lvl8pPr marL="3092450" indent="-254000"/>
            <a:lvl9pPr marL="3441700" indent="-254000"/>
          </a:lstStyle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  <a:defRPr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处理程序之所以棘手，是因为它们与主程序并发执行，并共享相同的全局数据结构。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共享数据结构可能被破坏。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marL="74295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本学期后面我们会探讨并发问题。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marL="45720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现在先给出一些帮助你避免麻烦的准则。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228600"/>
          </a:xfrm>
          <a:prstGeom prst="roundRect">
            <a:avLst>
              <a:gd name="adj" fmla="val 0"/>
            </a:avLst>
          </a:prstGeom>
          <a:solidFill>
            <a:srgbClr val="99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97813" y="-26988"/>
            <a:ext cx="1309687" cy="277813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Carnegie Mellon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6031" y="6629400"/>
            <a:ext cx="4649342" cy="246221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57018" y="304800"/>
            <a:ext cx="7592093" cy="762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119126" indent="-119126">
              <a:lnSpc>
                <a:spcPct val="100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编写安全处理程序的准则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96875" y="1219200"/>
            <a:ext cx="8442325" cy="5267325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>
            <a:lvl1pPr marL="647700" indent="-304800"/>
            <a:lvl2pPr marL="996950" indent="-254000"/>
            <a:lvl3pPr marL="1346200" indent="-254000"/>
            <a:lvl4pPr marL="1695450" indent="-254000"/>
            <a:lvl5pPr marL="2044700" indent="-254000"/>
            <a:lvl6pPr marL="2393950" indent="-254000"/>
            <a:lvl7pPr marL="2743200" indent="-254000"/>
            <a:lvl8pPr marL="3092450" indent="-254000"/>
            <a:lvl9pPr marL="3441700" indent="-254000"/>
          </a:lstStyle>
          <a:p>
            <a:pPr algn="l" indent="-342900" marL="342900">
              <a:lnSpc>
                <a:spcPct val="91666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  <a:defRPr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G0：让处理程序尽可能简单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lvl="1" indent="-285750" marL="742950">
              <a:lnSpc>
                <a:spcPct val="91666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例如，设置一个全局标志然后返回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-342900" marL="342900">
              <a:lnSpc>
                <a:spcPct val="91666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G1：在处理程序中只调用异步信号安全函数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indent="-285750" marL="742950">
              <a:lnSpc>
                <a:spcPct val="91666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printf、sprintf、malloc 和 exit 都是不安全的！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-342900" marL="342900">
              <a:lnSpc>
                <a:spcPct val="91666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G2：进入和退出时保存并恢复 errno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indent="-285750" marL="742950">
              <a:lnSpc>
                <a:spcPct val="91666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以免其他处理程序覆盖你的 errno 值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-342900" marL="342900">
              <a:lnSpc>
                <a:spcPct val="91666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G3：通过临时阻塞所有信号来保护对共享数据结构的访问。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indent="-285750" marL="742950">
              <a:lnSpc>
                <a:spcPct val="91666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以防止可能的破坏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-342900" marL="342900">
              <a:lnSpc>
                <a:spcPct val="91666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G4：将全局变量声明为 volatile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indent="-285750" marL="742950">
              <a:lnSpc>
                <a:spcPct val="91666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防止编译器把它们存到寄存器中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-342900" marL="342900">
              <a:lnSpc>
                <a:spcPct val="91666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G5：将全局标志声明为 volatile sig_atomic_t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indent="-285750" marL="742950">
              <a:lnSpc>
                <a:spcPct val="91666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flag：只被读取或写入的变量（例如 flag = 1，而不是 flag++）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indent="-285750" marL="742950">
              <a:lnSpc>
                <a:spcPct val="91666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这样声明的标志不需要像其他全局变量那样被保护</a:t>
            </a:r>
          </a:p>
        </p:txBody>
      </p:sp>
    </p:spTree>
  </p:cSld>
  <p:clrMapOvr>
    <a:masterClrMapping/>
  </p:clrMapOvr>
  <p:timing>
    <p:tnLst>
      <p:par>
        <p:cTn id="1" nodeType="tmRoot" restart="never" dur="indefinite">
          <p:childTnLst>
            <p:seq concurrent="true" nextAc="seek">
              <p:cTn nodeType="mainSeq" dur="indefinite" id="2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7" nodeType="with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childTnLst>
                        <p:par>
                          <p:cTn id="10" fill="hold">
                            <p:childTnLst>
                              <p:par>
                                <p:cTn fill="hold" id="11" nodeType="click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13" nodeType="with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childTnLst>
                        <p:par>
                          <p:cTn id="16" fill="hold">
                            <p:childTnLst>
                              <p:par>
                                <p:cTn fill="hold" id="17" nodeType="click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19" nodeType="with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childTnLst>
                        <p:par>
                          <p:cTn id="22" fill="hold">
                            <p:childTnLst>
                              <p:par>
                                <p:cTn fill="hold" id="23" nodeType="click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25" nodeType="with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childTnLst>
                        <p:par>
                          <p:cTn id="28" fill="hold">
                            <p:childTnLst>
                              <p:par>
                                <p:cTn fill="hold" id="29" nodeType="click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31" nodeType="with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33" nodeType="with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228600"/>
          </a:xfrm>
          <a:prstGeom prst="roundRect">
            <a:avLst>
              <a:gd name="adj" fmla="val 0"/>
            </a:avLst>
          </a:prstGeom>
          <a:solidFill>
            <a:srgbClr val="99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97813" y="-26988"/>
            <a:ext cx="1309687" cy="277813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Carnegie Mellon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6031" y="6629400"/>
            <a:ext cx="4649342" cy="246221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57018" y="435678"/>
            <a:ext cx="7592093" cy="762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119126" indent="-119126">
              <a:lnSpc>
                <a:spcPct val="100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异步信号安全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96875" y="1362075"/>
            <a:ext cx="8670925" cy="3743325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>
            <a:lvl1pPr marL="647700" indent="-304800"/>
            <a:lvl2pPr marL="996950" indent="-254000"/>
            <a:lvl3pPr marL="1397000" indent="-254000"/>
            <a:lvl4pPr marL="1797050" indent="-254000"/>
            <a:lvl5pPr marL="2197100" indent="-254000"/>
            <a:lvl6pPr marL="2597150" indent="-254000"/>
            <a:lvl7pPr marL="2997200" indent="-254000"/>
            <a:lvl8pPr marL="3397250" indent="-254000"/>
            <a:lvl9pPr marL="3797300" indent="-254000"/>
          </a:lstStyle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  <a:defRPr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如果一个函数是可重入的（例如所有变量都存储在栈帧上，CS:APP3e 12.7.2）或不会被信号中断，那么它就是异步信号安全的。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POSIX 保证 117 个函数是异步信号安全的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来源：“man 7 signal”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列表中的常用函数：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2" indent="-228600" marL="11430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8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_exit, write, wait, waitpid, sleep, kill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不在列表中的常用函数：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2" indent="-228600" marL="11430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8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printf, sprintf, malloc, exit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2" indent="-228600" marL="11430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8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不幸的事实：write 是唯一异步信号安全的输出函数</a:t>
            </a:r>
          </a:p>
        </p:txBody>
      </p:sp>
    </p:spTree>
  </p:cSld>
  <p:clrMapOvr>
    <a:masterClrMapping/>
  </p:clrMapOvr>
  <p:timing>
    <p:tnLst>
      <p:par>
        <p:cTn id="1" nodeType="tmRoot" restart="never" dur="indefinite">
          <p:childTnLst>
            <p:seq concurrent="true" nextAc="seek">
              <p:cTn nodeType="mainSeq" dur="indefinite" id="2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7" nodeType="with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9" nodeType="with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11" nodeType="with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13" nodeType="with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15" nodeType="with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17" nodeType="with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228600"/>
          </a:xfrm>
          <a:prstGeom prst="roundRect">
            <a:avLst>
              <a:gd name="adj" fmla="val 0"/>
            </a:avLst>
          </a:prstGeom>
          <a:solidFill>
            <a:srgbClr val="99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97813" y="-26988"/>
            <a:ext cx="1309687" cy="277813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Carnegie Mellon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6031" y="6629400"/>
            <a:ext cx="4649342" cy="246221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57018" y="435678"/>
            <a:ext cx="8177382" cy="762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119126" indent="-119126">
              <a:lnSpc>
                <a:spcPct val="100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安全地生成格式化输出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96875" y="1143000"/>
            <a:ext cx="8345006" cy="20574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>
            <a:lvl1pPr marL="647700" indent="-304800"/>
            <a:lvl2pPr marL="996950" indent="-254000"/>
            <a:lvl3pPr marL="1346200" indent="-254000"/>
            <a:lvl4pPr marL="1695450" indent="-254000"/>
            <a:lvl5pPr marL="2044700" indent="-254000"/>
            <a:lvl6pPr marL="2393950" indent="-254000"/>
            <a:lvl7pPr marL="2743200" indent="-254000"/>
            <a:lvl8pPr marL="3092450" indent="-254000"/>
            <a:lvl9pPr marL="3441700" indent="-254000"/>
          </a:lstStyle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  <a:defRPr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在处理程序中使用来自 csapp.c 的可重入 SIO（安全 I/O 库）。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ssize_t sio_puts(char s[]) /* 输出字符串 */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ssize_t sio_putl(long v) /* 输出 long */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void sio_error(char s[]) /* 输出消息并退出 */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75119" y="3581400"/>
            <a:ext cx="8466761" cy="2819400"/>
          </a:xfrm>
          <a:prstGeom prst="rect">
            <a:avLst/>
          </a:prstGeom>
          <a:solidFill>
            <a:srgbClr val="F6F5BD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void</a:t>
            </a:r>
            <a:r>
              <a:rPr lang="en-US" b="true" i="false" strike="noStrike" u="none" sz="18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800">
                <a:solidFill>
                  <a:srgbClr val="4A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sigint_handler</a:t>
            </a:r>
            <a:r>
              <a:rPr lang="en-US" b="true" i="false" strike="noStrike" u="none" sz="18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(</a:t>
            </a:r>
            <a:r>
              <a:rPr lang="en-US" b="true" i="false" strike="noStrike" u="none" sz="18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int</a:t>
            </a:r>
            <a:r>
              <a:rPr lang="en-US" b="true" i="false" strike="noStrike" u="none" sz="18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800">
                <a:solidFill>
                  <a:srgbClr val="C1651C"/>
                </a:solidFill>
                <a:latin typeface="Menlo-Regular"/>
                <a:ea typeface="Menlo-Regular"/>
                <a:cs typeface="Menlo-Regular"/>
                <a:sym typeface="Menlo-Regular"/>
              </a:rPr>
              <a:t>sig</a:t>
            </a:r>
            <a:r>
              <a:rPr lang="en-US" b="true" i="false" strike="noStrike" u="none" sz="18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) </a:t>
            </a:r>
            <a:r>
              <a:rPr lang="en-US" b="true" i="false" strike="noStrike" u="none" sz="1800">
                <a:solidFill>
                  <a:srgbClr val="CB2418"/>
                </a:solidFill>
                <a:latin typeface="Menlo-Regular"/>
                <a:ea typeface="Menlo-Regular"/>
                <a:cs typeface="Menlo-Regular"/>
                <a:sym typeface="Menlo-Regular"/>
              </a:rPr>
              <a:t>/* 安全的 SIGINT 处理程序 */</a:t>
            </a:r>
            <a:r>
              <a:rPr lang="en-US" b="true" i="false" strike="noStrike" u="none" sz="18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  <a:endParaRPr lang="en-US" sz="1100"/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8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{</a:t>
            </a:r>
            <a:r>
              <a:rPr lang="en-US" b="true" i="false" strike="noStrike" u="none" sz="18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8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Sio_puts(</a:t>
            </a:r>
            <a:r>
              <a:rPr lang="en-US" b="true" i="false" strike="noStrike" u="none" sz="1800">
                <a:solidFill>
                  <a:srgbClr val="9D206F"/>
                </a:solidFill>
                <a:latin typeface="Menlo-Regular"/>
                <a:ea typeface="Menlo-Regular"/>
                <a:cs typeface="Menlo-Regular"/>
                <a:sym typeface="Menlo-Regular"/>
              </a:rPr>
              <a:t>"你以为用 ctrl-c 就能停掉炸弹吗？\n"</a:t>
            </a:r>
            <a:r>
              <a:rPr lang="en-US" b="true" i="false" strike="noStrike" u="none" sz="18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);</a:t>
            </a:r>
            <a:r>
              <a:rPr lang="en-US" b="true" i="false" strike="noStrike" u="none" sz="18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8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sleep(2);</a:t>
            </a:r>
            <a:r>
              <a:rPr lang="en-US" b="true" i="false" strike="noStrike" u="none" sz="18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8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Sio_puts(</a:t>
            </a:r>
            <a:r>
              <a:rPr lang="en-US" b="true" i="false" strike="noStrike" u="none" sz="1800">
                <a:solidFill>
                  <a:srgbClr val="9D206F"/>
                </a:solidFill>
                <a:latin typeface="Menlo-Regular"/>
                <a:ea typeface="Menlo-Regular"/>
                <a:cs typeface="Menlo-Regular"/>
                <a:sym typeface="Menlo-Regular"/>
              </a:rPr>
              <a:t>"好吧..."</a:t>
            </a:r>
            <a:r>
              <a:rPr lang="en-US" b="true" i="false" strike="noStrike" u="none" sz="18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);</a:t>
            </a:r>
            <a:r>
              <a:rPr lang="en-US" b="true" i="false" strike="noStrike" u="none" sz="18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8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sleep(1);</a:t>
            </a:r>
            <a:r>
              <a:rPr lang="en-US" b="true" i="false" strike="noStrike" u="none" sz="18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8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Sio_puts(</a:t>
            </a:r>
            <a:r>
              <a:rPr lang="en-US" b="true" i="false" strike="noStrike" u="none" sz="1800">
                <a:solidFill>
                  <a:srgbClr val="9D206F"/>
                </a:solidFill>
                <a:latin typeface="Menlo-Regular"/>
                <a:ea typeface="Menlo-Regular"/>
                <a:cs typeface="Menlo-Regular"/>
                <a:sym typeface="Menlo-Regular"/>
              </a:rPr>
              <a:t>"好的。:-)\n"</a:t>
            </a:r>
            <a:r>
              <a:rPr lang="en-US" b="true" i="false" strike="noStrike" u="none" sz="18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);</a:t>
            </a:r>
            <a:r>
              <a:rPr lang="en-US" b="true" i="false" strike="noStrike" u="none" sz="18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8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_exit(0);</a:t>
            </a:r>
            <a:r>
              <a:rPr lang="en-US" b="true" i="false" strike="noStrike" u="none" sz="18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8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}</a:t>
            </a:r>
            <a:r>
              <a:rPr lang="en-US" b="true" i="false" strike="noStrike" u="none" sz="18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defTabSz="914400">
              <a:lnSpc>
                <a:spcPct val="100000"/>
              </a:lnSpc>
            </a:pP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506000" y="6031468"/>
            <a:ext cx="1257000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sigintsafe.c</a:t>
            </a:r>
            <a:endParaRPr lang="en-US" sz="1100"/>
          </a:p>
        </p:txBody>
      </p:sp>
    </p:spTree>
  </p:cSld>
  <p:clrMapOvr>
    <a:masterClrMapping/>
  </p:clrMapOvr>
  <p:timing>
    <p:tnLst>
      <p:par>
        <p:cTn id="1" nodeType="tmRoot" restart="never" dur="indefinite">
          <p:childTnLst>
            <p:seq concurrent="true" nextAc="seek">
              <p:cTn nodeType="mainSeq" dur="indefinite" id="2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7" nodeType="with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228600"/>
          </a:xfrm>
          <a:prstGeom prst="roundRect">
            <a:avLst>
              <a:gd name="adj" fmla="val 0"/>
            </a:avLst>
          </a:prstGeom>
          <a:solidFill>
            <a:srgbClr val="99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97813" y="-26988"/>
            <a:ext cx="1309687" cy="277813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Carnegie Mellon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6031" y="6629400"/>
            <a:ext cx="4649342" cy="246221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172200" y="1113504"/>
            <a:ext cx="2971800" cy="3763296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>
            <a:lvl1pPr marL="509651" indent="-279400"/>
            <a:lvl2pPr marL="630301" indent="-228600"/>
            <a:lvl3pPr marL="750951" indent="-228600"/>
            <a:lvl4pPr marL="871601" indent="-228600"/>
            <a:lvl5pPr marL="992251" indent="-228600"/>
            <a:lvl6pPr marL="1112901" indent="-228600"/>
            <a:lvl7pPr marL="1233551" indent="-228600"/>
            <a:lvl8pPr marL="1354201" indent="-228600"/>
            <a:lvl9pPr marL="1474851" indent="-228600"/>
          </a:lstStyle>
          <a:p>
            <a:pPr algn="l" indent="-230251" marL="230251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  <a:defRPr/>
            </a:pPr>
            <a:r>
              <a:rPr lang="en-US" b="true" i="false" strike="noStrike" u="none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待处理信号不会排队</a:t>
            </a:r>
            <a:r>
              <a:rPr lang="en-US" b="true" i="false" strike="noStrike" u="none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lvl="1" indent="-171450" marL="401701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对于每种信号类型，一个位表示信号是否待处理…</a:t>
            </a:r>
            <a:r>
              <a:rPr lang="en-US" b="true" i="false" strike="noStrike" u="none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indent="-171450" marL="401701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…因此任何特定类型的待处理信号最多只有一个。</a:t>
            </a:r>
            <a:r>
              <a:rPr lang="en-US" b="true" i="false" strike="noStrike" u="none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-171450" marL="1651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</a:pPr>
            <a:r>
              <a:rPr lang="en-US" b="true" i="false" strike="noStrike" u="none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你不能用信号来计数事件，比如子进程终止。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3500" y="522513"/>
            <a:ext cx="5867400" cy="6259287"/>
          </a:xfrm>
          <a:prstGeom prst="rect">
            <a:avLst/>
          </a:prstGeom>
          <a:solidFill>
            <a:srgbClr val="F6F5BD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int</a:t>
            </a: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400">
                <a:solidFill>
                  <a:srgbClr val="C1651C"/>
                </a:solidFill>
                <a:latin typeface="Menlo-Regular"/>
                <a:ea typeface="Menlo-Regular"/>
                <a:cs typeface="Menlo-Regular"/>
                <a:sym typeface="Menlo-Regular"/>
              </a:rPr>
              <a:t>ccount</a:t>
            </a: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= 0;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  <a:endParaRPr lang="en-US" sz="1100"/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void</a:t>
            </a: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400">
                <a:solidFill>
                  <a:srgbClr val="4A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child_handler</a:t>
            </a: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(</a:t>
            </a:r>
            <a:r>
              <a:rPr lang="en-US" b="true" i="false" strike="noStrike" u="none" sz="14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int</a:t>
            </a: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400">
                <a:solidFill>
                  <a:srgbClr val="C1651C"/>
                </a:solidFill>
                <a:latin typeface="Menlo-Regular"/>
                <a:ea typeface="Menlo-Regular"/>
                <a:cs typeface="Menlo-Regular"/>
                <a:sym typeface="Menlo-Regular"/>
              </a:rPr>
              <a:t>sig</a:t>
            </a: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) {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int</a:t>
            </a: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400">
                <a:solidFill>
                  <a:srgbClr val="C1651C"/>
                </a:solidFill>
                <a:latin typeface="Menlo-Regular"/>
                <a:ea typeface="Menlo-Regular"/>
                <a:cs typeface="Menlo-Regular"/>
                <a:sym typeface="Menlo-Regular"/>
              </a:rPr>
              <a:t>olderrno</a:t>
            </a: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= errno;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pid_t</a:t>
            </a: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400">
                <a:solidFill>
                  <a:srgbClr val="C1651C"/>
                </a:solidFill>
                <a:latin typeface="Menlo-Regular"/>
                <a:ea typeface="Menlo-Regular"/>
                <a:cs typeface="Menlo-Regular"/>
                <a:sym typeface="Menlo-Regular"/>
              </a:rPr>
              <a:t>pid</a:t>
            </a: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;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C2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if</a:t>
            </a: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((pid = wait(</a:t>
            </a:r>
            <a:r>
              <a:rPr lang="en-US" b="true" i="false" strike="noStrike" u="none" sz="1400">
                <a:solidFill>
                  <a:srgbClr val="2C9290"/>
                </a:solidFill>
                <a:latin typeface="Menlo-Regular"/>
                <a:ea typeface="Menlo-Regular"/>
                <a:cs typeface="Menlo-Regular"/>
                <a:sym typeface="Menlo-Regular"/>
              </a:rPr>
              <a:t>NULL</a:t>
            </a: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)) &lt; 0)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Sio_error(</a:t>
            </a:r>
            <a:r>
              <a:rPr lang="en-US" b="true" i="false" strike="noStrike" u="none" sz="1400">
                <a:solidFill>
                  <a:srgbClr val="9D206F"/>
                </a:solidFill>
                <a:latin typeface="Menlo-Regular"/>
                <a:ea typeface="Menlo-Regular"/>
                <a:cs typeface="Menlo-Regular"/>
                <a:sym typeface="Menlo-Regular"/>
              </a:rPr>
              <a:t>"wait 错误"</a:t>
            </a: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);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ccount--;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Sio_puts(</a:t>
            </a:r>
            <a:r>
              <a:rPr lang="en-US" b="true" i="false" strike="noStrike" u="none" sz="1400">
                <a:solidFill>
                  <a:srgbClr val="9D206F"/>
                </a:solidFill>
                <a:latin typeface="Menlo-Regular"/>
                <a:ea typeface="Menlo-Regular"/>
                <a:cs typeface="Menlo-Regular"/>
                <a:sym typeface="Menlo-Regular"/>
              </a:rPr>
              <a:t>"处理程序回收了子进程 "</a:t>
            </a: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);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Sio_putl((</a:t>
            </a:r>
            <a:r>
              <a:rPr lang="en-US" b="true" i="false" strike="noStrike" u="none" sz="14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long</a:t>
            </a: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)pid);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Sio_puts(</a:t>
            </a:r>
            <a:r>
              <a:rPr lang="en-US" b="true" i="false" strike="noStrike" u="none" sz="1400">
                <a:solidFill>
                  <a:srgbClr val="9D206F"/>
                </a:solidFill>
                <a:latin typeface="Menlo-Regular"/>
                <a:ea typeface="Menlo-Regular"/>
                <a:cs typeface="Menlo-Regular"/>
                <a:sym typeface="Menlo-Regular"/>
              </a:rPr>
              <a:t>" \n"</a:t>
            </a: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);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sleep(1);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errno = olderrno;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}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void</a:t>
            </a: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400">
                <a:solidFill>
                  <a:srgbClr val="4A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fork14</a:t>
            </a: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() {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pid_t</a:t>
            </a: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400">
                <a:solidFill>
                  <a:srgbClr val="C1651C"/>
                </a:solidFill>
                <a:latin typeface="Menlo-Regular"/>
                <a:ea typeface="Menlo-Regular"/>
                <a:cs typeface="Menlo-Regular"/>
                <a:sym typeface="Menlo-Regular"/>
              </a:rPr>
              <a:t>pid</a:t>
            </a: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[N];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int</a:t>
            </a: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400">
                <a:solidFill>
                  <a:srgbClr val="C1651C"/>
                </a:solidFill>
                <a:latin typeface="Menlo-Regular"/>
                <a:ea typeface="Menlo-Regular"/>
                <a:cs typeface="Menlo-Regular"/>
                <a:sym typeface="Menlo-Regular"/>
              </a:rPr>
              <a:t>i</a:t>
            </a: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;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ccount = N;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Signal(SIGCHLD, child_handler);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C2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for</a:t>
            </a: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(i = 0; i &lt; N; i++) {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C2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if</a:t>
            </a: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((pid[i] = Fork()) == 0) {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Sleep(1);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exit(0); </a:t>
            </a:r>
            <a:r>
              <a:rPr lang="en-US" b="true" i="false" strike="noStrike" u="none" sz="1400">
                <a:solidFill>
                  <a:srgbClr val="CB2418"/>
                </a:solidFill>
                <a:latin typeface="Menlo-Regular"/>
                <a:ea typeface="Menlo-Regular"/>
                <a:cs typeface="Menlo-Regular"/>
                <a:sym typeface="Menlo-Regular"/>
              </a:rPr>
              <a:t>/* 子进程退出 */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}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}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C2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while</a:t>
            </a: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(ccount &gt; 0) </a:t>
            </a:r>
            <a:r>
              <a:rPr lang="en-US" b="true" i="false" strike="noStrike" u="none" sz="1400">
                <a:solidFill>
                  <a:srgbClr val="CB2418"/>
                </a:solidFill>
                <a:latin typeface="Menlo-Regular"/>
                <a:ea typeface="Menlo-Regular"/>
                <a:cs typeface="Menlo-Regular"/>
                <a:sym typeface="Menlo-Regular"/>
              </a:rPr>
              <a:t>/* Parent spins */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;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}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118622" y="6412468"/>
            <a:ext cx="824978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forks.c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876800" y="5257800"/>
            <a:ext cx="3581400" cy="830997"/>
          </a:xfrm>
          <a:prstGeom prst="rect">
            <a:avLst/>
          </a:prstGeom>
          <a:solidFill>
            <a:srgbClr val="E0E0E0">
              <a:alpha val="100000"/>
            </a:srgbClr>
          </a:solidFill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913A8"/>
                </a:solidFill>
                <a:latin typeface="Menlo-Regular"/>
                <a:ea typeface="Menlo-Regular"/>
                <a:cs typeface="Menlo-Regular"/>
                <a:sym typeface="Menlo-Regular"/>
              </a:rPr>
              <a:t>whaleshark&gt; ./forks 14</a:t>
            </a:r>
            <a:r>
              <a:rPr lang="en-US" b="fals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  <a:endParaRPr lang="en-US" sz="1100"/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处理程序回收了子进程 23240</a:t>
            </a:r>
            <a:r>
              <a:rPr lang="en-US" b="fals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处理程序回收了子进程 23241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19600" y="417512"/>
            <a:ext cx="4648200" cy="573088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119126" indent="-119126">
              <a:lnSpc>
                <a:spcPct val="100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正确的信号处理</a:t>
            </a:r>
            <a:endParaRPr lang="en-US" sz="1100"/>
          </a:p>
        </p:txBody>
      </p:sp>
    </p:spTree>
  </p:cSld>
  <p:clrMapOvr>
    <a:masterClrMapping/>
  </p:clrMapOvr>
  <p:timing>
    <p:tnLst>
      <p:par>
        <p:cTn id="1" nodeType="tmRoot" restart="never" dur="indefinite">
          <p:childTnLst>
            <p:seq concurrent="true" nextAc="seek">
              <p:cTn nodeType="mainSeq" dur="indefinite" id="2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childTnLst>
                        <p:par>
                          <p:cTn id="8" fill="hold">
                            <p:childTnLst>
                              <p:par>
                                <p:cTn fill="hold" id="9" nodeType="click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11" nodeType="with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13" nodeType="with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15" nodeType="with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228600"/>
          </a:xfrm>
          <a:prstGeom prst="roundRect">
            <a:avLst>
              <a:gd name="adj" fmla="val 0"/>
            </a:avLst>
          </a:prstGeom>
          <a:solidFill>
            <a:srgbClr val="99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97813" y="-26988"/>
            <a:ext cx="1309687" cy="277813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Carnegie Mellon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6031" y="6629400"/>
            <a:ext cx="4649342" cy="246221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457200" y="457200"/>
            <a:ext cx="8407400" cy="573088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119126" indent="-119126">
              <a:lnSpc>
                <a:spcPct val="100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正确的信号处理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80796" y="1295400"/>
            <a:ext cx="8382000" cy="12192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>
            <a:lvl1pPr marL="647700" indent="-304800"/>
            <a:lvl2pPr marL="996950" indent="-254000"/>
            <a:lvl3pPr marL="1346200" indent="-254000"/>
            <a:lvl4pPr marL="1695450" indent="-254000"/>
            <a:lvl5pPr marL="2044700" indent="-254000"/>
            <a:lvl6pPr marL="2393950" indent="-254000"/>
            <a:lvl7pPr marL="2743200" indent="-254000"/>
            <a:lvl8pPr marL="3092450" indent="-254000"/>
            <a:lvl9pPr marL="3441700" indent="-254000"/>
          </a:lstStyle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  <a:defRPr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必须等待所有已终止的子进程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把 wait 放进循环中，回收所有已终止的子进程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57200" y="2260600"/>
            <a:ext cx="8263467" cy="3124200"/>
          </a:xfrm>
          <a:prstGeom prst="rect">
            <a:avLst/>
          </a:prstGeom>
          <a:solidFill>
            <a:srgbClr val="F6F5BD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83333"/>
              </a:lnSpc>
              <a:defRPr/>
            </a:pPr>
            <a:r>
              <a:rPr lang="en-US" b="true" i="false" strike="noStrike" u="none" sz="1664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void</a:t>
            </a:r>
            <a:r>
              <a:rPr lang="en-US" b="true" i="false" strike="noStrike" u="none" sz="1664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664">
                <a:solidFill>
                  <a:srgbClr val="4A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child_handler2</a:t>
            </a:r>
            <a:r>
              <a:rPr lang="en-US" b="true" i="false" strike="noStrike" u="none" sz="1664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(</a:t>
            </a:r>
            <a:r>
              <a:rPr lang="en-US" b="true" i="false" strike="noStrike" u="none" sz="1664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int</a:t>
            </a:r>
            <a:r>
              <a:rPr lang="en-US" b="true" i="false" strike="noStrike" u="none" sz="1664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664">
                <a:solidFill>
                  <a:srgbClr val="C1651C"/>
                </a:solidFill>
                <a:latin typeface="Menlo-Regular"/>
                <a:ea typeface="Menlo-Regular"/>
                <a:cs typeface="Menlo-Regular"/>
                <a:sym typeface="Menlo-Regular"/>
              </a:rPr>
              <a:t>sig</a:t>
            </a:r>
            <a:r>
              <a:rPr lang="en-US" b="true" i="false" strike="noStrike" u="none" sz="1664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)</a:t>
            </a:r>
            <a:r>
              <a:rPr lang="en-US" b="true" i="false" strike="noStrike" u="none" sz="1664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  <a:endParaRPr lang="en-US" sz="1100"/>
          </a:p>
          <a:p>
            <a:pPr algn="l" marL="0" indent="0" defTabSz="914400">
              <a:lnSpc>
                <a:spcPct val="83333"/>
              </a:lnSpc>
            </a:pPr>
            <a:r>
              <a:rPr lang="en-US" b="true" i="false" strike="noStrike" u="none" sz="1664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{</a:t>
            </a:r>
            <a:r>
              <a:rPr lang="en-US" b="true" i="false" strike="noStrike" u="none" sz="1664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83333"/>
              </a:lnSpc>
            </a:pPr>
            <a:r>
              <a:rPr lang="en-US" b="true" i="false" strike="noStrike" u="none" sz="1664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int</a:t>
            </a:r>
            <a:r>
              <a:rPr lang="en-US" b="true" i="false" strike="noStrike" u="none" sz="1664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664">
                <a:solidFill>
                  <a:srgbClr val="C1651C"/>
                </a:solidFill>
                <a:latin typeface="Menlo-Regular"/>
                <a:ea typeface="Menlo-Regular"/>
                <a:cs typeface="Menlo-Regular"/>
                <a:sym typeface="Menlo-Regular"/>
              </a:rPr>
              <a:t>olderrno</a:t>
            </a:r>
            <a:r>
              <a:rPr lang="en-US" b="true" i="false" strike="noStrike" u="none" sz="1664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= errno;</a:t>
            </a:r>
            <a:r>
              <a:rPr lang="en-US" b="true" i="false" strike="noStrike" u="none" sz="1664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83333"/>
              </a:lnSpc>
            </a:pPr>
            <a:r>
              <a:rPr lang="en-US" b="true" i="false" strike="noStrike" u="none" sz="1664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pid_t</a:t>
            </a:r>
            <a:r>
              <a:rPr lang="en-US" b="true" i="false" strike="noStrike" u="none" sz="1664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664">
                <a:solidFill>
                  <a:srgbClr val="C1651C"/>
                </a:solidFill>
                <a:latin typeface="Menlo-Regular"/>
                <a:ea typeface="Menlo-Regular"/>
                <a:cs typeface="Menlo-Regular"/>
                <a:sym typeface="Menlo-Regular"/>
              </a:rPr>
              <a:t>pid</a:t>
            </a:r>
            <a:r>
              <a:rPr lang="en-US" b="true" i="false" strike="noStrike" u="none" sz="1664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;</a:t>
            </a:r>
            <a:r>
              <a:rPr lang="en-US" b="true" i="false" strike="noStrike" u="none" sz="1664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83333"/>
              </a:lnSpc>
            </a:pPr>
            <a:r>
              <a:rPr lang="en-US" b="true" i="false" strike="noStrike" u="none" sz="1664">
                <a:solidFill>
                  <a:srgbClr val="C2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while</a:t>
            </a:r>
            <a:r>
              <a:rPr lang="en-US" b="true" i="false" strike="noStrike" u="none" sz="1664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((pid = wait(</a:t>
            </a:r>
            <a:r>
              <a:rPr lang="en-US" b="true" i="false" strike="noStrike" u="none" sz="1664">
                <a:solidFill>
                  <a:srgbClr val="2C9290"/>
                </a:solidFill>
                <a:latin typeface="Menlo-Regular"/>
                <a:ea typeface="Menlo-Regular"/>
                <a:cs typeface="Menlo-Regular"/>
                <a:sym typeface="Menlo-Regular"/>
              </a:rPr>
              <a:t>NULL</a:t>
            </a:r>
            <a:r>
              <a:rPr lang="en-US" b="true" i="false" strike="noStrike" u="none" sz="1664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)) &gt; 0) {</a:t>
            </a:r>
            <a:r>
              <a:rPr lang="en-US" b="true" i="false" strike="noStrike" u="none" sz="1664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83333"/>
              </a:lnSpc>
            </a:pPr>
            <a:r>
              <a:rPr lang="en-US" b="true" i="false" strike="noStrike" u="none" sz="1664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ccount--;</a:t>
            </a:r>
            <a:r>
              <a:rPr lang="en-US" b="true" i="false" strike="noStrike" u="none" sz="1664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83333"/>
              </a:lnSpc>
            </a:pPr>
            <a:r>
              <a:rPr lang="en-US" b="true" i="false" strike="noStrike" u="none" sz="1664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Sio_puts(</a:t>
            </a:r>
            <a:r>
              <a:rPr lang="en-US" b="true" i="false" strike="noStrike" u="none" sz="1664">
                <a:solidFill>
                  <a:srgbClr val="9D206F"/>
                </a:solidFill>
                <a:latin typeface="Menlo-Regular"/>
                <a:ea typeface="Menlo-Regular"/>
                <a:cs typeface="Menlo-Regular"/>
                <a:sym typeface="Menlo-Regular"/>
              </a:rPr>
              <a:t>"处理程序回收了子进程 "</a:t>
            </a:r>
            <a:r>
              <a:rPr lang="en-US" b="true" i="false" strike="noStrike" u="none" sz="1664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);</a:t>
            </a:r>
            <a:r>
              <a:rPr lang="en-US" b="true" i="false" strike="noStrike" u="none" sz="1664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83333"/>
              </a:lnSpc>
            </a:pPr>
            <a:r>
              <a:rPr lang="en-US" b="true" i="false" strike="noStrike" u="none" sz="1664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Sio_putl((</a:t>
            </a:r>
            <a:r>
              <a:rPr lang="en-US" b="true" i="false" strike="noStrike" u="none" sz="1664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long</a:t>
            </a:r>
            <a:r>
              <a:rPr lang="en-US" b="true" i="false" strike="noStrike" u="none" sz="1664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)pid);</a:t>
            </a:r>
            <a:r>
              <a:rPr lang="en-US" b="true" i="false" strike="noStrike" u="none" sz="1664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83333"/>
              </a:lnSpc>
            </a:pPr>
            <a:r>
              <a:rPr lang="en-US" b="true" i="false" strike="noStrike" u="none" sz="1664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Sio_puts(</a:t>
            </a:r>
            <a:r>
              <a:rPr lang="en-US" b="true" i="false" strike="noStrike" u="none" sz="1664">
                <a:solidFill>
                  <a:srgbClr val="9D206F"/>
                </a:solidFill>
                <a:latin typeface="Menlo-Regular"/>
                <a:ea typeface="Menlo-Regular"/>
                <a:cs typeface="Menlo-Regular"/>
                <a:sym typeface="Menlo-Regular"/>
              </a:rPr>
              <a:t>" \n"</a:t>
            </a:r>
            <a:r>
              <a:rPr lang="en-US" b="true" i="false" strike="noStrike" u="none" sz="1664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);</a:t>
            </a:r>
            <a:r>
              <a:rPr lang="en-US" b="true" i="false" strike="noStrike" u="none" sz="1664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83333"/>
              </a:lnSpc>
            </a:pPr>
            <a:r>
              <a:rPr lang="en-US" b="true" i="false" strike="noStrike" u="none" sz="1664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}</a:t>
            </a:r>
            <a:r>
              <a:rPr lang="en-US" b="true" i="false" strike="noStrike" u="none" sz="1664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83333"/>
              </a:lnSpc>
            </a:pPr>
            <a:r>
              <a:rPr lang="en-US" b="true" i="false" strike="noStrike" u="none" sz="1664">
                <a:solidFill>
                  <a:srgbClr val="C2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if</a:t>
            </a:r>
            <a:r>
              <a:rPr lang="en-US" b="true" i="false" strike="noStrike" u="none" sz="1664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(errno != ECHILD)</a:t>
            </a:r>
            <a:r>
              <a:rPr lang="en-US" b="true" i="false" strike="noStrike" u="none" sz="1664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83333"/>
              </a:lnSpc>
            </a:pPr>
            <a:r>
              <a:rPr lang="en-US" b="true" i="false" strike="noStrike" u="none" sz="1664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Sio_error(</a:t>
            </a:r>
            <a:r>
              <a:rPr lang="en-US" b="true" i="false" strike="noStrike" u="none" sz="1664">
                <a:solidFill>
                  <a:srgbClr val="9D206F"/>
                </a:solidFill>
                <a:latin typeface="Menlo-Regular"/>
                <a:ea typeface="Menlo-Regular"/>
                <a:cs typeface="Menlo-Regular"/>
                <a:sym typeface="Menlo-Regular"/>
              </a:rPr>
              <a:t>"wait 错误"</a:t>
            </a:r>
            <a:r>
              <a:rPr lang="en-US" b="true" i="false" strike="noStrike" u="none" sz="1664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);</a:t>
            </a:r>
            <a:r>
              <a:rPr lang="en-US" b="true" i="false" strike="noStrike" u="none" sz="1664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83333"/>
              </a:lnSpc>
            </a:pPr>
            <a:r>
              <a:rPr lang="en-US" b="true" i="false" strike="noStrike" u="none" sz="1664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errno = olderrno;</a:t>
            </a:r>
            <a:r>
              <a:rPr lang="en-US" b="true" i="false" strike="noStrike" u="none" sz="1664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83333"/>
              </a:lnSpc>
            </a:pPr>
            <a:r>
              <a:rPr lang="en-US" b="true" i="false" strike="noStrike" u="none" sz="1664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}</a:t>
            </a:r>
            <a:r>
              <a:rPr lang="en-US" b="true" i="false" strike="noStrike" u="none" sz="1664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defTabSz="914400">
              <a:lnSpc>
                <a:spcPct val="83333"/>
              </a:lnSpc>
            </a:pP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19600" y="4800600"/>
            <a:ext cx="4495800" cy="1815882"/>
          </a:xfrm>
          <a:prstGeom prst="roundRect">
            <a:avLst>
              <a:gd name="adj" fmla="val 0"/>
            </a:avLst>
          </a:prstGeom>
          <a:solidFill>
            <a:srgbClr val="E0E0E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913A8"/>
                </a:solidFill>
                <a:latin typeface="Menlo-Regular"/>
                <a:ea typeface="Menlo-Regular"/>
                <a:cs typeface="Menlo-Regular"/>
                <a:sym typeface="Menlo-Regular"/>
              </a:rPr>
              <a:t>whaleshark&gt; ./forks 15</a:t>
            </a:r>
            <a:r>
              <a:rPr lang="en-US" b="fals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  <a:endParaRPr lang="en-US" sz="1100"/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处理程序回收了子进程 23246</a:t>
            </a:r>
            <a:r>
              <a:rPr lang="en-US" b="fals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处理程序回收了子进程 23247</a:t>
            </a:r>
            <a:r>
              <a:rPr lang="en-US" b="fals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处理程序回收了子进程 23248</a:t>
            </a:r>
            <a:r>
              <a:rPr lang="en-US" b="fals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处理程序回收了子进程 23249</a:t>
            </a:r>
            <a:r>
              <a:rPr lang="en-US" b="fals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处理程序回收了子进程 23250</a:t>
            </a:r>
            <a:r>
              <a:rPr lang="en-US" b="fals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3913A8"/>
                </a:solidFill>
                <a:latin typeface="Menlo-Regular"/>
                <a:ea typeface="Menlo-Regular"/>
                <a:cs typeface="Menlo-Regular"/>
                <a:sym typeface="Menlo-Regular"/>
              </a:rPr>
              <a:t>whaleshark&gt;</a:t>
            </a:r>
          </a:p>
        </p:txBody>
      </p:sp>
    </p:spTree>
  </p:cSld>
  <p:clrMapOvr>
    <a:masterClrMapping/>
  </p:clrMapOvr>
  <p:timing>
    <p:tnLst>
      <p:par>
        <p:cTn id="1" nodeType="tmRoot" restart="never" dur="indefinite">
          <p:childTnLst>
            <p:seq concurrent="true" nextAc="seek">
              <p:cTn nodeType="mainSeq" dur="indefinite" id="2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228600"/>
          </a:xfrm>
          <a:prstGeom prst="roundRect">
            <a:avLst>
              <a:gd name="adj" fmla="val 0"/>
            </a:avLst>
          </a:prstGeom>
          <a:solidFill>
            <a:srgbClr val="99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97813" y="-26988"/>
            <a:ext cx="1309687" cy="277813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Carnegie Mellon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6031" y="6629400"/>
            <a:ext cx="4649342" cy="246221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81000" y="493712"/>
            <a:ext cx="8305800" cy="573088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119126" indent="-119126">
              <a:lnSpc>
                <a:spcPct val="100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可移植的信号处理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81000" y="1143000"/>
            <a:ext cx="8305800" cy="21336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>
            <a:lvl1pPr marL="647700" indent="-304800"/>
            <a:lvl2pPr marL="996950" indent="-254000"/>
            <a:lvl3pPr marL="1346200" indent="-254000"/>
            <a:lvl4pPr marL="1695450" indent="-254000"/>
            <a:lvl5pPr marL="2044700" indent="-254000"/>
            <a:lvl6pPr marL="2393950" indent="-254000"/>
            <a:lvl7pPr marL="2743200" indent="-254000"/>
            <a:lvl8pPr marL="3092450" indent="-254000"/>
            <a:lvl9pPr marL="3441700" indent="-254000"/>
          </a:lstStyle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  <a:defRPr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唉！不同版本的 Unix 可能有不同的信号处理语义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一些较旧的系统在捕获信号后将动作恢复为默认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一些被中断的系统调用可能以 errno == EINTR 返回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一些系统不会阻塞正在被处理的信号类型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解决方案：sigaction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39964" y="3734812"/>
            <a:ext cx="8523036" cy="2862322"/>
          </a:xfrm>
          <a:prstGeom prst="roundRect">
            <a:avLst>
              <a:gd name="adj" fmla="val 0"/>
            </a:avLst>
          </a:prstGeom>
          <a:solidFill>
            <a:srgbClr val="F6F5BD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handler_t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*</a:t>
            </a:r>
            <a:r>
              <a:rPr lang="en-US" b="true" i="false" strike="noStrike" u="none" sz="1500">
                <a:solidFill>
                  <a:srgbClr val="4A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Signal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(</a:t>
            </a:r>
            <a:r>
              <a:rPr lang="en-US" b="true" i="false" strike="noStrike" u="none" sz="15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int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500">
                <a:solidFill>
                  <a:srgbClr val="C1651C"/>
                </a:solidFill>
                <a:latin typeface="Menlo-Regular"/>
                <a:ea typeface="Menlo-Regular"/>
                <a:cs typeface="Menlo-Regular"/>
                <a:sym typeface="Menlo-Regular"/>
              </a:rPr>
              <a:t>signum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, </a:t>
            </a:r>
            <a:r>
              <a:rPr lang="en-US" b="true" i="false" strike="noStrike" u="none" sz="15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handler_t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*</a:t>
            </a:r>
            <a:r>
              <a:rPr lang="en-US" b="true" i="false" strike="noStrike" u="none" sz="1500">
                <a:solidFill>
                  <a:srgbClr val="C1651C"/>
                </a:solidFill>
                <a:latin typeface="Menlo-Regular"/>
                <a:ea typeface="Menlo-Regular"/>
                <a:cs typeface="Menlo-Regular"/>
                <a:sym typeface="Menlo-Regular"/>
              </a:rPr>
              <a:t>handler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)</a:t>
            </a: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  <a:endParaRPr lang="en-US" sz="1100"/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{</a:t>
            </a: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C2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struct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5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sigaction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500">
                <a:solidFill>
                  <a:srgbClr val="C1651C"/>
                </a:solidFill>
                <a:latin typeface="Menlo-Regular"/>
                <a:ea typeface="Menlo-Regular"/>
                <a:cs typeface="Menlo-Regular"/>
                <a:sym typeface="Menlo-Regular"/>
              </a:rPr>
              <a:t>action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, </a:t>
            </a:r>
            <a:r>
              <a:rPr lang="en-US" b="true" i="false" strike="noStrike" u="none" sz="1500">
                <a:solidFill>
                  <a:srgbClr val="C1651C"/>
                </a:solidFill>
                <a:latin typeface="Menlo-Regular"/>
                <a:ea typeface="Menlo-Regular"/>
                <a:cs typeface="Menlo-Regular"/>
                <a:sym typeface="Menlo-Regular"/>
              </a:rPr>
              <a:t>old_action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;</a:t>
            </a: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action.sa_handler = handler;</a:t>
            </a: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sigemptyset(&amp;action.sa_mask); </a:t>
            </a:r>
            <a:r>
              <a:rPr lang="en-US" b="true" i="false" strike="noStrike" u="none" sz="1500">
                <a:solidFill>
                  <a:srgbClr val="CB2418"/>
                </a:solidFill>
                <a:latin typeface="Menlo-Regular"/>
                <a:ea typeface="Menlo-Regular"/>
                <a:cs typeface="Menlo-Regular"/>
                <a:sym typeface="Menlo-Regular"/>
              </a:rPr>
              <a:t>/* 阻塞正在被处理的信号类型 */</a:t>
            </a: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action.sa_flags = SA_RESTART; </a:t>
            </a:r>
            <a:r>
              <a:rPr lang="en-US" b="true" i="false" strike="noStrike" u="none" sz="1500">
                <a:solidFill>
                  <a:srgbClr val="CB2418"/>
                </a:solidFill>
                <a:latin typeface="Menlo-Regular"/>
                <a:ea typeface="Menlo-Regular"/>
                <a:cs typeface="Menlo-Regular"/>
                <a:sym typeface="Menlo-Regular"/>
              </a:rPr>
              <a:t>/* 如果可能则重启系统调用 */</a:t>
            </a: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C2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if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(sigaction(signum, &amp;action, &amp;old_action) &lt; 0)</a:t>
            </a: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unix_error(</a:t>
            </a:r>
            <a:r>
              <a:rPr lang="en-US" b="true" i="false" strike="noStrike" u="none" sz="1500">
                <a:solidFill>
                  <a:srgbClr val="9D206F"/>
                </a:solidFill>
                <a:latin typeface="Menlo-Regular"/>
                <a:ea typeface="Menlo-Regular"/>
                <a:cs typeface="Menlo-Regular"/>
                <a:sym typeface="Menlo-Regular"/>
              </a:rPr>
              <a:t>"Signal 错误"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);</a:t>
            </a: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C2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return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(old_action.sa_handler);</a:t>
            </a: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}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869719" y="6240502"/>
            <a:ext cx="893281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csapp.c</a:t>
            </a:r>
            <a:endParaRPr lang="en-US" sz="1100"/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228600"/>
          </a:xfrm>
          <a:prstGeom prst="roundRect">
            <a:avLst>
              <a:gd name="adj" fmla="val 0"/>
            </a:avLst>
          </a:prstGeom>
          <a:solidFill>
            <a:srgbClr val="99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97813" y="-26988"/>
            <a:ext cx="1309687" cy="277813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Carnegie Mellon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6031" y="6629400"/>
            <a:ext cx="4649342" cy="246221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57018" y="435678"/>
            <a:ext cx="7592093" cy="762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119126" indent="-119126">
              <a:lnSpc>
                <a:spcPct val="100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同步流以避免竞态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96661" y="2011263"/>
            <a:ext cx="8337739" cy="4770537"/>
          </a:xfrm>
          <a:prstGeom prst="roundRect">
            <a:avLst>
              <a:gd name="adj" fmla="val 0"/>
            </a:avLst>
          </a:prstGeom>
          <a:solidFill>
            <a:srgbClr val="F6F5BD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int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600">
                <a:solidFill>
                  <a:srgbClr val="4A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main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(</a:t>
            </a:r>
            <a:r>
              <a:rPr lang="en-US" b="true" i="false" strike="noStrike" u="none" sz="16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int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600">
                <a:solidFill>
                  <a:srgbClr val="C1651C"/>
                </a:solidFill>
                <a:latin typeface="Menlo-Regular"/>
                <a:ea typeface="Menlo-Regular"/>
                <a:cs typeface="Menlo-Regular"/>
                <a:sym typeface="Menlo-Regular"/>
              </a:rPr>
              <a:t>argc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, </a:t>
            </a:r>
            <a:r>
              <a:rPr lang="en-US" b="true" i="false" strike="noStrike" u="none" sz="16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char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**</a:t>
            </a:r>
            <a:r>
              <a:rPr lang="en-US" b="true" i="false" strike="noStrike" u="none" sz="1600">
                <a:solidFill>
                  <a:srgbClr val="C1651C"/>
                </a:solidFill>
                <a:latin typeface="Menlo-Regular"/>
                <a:ea typeface="Menlo-Regular"/>
                <a:cs typeface="Menlo-Regular"/>
                <a:sym typeface="Menlo-Regular"/>
              </a:rPr>
              <a:t>argv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)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  <a:endParaRPr lang="en-US" sz="1100"/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{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int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600">
                <a:solidFill>
                  <a:srgbClr val="C1651C"/>
                </a:solidFill>
                <a:latin typeface="Menlo-Regular"/>
                <a:ea typeface="Menlo-Regular"/>
                <a:cs typeface="Menlo-Regular"/>
                <a:sym typeface="Menlo-Regular"/>
              </a:rPr>
              <a:t>pid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;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sigset_t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600">
                <a:solidFill>
                  <a:srgbClr val="C1651C"/>
                </a:solidFill>
                <a:latin typeface="Menlo-Regular"/>
                <a:ea typeface="Menlo-Regular"/>
                <a:cs typeface="Menlo-Regular"/>
                <a:sym typeface="Menlo-Regular"/>
              </a:rPr>
              <a:t>mask_all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, </a:t>
            </a:r>
            <a:r>
              <a:rPr lang="en-US" b="true" i="false" strike="noStrike" u="none" sz="1600">
                <a:solidFill>
                  <a:srgbClr val="C1651C"/>
                </a:solidFill>
                <a:latin typeface="Menlo-Regular"/>
                <a:ea typeface="Menlo-Regular"/>
                <a:cs typeface="Menlo-Regular"/>
                <a:sym typeface="Menlo-Regular"/>
              </a:rPr>
              <a:t>prev_all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;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Sigfillset(&amp;mask_all);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Signal(SIGCHLD, handler);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initjobs(); </a:t>
            </a:r>
            <a:r>
              <a:rPr lang="en-US" b="true" i="false" strike="noStrike" u="none" sz="1600">
                <a:solidFill>
                  <a:srgbClr val="CB2418"/>
                </a:solidFill>
                <a:latin typeface="Menlo-Regular"/>
                <a:ea typeface="Menlo-Regular"/>
                <a:cs typeface="Menlo-Regular"/>
                <a:sym typeface="Menlo-Regular"/>
              </a:rPr>
              <a:t>/* 初始化作业列表 */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C2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while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(1) {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C2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if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((pid = Fork()) == 0) { </a:t>
            </a:r>
            <a:r>
              <a:rPr lang="en-US" b="true" i="false" strike="noStrike" u="none" sz="1600">
                <a:solidFill>
                  <a:srgbClr val="CB2418"/>
                </a:solidFill>
                <a:latin typeface="Menlo-Regular"/>
                <a:ea typeface="Menlo-Regular"/>
                <a:cs typeface="Menlo-Regular"/>
                <a:sym typeface="Menlo-Regular"/>
              </a:rPr>
              <a:t>/* 子进程 */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Execve(</a:t>
            </a:r>
            <a:r>
              <a:rPr lang="en-US" b="true" i="false" strike="noStrike" u="none" sz="1600">
                <a:solidFill>
                  <a:srgbClr val="9D206F"/>
                </a:solidFill>
                <a:latin typeface="Menlo-Regular"/>
                <a:ea typeface="Menlo-Regular"/>
                <a:cs typeface="Menlo-Regular"/>
                <a:sym typeface="Menlo-Regular"/>
              </a:rPr>
              <a:t>"/bin/date"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, argv, </a:t>
            </a:r>
            <a:r>
              <a:rPr lang="en-US" b="true" i="false" strike="noStrike" u="none" sz="1600">
                <a:solidFill>
                  <a:srgbClr val="2C9290"/>
                </a:solidFill>
                <a:latin typeface="Menlo-Regular"/>
                <a:ea typeface="Menlo-Regular"/>
                <a:cs typeface="Menlo-Regular"/>
                <a:sym typeface="Menlo-Regular"/>
              </a:rPr>
              <a:t>NULL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);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}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Sigprocmask(SIG_BLOCK, &amp;mask_all, &amp;prev_all); </a:t>
            </a:r>
            <a:r>
              <a:rPr lang="en-US" b="true" i="false" strike="noStrike" u="none" sz="1600">
                <a:solidFill>
                  <a:srgbClr val="CB2418"/>
                </a:solidFill>
                <a:latin typeface="Menlo-Regular"/>
                <a:ea typeface="Menlo-Regular"/>
                <a:cs typeface="Menlo-Regular"/>
                <a:sym typeface="Menlo-Regular"/>
              </a:rPr>
              <a:t>/* 父进程 */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addjob(pid); </a:t>
            </a:r>
            <a:r>
              <a:rPr lang="en-US" b="true" i="false" strike="noStrike" u="none" sz="1600">
                <a:solidFill>
                  <a:srgbClr val="CB2418"/>
                </a:solidFill>
                <a:latin typeface="Menlo-Regular"/>
                <a:ea typeface="Menlo-Regular"/>
                <a:cs typeface="Menlo-Regular"/>
                <a:sym typeface="Menlo-Regular"/>
              </a:rPr>
              <a:t>/* 把子进程加入作业列表 */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Sigprocmask(SIG_SETMASK, &amp;prev_all, </a:t>
            </a:r>
            <a:r>
              <a:rPr lang="en-US" b="true" i="false" strike="noStrike" u="none" sz="1600">
                <a:solidFill>
                  <a:srgbClr val="2C9290"/>
                </a:solidFill>
                <a:latin typeface="Menlo-Regular"/>
                <a:ea typeface="Menlo-Regular"/>
                <a:cs typeface="Menlo-Regular"/>
                <a:sym typeface="Menlo-Regular"/>
              </a:rPr>
              <a:t>NULL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);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}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exit(0);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}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96875" y="1209675"/>
            <a:ext cx="7896225" cy="801588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>
            <a:lvl1pPr marL="647700" indent="-304800"/>
            <a:lvl2pPr marL="1104900" indent="-304800"/>
            <a:lvl3pPr marL="1562100" indent="-304800"/>
            <a:lvl4pPr marL="2019300" indent="-304800"/>
            <a:lvl5pPr marL="2476500" indent="-304800"/>
            <a:lvl6pPr marL="2933700" indent="-304800"/>
            <a:lvl7pPr marL="3390900" indent="-304800"/>
            <a:lvl8pPr marL="3848100" indent="-304800"/>
            <a:lvl9pPr marL="4305300" indent="-304800"/>
          </a:lstStyle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  <a:defRPr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一个简单的 shell，包含微妙的同步错误，因为它假设父进程先于子进程运行。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143274" y="6400800"/>
            <a:ext cx="1391126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procmask1.c</a:t>
            </a:r>
            <a:endParaRPr lang="en-US" sz="1100"/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228600"/>
          </a:xfrm>
          <a:prstGeom prst="roundRect">
            <a:avLst>
              <a:gd name="adj" fmla="val 0"/>
            </a:avLst>
          </a:prstGeom>
          <a:solidFill>
            <a:srgbClr val="99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97813" y="-26988"/>
            <a:ext cx="1309687" cy="277813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Carnegie Mellon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6031" y="6629400"/>
            <a:ext cx="4649342" cy="246221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57018" y="435678"/>
            <a:ext cx="7592093" cy="762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119126" indent="-119126">
              <a:lnSpc>
                <a:spcPct val="100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同步流以避免竞态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15124" y="2133600"/>
            <a:ext cx="8090676" cy="4031873"/>
          </a:xfrm>
          <a:prstGeom prst="roundRect">
            <a:avLst>
              <a:gd name="adj" fmla="val 0"/>
            </a:avLst>
          </a:prstGeom>
          <a:solidFill>
            <a:srgbClr val="F6F5BD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void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600">
                <a:solidFill>
                  <a:srgbClr val="4A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handler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(</a:t>
            </a:r>
            <a:r>
              <a:rPr lang="en-US" b="true" i="false" strike="noStrike" u="none" sz="16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int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600">
                <a:solidFill>
                  <a:srgbClr val="C1651C"/>
                </a:solidFill>
                <a:latin typeface="Menlo-Regular"/>
                <a:ea typeface="Menlo-Regular"/>
                <a:cs typeface="Menlo-Regular"/>
                <a:sym typeface="Menlo-Regular"/>
              </a:rPr>
              <a:t>sig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)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  <a:endParaRPr lang="en-US" sz="1100"/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{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int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600">
                <a:solidFill>
                  <a:srgbClr val="C1651C"/>
                </a:solidFill>
                <a:latin typeface="Menlo-Regular"/>
                <a:ea typeface="Menlo-Regular"/>
                <a:cs typeface="Menlo-Regular"/>
                <a:sym typeface="Menlo-Regular"/>
              </a:rPr>
              <a:t>olderrno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= errno;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sigset_t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600">
                <a:solidFill>
                  <a:srgbClr val="C1651C"/>
                </a:solidFill>
                <a:latin typeface="Menlo-Regular"/>
                <a:ea typeface="Menlo-Regular"/>
                <a:cs typeface="Menlo-Regular"/>
                <a:sym typeface="Menlo-Regular"/>
              </a:rPr>
              <a:t>mask_all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, </a:t>
            </a:r>
            <a:r>
              <a:rPr lang="en-US" b="true" i="false" strike="noStrike" u="none" sz="1600">
                <a:solidFill>
                  <a:srgbClr val="C1651C"/>
                </a:solidFill>
                <a:latin typeface="Menlo-Regular"/>
                <a:ea typeface="Menlo-Regular"/>
                <a:cs typeface="Menlo-Regular"/>
                <a:sym typeface="Menlo-Regular"/>
              </a:rPr>
              <a:t>prev_all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;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pid_t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600">
                <a:solidFill>
                  <a:srgbClr val="C1651C"/>
                </a:solidFill>
                <a:latin typeface="Menlo-Regular"/>
                <a:ea typeface="Menlo-Regular"/>
                <a:cs typeface="Menlo-Regular"/>
                <a:sym typeface="Menlo-Regular"/>
              </a:rPr>
              <a:t>pid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;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Sigfillset(&amp;mask_all);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C2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while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((pid = waitpid(-1, </a:t>
            </a:r>
            <a:r>
              <a:rPr lang="en-US" b="true" i="false" strike="noStrike" u="none" sz="1600">
                <a:solidFill>
                  <a:srgbClr val="2C9290"/>
                </a:solidFill>
                <a:latin typeface="Menlo-Regular"/>
                <a:ea typeface="Menlo-Regular"/>
                <a:cs typeface="Menlo-Regular"/>
                <a:sym typeface="Menlo-Regular"/>
              </a:rPr>
              <a:t>NULL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, 0)) &gt; 0) { </a:t>
            </a:r>
            <a:r>
              <a:rPr lang="en-US" b="true" i="false" strike="noStrike" u="none" sz="1600">
                <a:solidFill>
                  <a:srgbClr val="CB2418"/>
                </a:solidFill>
                <a:latin typeface="Menlo-Regular"/>
                <a:ea typeface="Menlo-Regular"/>
                <a:cs typeface="Menlo-Regular"/>
                <a:sym typeface="Menlo-Regular"/>
              </a:rPr>
              <a:t>/* 回收子进程 */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Sigprocmask(SIG_BLOCK, &amp;mask_all, &amp;prev_all);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deletejob(pid); </a:t>
            </a:r>
            <a:r>
              <a:rPr lang="en-US" b="true" i="false" strike="noStrike" u="none" sz="1600">
                <a:solidFill>
                  <a:srgbClr val="CB2418"/>
                </a:solidFill>
                <a:latin typeface="Menlo-Regular"/>
                <a:ea typeface="Menlo-Regular"/>
                <a:cs typeface="Menlo-Regular"/>
                <a:sym typeface="Menlo-Regular"/>
              </a:rPr>
              <a:t>/* 从作业列表中删除子进程 */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Sigprocmask(SIG_SETMASK, &amp;prev_all, </a:t>
            </a:r>
            <a:r>
              <a:rPr lang="en-US" b="true" i="false" strike="noStrike" u="none" sz="1600">
                <a:solidFill>
                  <a:srgbClr val="2C9290"/>
                </a:solidFill>
                <a:latin typeface="Menlo-Regular"/>
                <a:ea typeface="Menlo-Regular"/>
                <a:cs typeface="Menlo-Regular"/>
                <a:sym typeface="Menlo-Regular"/>
              </a:rPr>
              <a:t>NULL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);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}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C2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if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(errno != ECHILD)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Sio_error(</a:t>
            </a:r>
            <a:r>
              <a:rPr lang="en-US" b="true" i="false" strike="noStrike" u="none" sz="1600">
                <a:solidFill>
                  <a:srgbClr val="9D206F"/>
                </a:solidFill>
                <a:latin typeface="Menlo-Regular"/>
                <a:ea typeface="Menlo-Regular"/>
                <a:cs typeface="Menlo-Regular"/>
                <a:sym typeface="Menlo-Regular"/>
              </a:rPr>
              <a:t>"waitpid 错误"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);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errno = olderrno;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}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96875" y="1362075"/>
            <a:ext cx="7896225" cy="466725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>
            <a:lvl1pPr marL="647700" indent="-304800"/>
            <a:lvl2pPr marL="1104900" indent="-304800"/>
            <a:lvl3pPr marL="1562100" indent="-304800"/>
            <a:lvl4pPr marL="2019300" indent="-304800"/>
            <a:lvl5pPr marL="2476500" indent="-304800"/>
            <a:lvl6pPr marL="2933700" indent="-304800"/>
            <a:lvl7pPr marL="3390900" indent="-304800"/>
            <a:lvl8pPr marL="3848100" indent="-304800"/>
            <a:lvl9pPr marL="4305300" indent="-304800"/>
          </a:lstStyle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  <a:defRPr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简单 shell 的 SIGCHLD 处理程序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934200" y="5791200"/>
            <a:ext cx="1391126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procmask1.c</a:t>
            </a:r>
            <a:endParaRPr lang="en-US" sz="1100"/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228600"/>
          </a:xfrm>
          <a:prstGeom prst="roundRect">
            <a:avLst>
              <a:gd name="adj" fmla="val 0"/>
            </a:avLst>
          </a:prstGeom>
          <a:solidFill>
            <a:srgbClr val="99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97813" y="-26988"/>
            <a:ext cx="1309687" cy="277813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Carnegie Mellon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6031" y="6629400"/>
            <a:ext cx="4649342" cy="246221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57018" y="435678"/>
            <a:ext cx="7872582" cy="762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119126" indent="-119126">
              <a:lnSpc>
                <a:spcPct val="100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无竞态的修正版 shell 程序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" y="1380321"/>
            <a:ext cx="8986279" cy="5401479"/>
          </a:xfrm>
          <a:prstGeom prst="roundRect">
            <a:avLst>
              <a:gd name="adj" fmla="val 0"/>
            </a:avLst>
          </a:prstGeom>
          <a:solidFill>
            <a:srgbClr val="F6F5BD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int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500">
                <a:solidFill>
                  <a:srgbClr val="4A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main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(</a:t>
            </a:r>
            <a:r>
              <a:rPr lang="en-US" b="true" i="false" strike="noStrike" u="none" sz="15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int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500">
                <a:solidFill>
                  <a:srgbClr val="C1651C"/>
                </a:solidFill>
                <a:latin typeface="Menlo-Regular"/>
                <a:ea typeface="Menlo-Regular"/>
                <a:cs typeface="Menlo-Regular"/>
                <a:sym typeface="Menlo-Regular"/>
              </a:rPr>
              <a:t>argc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, </a:t>
            </a:r>
            <a:r>
              <a:rPr lang="en-US" b="true" i="false" strike="noStrike" u="none" sz="15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char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**</a:t>
            </a:r>
            <a:r>
              <a:rPr lang="en-US" b="true" i="false" strike="noStrike" u="none" sz="1500">
                <a:solidFill>
                  <a:srgbClr val="C1651C"/>
                </a:solidFill>
                <a:latin typeface="Menlo-Regular"/>
                <a:ea typeface="Menlo-Regular"/>
                <a:cs typeface="Menlo-Regular"/>
                <a:sym typeface="Menlo-Regular"/>
              </a:rPr>
              <a:t>argv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)</a:t>
            </a: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  <a:endParaRPr lang="en-US" sz="1100"/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{</a:t>
            </a: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int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500">
                <a:solidFill>
                  <a:srgbClr val="C1651C"/>
                </a:solidFill>
                <a:latin typeface="Menlo-Regular"/>
                <a:ea typeface="Menlo-Regular"/>
                <a:cs typeface="Menlo-Regular"/>
                <a:sym typeface="Menlo-Regular"/>
              </a:rPr>
              <a:t>pid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;</a:t>
            </a: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sigset_t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500">
                <a:solidFill>
                  <a:srgbClr val="C1651C"/>
                </a:solidFill>
                <a:latin typeface="Menlo-Regular"/>
                <a:ea typeface="Menlo-Regular"/>
                <a:cs typeface="Menlo-Regular"/>
                <a:sym typeface="Menlo-Regular"/>
              </a:rPr>
              <a:t>mask_all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, </a:t>
            </a:r>
            <a:r>
              <a:rPr lang="en-US" b="true" i="false" strike="noStrike" u="none" sz="1500">
                <a:solidFill>
                  <a:srgbClr val="C1651C"/>
                </a:solidFill>
                <a:latin typeface="Menlo-Regular"/>
                <a:ea typeface="Menlo-Regular"/>
                <a:cs typeface="Menlo-Regular"/>
                <a:sym typeface="Menlo-Regular"/>
              </a:rPr>
              <a:t>mask_one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, </a:t>
            </a:r>
            <a:r>
              <a:rPr lang="en-US" b="true" i="false" strike="noStrike" u="none" sz="1500">
                <a:solidFill>
                  <a:srgbClr val="C1651C"/>
                </a:solidFill>
                <a:latin typeface="Menlo-Regular"/>
                <a:ea typeface="Menlo-Regular"/>
                <a:cs typeface="Menlo-Regular"/>
                <a:sym typeface="Menlo-Regular"/>
              </a:rPr>
              <a:t>prev_one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;</a:t>
            </a: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Sigfillset(&amp;mask_all);</a:t>
            </a: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Sigemptyset(&amp;mask_one);</a:t>
            </a: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Sigaddset(&amp;mask_one, SIGCHLD);</a:t>
            </a: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Signal(SIGCHLD, handler);</a:t>
            </a: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initjobs(); </a:t>
            </a:r>
            <a:r>
              <a:rPr lang="en-US" b="true" i="false" strike="noStrike" u="none" sz="1500">
                <a:solidFill>
                  <a:srgbClr val="CB2418"/>
                </a:solidFill>
                <a:latin typeface="Menlo-Regular"/>
                <a:ea typeface="Menlo-Regular"/>
                <a:cs typeface="Menlo-Regular"/>
                <a:sym typeface="Menlo-Regular"/>
              </a:rPr>
              <a:t>/* 初始化作业列表 */</a:t>
            </a: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C2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while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(1) {</a:t>
            </a: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Sigprocmask(SIG_BLOCK, &amp;mask_one, &amp;prev_one); </a:t>
            </a:r>
            <a:r>
              <a:rPr lang="en-US" b="true" i="false" strike="noStrike" u="none" sz="1500">
                <a:solidFill>
                  <a:srgbClr val="CB2418"/>
                </a:solidFill>
                <a:latin typeface="Menlo-Regular"/>
                <a:ea typeface="Menlo-Regular"/>
                <a:cs typeface="Menlo-Regular"/>
                <a:sym typeface="Menlo-Regular"/>
              </a:rPr>
              <a:t>/* 阻塞 SIGCHLD */</a:t>
            </a: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C2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if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((pid = Fork()) == 0) { </a:t>
            </a:r>
            <a:r>
              <a:rPr lang="en-US" b="true" i="false" strike="noStrike" u="none" sz="1500">
                <a:solidFill>
                  <a:srgbClr val="CB2418"/>
                </a:solidFill>
                <a:latin typeface="Menlo-Regular"/>
                <a:ea typeface="Menlo-Regular"/>
                <a:cs typeface="Menlo-Regular"/>
                <a:sym typeface="Menlo-Regular"/>
              </a:rPr>
              <a:t>/* 子进程 */</a:t>
            </a: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Sigprocmask(SIG_SETMASK, &amp;prev_one, </a:t>
            </a:r>
            <a:r>
              <a:rPr lang="en-US" b="true" i="false" strike="noStrike" u="none" sz="1500">
                <a:solidFill>
                  <a:srgbClr val="2C9290"/>
                </a:solidFill>
                <a:latin typeface="Menlo-Regular"/>
                <a:ea typeface="Menlo-Regular"/>
                <a:cs typeface="Menlo-Regular"/>
                <a:sym typeface="Menlo-Regular"/>
              </a:rPr>
              <a:t>NULL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); </a:t>
            </a:r>
            <a:r>
              <a:rPr lang="en-US" b="true" i="false" strike="noStrike" u="none" sz="1500">
                <a:solidFill>
                  <a:srgbClr val="CB2418"/>
                </a:solidFill>
                <a:latin typeface="Menlo-Regular"/>
                <a:ea typeface="Menlo-Regular"/>
                <a:cs typeface="Menlo-Regular"/>
                <a:sym typeface="Menlo-Regular"/>
              </a:rPr>
              <a:t>/* 解除对 SIGCHLD 的阻塞 */</a:t>
            </a: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Execve(</a:t>
            </a:r>
            <a:r>
              <a:rPr lang="en-US" b="true" i="false" strike="noStrike" u="none" sz="1500">
                <a:solidFill>
                  <a:srgbClr val="9D206F"/>
                </a:solidFill>
                <a:latin typeface="Menlo-Regular"/>
                <a:ea typeface="Menlo-Regular"/>
                <a:cs typeface="Menlo-Regular"/>
                <a:sym typeface="Menlo-Regular"/>
              </a:rPr>
              <a:t>"/bin/date"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, argv, </a:t>
            </a:r>
            <a:r>
              <a:rPr lang="en-US" b="true" i="false" strike="noStrike" u="none" sz="1500">
                <a:solidFill>
                  <a:srgbClr val="2C9290"/>
                </a:solidFill>
                <a:latin typeface="Menlo-Regular"/>
                <a:ea typeface="Menlo-Regular"/>
                <a:cs typeface="Menlo-Regular"/>
                <a:sym typeface="Menlo-Regular"/>
              </a:rPr>
              <a:t>NULL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);</a:t>
            </a: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}</a:t>
            </a: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Sigprocmask(SIG_BLOCK, &amp;mask_all, </a:t>
            </a:r>
            <a:r>
              <a:rPr lang="en-US" b="true" i="false" strike="noStrike" u="none" sz="1500">
                <a:solidFill>
                  <a:srgbClr val="2C9290"/>
                </a:solidFill>
                <a:latin typeface="Menlo-Regular"/>
                <a:ea typeface="Menlo-Regular"/>
                <a:cs typeface="Menlo-Regular"/>
                <a:sym typeface="Menlo-Regular"/>
              </a:rPr>
              <a:t>NULL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); </a:t>
            </a:r>
            <a:r>
              <a:rPr lang="en-US" b="true" i="false" strike="noStrike" u="none" sz="1500">
                <a:solidFill>
                  <a:srgbClr val="CB2418"/>
                </a:solidFill>
                <a:latin typeface="Menlo-Regular"/>
                <a:ea typeface="Menlo-Regular"/>
                <a:cs typeface="Menlo-Regular"/>
                <a:sym typeface="Menlo-Regular"/>
              </a:rPr>
              <a:t>/* 父进程 */</a:t>
            </a: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	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addjob(pid); </a:t>
            </a:r>
            <a:r>
              <a:rPr lang="en-US" b="true" i="false" strike="noStrike" u="none" sz="1500">
                <a:solidFill>
                  <a:srgbClr val="CB2418"/>
                </a:solidFill>
                <a:latin typeface="Menlo-Regular"/>
                <a:ea typeface="Menlo-Regular"/>
                <a:cs typeface="Menlo-Regular"/>
                <a:sym typeface="Menlo-Regular"/>
              </a:rPr>
              <a:t>/* 把子进程加入作业列表 */</a:t>
            </a: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Sigprocmask(SIG_SETMASK, &amp;prev_one, </a:t>
            </a:r>
            <a:r>
              <a:rPr lang="en-US" b="true" i="false" strike="noStrike" u="none" sz="1500">
                <a:solidFill>
                  <a:srgbClr val="2C9290"/>
                </a:solidFill>
                <a:latin typeface="Menlo-Regular"/>
                <a:ea typeface="Menlo-Regular"/>
                <a:cs typeface="Menlo-Regular"/>
                <a:sym typeface="Menlo-Regular"/>
              </a:rPr>
              <a:t>NULL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); </a:t>
            </a:r>
            <a:r>
              <a:rPr lang="en-US" b="true" i="false" strike="noStrike" u="none" sz="1500">
                <a:solidFill>
                  <a:srgbClr val="CB2418"/>
                </a:solidFill>
                <a:latin typeface="Menlo-Regular"/>
                <a:ea typeface="Menlo-Regular"/>
                <a:cs typeface="Menlo-Regular"/>
                <a:sym typeface="Menlo-Regular"/>
              </a:rPr>
              <a:t>/* 解除对 SIGCHLD 的阻塞 */</a:t>
            </a: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}</a:t>
            </a: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exit(0);</a:t>
            </a: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}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33253" y="6400800"/>
            <a:ext cx="1391126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procmask2.c</a:t>
            </a:r>
            <a:endParaRPr lang="en-US" sz="1100"/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228600"/>
          </a:xfrm>
          <a:prstGeom prst="roundRect">
            <a:avLst>
              <a:gd name="adj" fmla="val 0"/>
            </a:avLst>
          </a:prstGeom>
          <a:solidFill>
            <a:srgbClr val="99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97813" y="-26988"/>
            <a:ext cx="1309687" cy="277813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Carnegie Mellon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6031" y="6629400"/>
            <a:ext cx="4649342" cy="246221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57018" y="435678"/>
            <a:ext cx="8482182" cy="762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119126" indent="-119126">
              <a:lnSpc>
                <a:spcPct val="100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显式等待信号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71500" y="2514600"/>
            <a:ext cx="8267700" cy="3323987"/>
          </a:xfrm>
          <a:prstGeom prst="roundRect">
            <a:avLst>
              <a:gd name="adj" fmla="val 0"/>
            </a:avLst>
          </a:prstGeom>
          <a:solidFill>
            <a:srgbClr val="F6F5BD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C2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volatile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5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sig_atomic_t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500">
                <a:solidFill>
                  <a:srgbClr val="C1651C"/>
                </a:solidFill>
                <a:latin typeface="Menlo-Regular"/>
                <a:ea typeface="Menlo-Regular"/>
                <a:cs typeface="Menlo-Regular"/>
                <a:sym typeface="Menlo-Regular"/>
              </a:rPr>
              <a:t>pid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;</a:t>
            </a: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  <a:endParaRPr lang="en-US" sz="1100"/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void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500">
                <a:solidFill>
                  <a:srgbClr val="4A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sigchld_handler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(</a:t>
            </a:r>
            <a:r>
              <a:rPr lang="en-US" b="true" i="false" strike="noStrike" u="none" sz="15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int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500">
                <a:solidFill>
                  <a:srgbClr val="C1651C"/>
                </a:solidFill>
                <a:latin typeface="Menlo-Regular"/>
                <a:ea typeface="Menlo-Regular"/>
                <a:cs typeface="Menlo-Regular"/>
                <a:sym typeface="Menlo-Regular"/>
              </a:rPr>
              <a:t>s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)</a:t>
            </a: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{</a:t>
            </a: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int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500">
                <a:solidFill>
                  <a:srgbClr val="C1651C"/>
                </a:solidFill>
                <a:latin typeface="Menlo-Regular"/>
                <a:ea typeface="Menlo-Regular"/>
                <a:cs typeface="Menlo-Regular"/>
                <a:sym typeface="Menlo-Regular"/>
              </a:rPr>
              <a:t>olderrno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= errno;</a:t>
            </a: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pid = Waitpid(-1, </a:t>
            </a:r>
            <a:r>
              <a:rPr lang="en-US" b="true" i="false" strike="noStrike" u="none" sz="1500">
                <a:solidFill>
                  <a:srgbClr val="2C9290"/>
                </a:solidFill>
                <a:latin typeface="Menlo-Regular"/>
                <a:ea typeface="Menlo-Regular"/>
                <a:cs typeface="Menlo-Regular"/>
                <a:sym typeface="Menlo-Regular"/>
              </a:rPr>
              <a:t>NULL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, 0); </a:t>
            </a:r>
            <a:r>
              <a:rPr lang="en-US" b="true" i="false" strike="noStrike" u="none" sz="1500">
                <a:solidFill>
                  <a:srgbClr val="FF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/* main 正在等待非零 pid */</a:t>
            </a: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errno = olderrno;</a:t>
            </a: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}</a:t>
            </a: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void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500">
                <a:solidFill>
                  <a:srgbClr val="4A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sigint_handler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(</a:t>
            </a:r>
            <a:r>
              <a:rPr lang="en-US" b="true" i="false" strike="noStrike" u="none" sz="15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int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500">
                <a:solidFill>
                  <a:srgbClr val="C1651C"/>
                </a:solidFill>
                <a:latin typeface="Menlo-Regular"/>
                <a:ea typeface="Menlo-Regular"/>
                <a:cs typeface="Menlo-Regular"/>
                <a:sym typeface="Menlo-Regular"/>
              </a:rPr>
              <a:t>s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)</a:t>
            </a: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{</a:t>
            </a: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}</a:t>
            </a: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defTabSz="914400">
              <a:lnSpc>
                <a:spcPct val="100000"/>
              </a:lnSpc>
            </a:pP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96875" y="1408212"/>
            <a:ext cx="8442325" cy="801588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>
            <a:lvl1pPr marL="647700" indent="-304800"/>
            <a:lvl2pPr marL="1104900" indent="-304800"/>
            <a:lvl3pPr marL="1562100" indent="-304800"/>
            <a:lvl4pPr marL="2019300" indent="-304800"/>
            <a:lvl5pPr marL="2476500" indent="-304800"/>
            <a:lvl6pPr marL="2933700" indent="-304800"/>
            <a:lvl7pPr marL="3390900" indent="-304800"/>
            <a:lvl8pPr marL="3848100" indent="-304800"/>
            <a:lvl9pPr marL="4305300" indent="-304800"/>
          </a:lstStyle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  <a:defRPr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用于显式等待 SIGCHLD 到达的程序的处理程序。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248688" y="5486400"/>
            <a:ext cx="1590512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waitforsignal.c</a:t>
            </a:r>
            <a:endParaRPr lang="en-US" sz="1100"/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228600"/>
          </a:xfrm>
          <a:prstGeom prst="roundRect">
            <a:avLst>
              <a:gd name="adj" fmla="val 0"/>
            </a:avLst>
          </a:prstGeom>
          <a:solidFill>
            <a:srgbClr val="99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97813" y="-26988"/>
            <a:ext cx="1309687" cy="277813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Carnegie Mellon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6031" y="6629400"/>
            <a:ext cx="4649342" cy="246221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57018" y="435678"/>
            <a:ext cx="8482182" cy="762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119126" indent="-119126">
              <a:lnSpc>
                <a:spcPct val="100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显式等待信号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75784" y="1304121"/>
            <a:ext cx="8058616" cy="5401479"/>
          </a:xfrm>
          <a:prstGeom prst="roundRect">
            <a:avLst>
              <a:gd name="adj" fmla="val 0"/>
            </a:avLst>
          </a:prstGeom>
          <a:solidFill>
            <a:srgbClr val="F6F5BD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int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500">
                <a:solidFill>
                  <a:srgbClr val="4A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main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(</a:t>
            </a:r>
            <a:r>
              <a:rPr lang="en-US" b="true" i="false" strike="noStrike" u="none" sz="15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int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500">
                <a:solidFill>
                  <a:srgbClr val="C1651C"/>
                </a:solidFill>
                <a:latin typeface="Menlo-Regular"/>
                <a:ea typeface="Menlo-Regular"/>
                <a:cs typeface="Menlo-Regular"/>
                <a:sym typeface="Menlo-Regular"/>
              </a:rPr>
              <a:t>argc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, </a:t>
            </a:r>
            <a:r>
              <a:rPr lang="en-US" b="true" i="false" strike="noStrike" u="none" sz="15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char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**</a:t>
            </a:r>
            <a:r>
              <a:rPr lang="en-US" b="true" i="false" strike="noStrike" u="none" sz="1500">
                <a:solidFill>
                  <a:srgbClr val="C1651C"/>
                </a:solidFill>
                <a:latin typeface="Menlo-Regular"/>
                <a:ea typeface="Menlo-Regular"/>
                <a:cs typeface="Menlo-Regular"/>
                <a:sym typeface="Menlo-Regular"/>
              </a:rPr>
              <a:t>argv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) {</a:t>
            </a: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  <a:endParaRPr lang="en-US" sz="1100"/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sigset_t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500">
                <a:solidFill>
                  <a:srgbClr val="C1651C"/>
                </a:solidFill>
                <a:latin typeface="Menlo-Regular"/>
                <a:ea typeface="Menlo-Regular"/>
                <a:cs typeface="Menlo-Regular"/>
                <a:sym typeface="Menlo-Regular"/>
              </a:rPr>
              <a:t>mask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, </a:t>
            </a:r>
            <a:r>
              <a:rPr lang="en-US" b="true" i="false" strike="noStrike" u="none" sz="1500">
                <a:solidFill>
                  <a:srgbClr val="C1651C"/>
                </a:solidFill>
                <a:latin typeface="Menlo-Regular"/>
                <a:ea typeface="Menlo-Regular"/>
                <a:cs typeface="Menlo-Regular"/>
                <a:sym typeface="Menlo-Regular"/>
              </a:rPr>
              <a:t>prev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;</a:t>
            </a: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Signal(SIGCHLD, sigchld_handler);</a:t>
            </a: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Signal(SIGINT, sigint_handler);</a:t>
            </a: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Sigemptyset(&amp;mask);</a:t>
            </a: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Sigaddset(&amp;mask, SIGCHLD);</a:t>
            </a: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C2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while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(1) {</a:t>
            </a: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	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Sigprocmask(SIG_BLOCK, &amp;mask, &amp;prev); </a:t>
            </a:r>
            <a:r>
              <a:rPr lang="en-US" b="true" i="false" strike="noStrike" u="none" sz="1500">
                <a:solidFill>
                  <a:srgbClr val="CB2418"/>
                </a:solidFill>
                <a:latin typeface="Menlo-Regular"/>
                <a:ea typeface="Menlo-Regular"/>
                <a:cs typeface="Menlo-Regular"/>
                <a:sym typeface="Menlo-Regular"/>
              </a:rPr>
              <a:t>/* 阻塞 SIGCHLD */</a:t>
            </a: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	</a:t>
            </a:r>
            <a:r>
              <a:rPr lang="en-US" b="true" i="false" strike="noStrike" u="none" sz="1500">
                <a:solidFill>
                  <a:srgbClr val="C2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if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(Fork() == 0) </a:t>
            </a:r>
            <a:r>
              <a:rPr lang="en-US" b="true" i="false" strike="noStrike" u="none" sz="1500">
                <a:solidFill>
                  <a:srgbClr val="CB2418"/>
                </a:solidFill>
                <a:latin typeface="Menlo-Regular"/>
                <a:ea typeface="Menlo-Regular"/>
                <a:cs typeface="Menlo-Regular"/>
                <a:sym typeface="Menlo-Regular"/>
              </a:rPr>
              <a:t>/* 子进程 */</a:t>
            </a: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exit(0);</a:t>
            </a: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	</a:t>
            </a:r>
            <a:r>
              <a:rPr lang="en-US" b="true" i="false" strike="noStrike" u="none" sz="1500">
                <a:solidFill>
                  <a:srgbClr val="CB2418"/>
                </a:solidFill>
                <a:latin typeface="Menlo-Regular"/>
                <a:ea typeface="Menlo-Regular"/>
                <a:cs typeface="Menlo-Regular"/>
                <a:sym typeface="Menlo-Regular"/>
              </a:rPr>
              <a:t>/* 父进程 */</a:t>
            </a: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	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pid = 0;</a:t>
            </a: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	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Sigprocmask(SIG_SETMASK, &amp;prev, </a:t>
            </a:r>
            <a:r>
              <a:rPr lang="en-US" b="true" i="false" strike="noStrike" u="none" sz="1500">
                <a:solidFill>
                  <a:srgbClr val="2C9290"/>
                </a:solidFill>
                <a:latin typeface="Menlo-Regular"/>
                <a:ea typeface="Menlo-Regular"/>
                <a:cs typeface="Menlo-Regular"/>
                <a:sym typeface="Menlo-Regular"/>
              </a:rPr>
              <a:t>NULL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); </a:t>
            </a:r>
            <a:r>
              <a:rPr lang="en-US" b="true" i="false" strike="noStrike" u="none" sz="1500">
                <a:solidFill>
                  <a:srgbClr val="CB2418"/>
                </a:solidFill>
                <a:latin typeface="Menlo-Regular"/>
                <a:ea typeface="Menlo-Regular"/>
                <a:cs typeface="Menlo-Regular"/>
                <a:sym typeface="Menlo-Regular"/>
              </a:rPr>
              <a:t>/* 解除对 SIGCHLD 的阻塞 */</a:t>
            </a: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	</a:t>
            </a:r>
            <a:r>
              <a:rPr lang="en-US" b="true" i="false" strike="noStrike" u="none" sz="1500">
                <a:solidFill>
                  <a:srgbClr val="CB2418"/>
                </a:solidFill>
                <a:latin typeface="Menlo-Regular"/>
                <a:ea typeface="Menlo-Regular"/>
                <a:cs typeface="Menlo-Regular"/>
                <a:sym typeface="Menlo-Regular"/>
              </a:rPr>
              <a:t>/* 等待 SIGCHLD 被接收（浪费！） */</a:t>
            </a: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	</a:t>
            </a:r>
            <a:r>
              <a:rPr lang="en-US" b="true" i="false" strike="noStrike" u="none" sz="1500">
                <a:solidFill>
                  <a:srgbClr val="C2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while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(!pid)</a:t>
            </a: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;</a:t>
            </a: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	</a:t>
            </a:r>
            <a:r>
              <a:rPr lang="en-US" b="true" i="false" strike="noStrike" u="none" sz="1500">
                <a:solidFill>
                  <a:srgbClr val="CB2418"/>
                </a:solidFill>
                <a:latin typeface="Menlo-Regular"/>
                <a:ea typeface="Menlo-Regular"/>
                <a:cs typeface="Menlo-Regular"/>
                <a:sym typeface="Menlo-Regular"/>
              </a:rPr>
              <a:t>/* 收到 SIGCHLD 后做一些工作 */</a:t>
            </a: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printf(</a:t>
            </a:r>
            <a:r>
              <a:rPr lang="en-US" b="true" i="false" strike="noStrike" u="none" sz="1500">
                <a:solidFill>
                  <a:srgbClr val="9D206F"/>
                </a:solidFill>
                <a:latin typeface="Menlo-Regular"/>
                <a:ea typeface="Menlo-Regular"/>
                <a:cs typeface="Menlo-Regular"/>
                <a:sym typeface="Menlo-Regular"/>
              </a:rPr>
              <a:t>"."</a:t>
            </a: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);</a:t>
            </a: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}</a:t>
            </a: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exit(0);</a:t>
            </a:r>
            <a:r>
              <a:rPr lang="en-US" b="true" i="false" strike="noStrike" u="none" sz="15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}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934200" y="6336268"/>
            <a:ext cx="1590512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waitforsignal.c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079138" y="1143000"/>
            <a:ext cx="2531462" cy="9906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1000000"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类似于 shell 等待</a:t>
            </a:r>
            <a:r>
              <a:rPr lang="en-US" b="tru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一个前台作业</a:t>
            </a:r>
            <a:r>
              <a:rPr lang="en-US" b="tru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结束。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228600"/>
          </a:xfrm>
          <a:prstGeom prst="roundRect">
            <a:avLst>
              <a:gd name="adj" fmla="val 0"/>
            </a:avLst>
          </a:prstGeom>
          <a:solidFill>
            <a:srgbClr val="99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97813" y="-26988"/>
            <a:ext cx="1309687" cy="277813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Carnegie Mellon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6031" y="6629400"/>
            <a:ext cx="4649342" cy="246221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57018" y="435678"/>
            <a:ext cx="8482182" cy="762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119126" indent="-119126">
              <a:lnSpc>
                <a:spcPct val="100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显式等待信号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71500" y="2570202"/>
            <a:ext cx="3314700" cy="584776"/>
          </a:xfrm>
          <a:prstGeom prst="roundRect">
            <a:avLst>
              <a:gd name="adj" fmla="val 0"/>
            </a:avLst>
          </a:prstGeom>
          <a:solidFill>
            <a:srgbClr val="F6F5BD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C200FF"/>
                </a:solidFill>
                <a:latin typeface="Courier New"/>
                <a:ea typeface="Courier New"/>
                <a:cs typeface="Courier New"/>
                <a:sym typeface="Courier New"/>
              </a:rPr>
              <a:t>while (!pid) /* 竞态！ */</a:t>
            </a:r>
            <a:r>
              <a:rPr lang="en-US" b="true" i="false" strike="noStrike" u="none" sz="16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lang="en-US" sz="1100"/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pause();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96875" y="1408212"/>
            <a:ext cx="7896225" cy="496788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>
            <a:lvl1pPr marL="647700" indent="-304800"/>
            <a:lvl2pPr marL="1104900" indent="-304800"/>
            <a:lvl3pPr marL="1562100" indent="-304800"/>
            <a:lvl4pPr marL="2019300" indent="-304800"/>
            <a:lvl5pPr marL="2476500" indent="-304800"/>
            <a:lvl6pPr marL="2933700" indent="-304800"/>
            <a:lvl7pPr marL="3390900" indent="-304800"/>
            <a:lvl8pPr marL="3848100" indent="-304800"/>
            <a:lvl9pPr marL="4305300" indent="-304800"/>
          </a:lstStyle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  <a:defRPr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程序是正确的，但非常浪费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其他选项：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解决方案：sigsuspend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267200" y="2570202"/>
            <a:ext cx="3810000" cy="584776"/>
          </a:xfrm>
          <a:prstGeom prst="roundRect">
            <a:avLst>
              <a:gd name="adj" fmla="val 0"/>
            </a:avLst>
          </a:prstGeom>
          <a:solidFill>
            <a:srgbClr val="F6F5BD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C2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while (!pid) /* 太慢了！ */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  <a:endParaRPr lang="en-US" sz="1100"/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sleep(1);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228600"/>
          </a:xfrm>
          <a:prstGeom prst="roundRect">
            <a:avLst>
              <a:gd name="adj" fmla="val 0"/>
            </a:avLst>
          </a:prstGeom>
          <a:solidFill>
            <a:srgbClr val="99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97813" y="-26988"/>
            <a:ext cx="1309687" cy="277813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Carnegie Mellon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6031" y="6629400"/>
            <a:ext cx="4649342" cy="246221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57018" y="435678"/>
            <a:ext cx="8482182" cy="762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119126" indent="-119126">
              <a:lnSpc>
                <a:spcPct val="100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用 sigsuspend 等待信号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3055203"/>
            <a:ext cx="5410200" cy="830997"/>
          </a:xfrm>
          <a:prstGeom prst="roundRect">
            <a:avLst>
              <a:gd name="adj" fmla="val 0"/>
            </a:avLst>
          </a:prstGeom>
          <a:solidFill>
            <a:srgbClr val="F6F5BD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sigprocmask(SIG_BLOCK, &amp;mask, &amp;prev);</a:t>
            </a: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lang="en-US" sz="1100"/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pause();</a:t>
            </a: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sigprocmask(SIG_SETMASK, &amp;prev, NULL);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96875" y="1408212"/>
            <a:ext cx="7896225" cy="496788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>
            <a:lvl1pPr marL="647700" indent="-304800"/>
            <a:lvl2pPr marL="1104900" indent="-304800"/>
            <a:lvl3pPr marL="1562100" indent="-304800"/>
            <a:lvl4pPr marL="2019300" indent="-304800"/>
            <a:lvl5pPr marL="2476500" indent="-304800"/>
            <a:lvl6pPr marL="2933700" indent="-304800"/>
            <a:lvl7pPr marL="3390900" indent="-304800"/>
            <a:lvl8pPr marL="3848100" indent="-304800"/>
            <a:lvl9pPr marL="4305300" indent="-304800"/>
          </a:lstStyle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  <a:defRPr/>
            </a:pPr>
            <a:r>
              <a:rPr lang="en-US" b="true" i="false" strike="noStrike" u="none" sz="2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int sigsuspend(const sigset_t *mask)</a:t>
            </a:r>
            <a:r>
              <a:rPr lang="en-US" b="true" i="false" strike="noStrike" u="none" sz="2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lang="en-US" sz="1100"/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等价于以下代码的原子（不可中断）版本：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228600"/>
          </a:xfrm>
          <a:prstGeom prst="roundRect">
            <a:avLst>
              <a:gd name="adj" fmla="val 0"/>
            </a:avLst>
          </a:prstGeom>
          <a:solidFill>
            <a:srgbClr val="99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97813" y="-26988"/>
            <a:ext cx="1309687" cy="277813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Carnegie Mellon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6031" y="6629400"/>
            <a:ext cx="4649342" cy="246221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57018" y="435678"/>
            <a:ext cx="8482182" cy="762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119126" indent="-119126">
              <a:lnSpc>
                <a:spcPct val="100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用 sigsuspend 等待信号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28600" y="1149489"/>
            <a:ext cx="8534400" cy="5632311"/>
          </a:xfrm>
          <a:prstGeom prst="roundRect">
            <a:avLst>
              <a:gd name="adj" fmla="val 0"/>
            </a:avLst>
          </a:prstGeom>
          <a:solidFill>
            <a:srgbClr val="F6F5BD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2D961E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b="true" i="false" strike="noStrike" u="none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true" i="false" strike="noStrike" u="none" sz="1500">
                <a:solidFill>
                  <a:srgbClr val="4A00FF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 b="true" i="false" strike="noStrike" u="none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b="true" i="false" strike="noStrike" u="none" sz="1500">
                <a:solidFill>
                  <a:srgbClr val="2D961E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b="true" i="false" strike="noStrike" u="none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true" i="false" strike="noStrike" u="none" sz="1500">
                <a:solidFill>
                  <a:srgbClr val="C1651C"/>
                </a:solidFill>
                <a:latin typeface="Courier New"/>
                <a:ea typeface="Courier New"/>
                <a:cs typeface="Courier New"/>
                <a:sym typeface="Courier New"/>
              </a:rPr>
              <a:t>argc</a:t>
            </a:r>
            <a:r>
              <a:rPr lang="en-US" b="true" i="false" strike="noStrike" u="none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b="true" i="false" strike="noStrike" u="none" sz="1500">
                <a:solidFill>
                  <a:srgbClr val="2D961E"/>
                </a:solidFill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en-US" b="true" i="false" strike="noStrike" u="none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**</a:t>
            </a:r>
            <a:r>
              <a:rPr lang="en-US" b="true" i="false" strike="noStrike" u="none" sz="1500">
                <a:solidFill>
                  <a:srgbClr val="C1651C"/>
                </a:solidFill>
                <a:latin typeface="Courier New"/>
                <a:ea typeface="Courier New"/>
                <a:cs typeface="Courier New"/>
                <a:sym typeface="Courier New"/>
              </a:rPr>
              <a:t>argv</a:t>
            </a:r>
            <a:r>
              <a:rPr lang="en-US" b="true" i="false" strike="noStrike" u="none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r>
              <a:rPr lang="en-US" b="true" i="false" strike="noStrike" u="none" sz="15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lang="en-US" sz="1100"/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2D961E"/>
                </a:solidFill>
                <a:latin typeface="Courier New"/>
                <a:ea typeface="Courier New"/>
                <a:cs typeface="Courier New"/>
                <a:sym typeface="Courier New"/>
              </a:rPr>
              <a:t>sigset_t</a:t>
            </a:r>
            <a:r>
              <a:rPr lang="en-US" b="true" i="false" strike="noStrike" u="none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true" i="false" strike="noStrike" u="none" sz="1500">
                <a:solidFill>
                  <a:srgbClr val="C1651C"/>
                </a:solidFill>
                <a:latin typeface="Courier New"/>
                <a:ea typeface="Courier New"/>
                <a:cs typeface="Courier New"/>
                <a:sym typeface="Courier New"/>
              </a:rPr>
              <a:t>mask</a:t>
            </a:r>
            <a:r>
              <a:rPr lang="en-US" b="true" i="false" strike="noStrike" u="none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b="true" i="false" strike="noStrike" u="none" sz="1500">
                <a:solidFill>
                  <a:srgbClr val="C1651C"/>
                </a:solidFill>
                <a:latin typeface="Courier New"/>
                <a:ea typeface="Courier New"/>
                <a:cs typeface="Courier New"/>
                <a:sym typeface="Courier New"/>
              </a:rPr>
              <a:t>prev</a:t>
            </a:r>
            <a:r>
              <a:rPr lang="en-US" b="true" i="false" strike="noStrike" u="none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b="true" i="false" strike="noStrike" u="none" sz="15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Signal(SIGCHLD, sigchld_handler);</a:t>
            </a:r>
            <a:r>
              <a:rPr lang="en-US" b="true" i="false" strike="noStrike" u="none" sz="15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Signal(SIGINT, sigint_handler);</a:t>
            </a:r>
            <a:r>
              <a:rPr lang="en-US" b="true" i="false" strike="noStrike" u="none" sz="15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Sigemptyset(&amp;mask);</a:t>
            </a:r>
            <a:r>
              <a:rPr lang="en-US" b="true" i="false" strike="noStrike" u="none" sz="15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Sigaddset(&amp;mask, SIGCHLD);</a:t>
            </a:r>
            <a:r>
              <a:rPr lang="en-US" b="true" i="false" strike="noStrike" u="none" sz="15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C200FF"/>
                </a:solidFill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en-US" b="true" i="false" strike="noStrike" u="none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(1) {</a:t>
            </a:r>
            <a:r>
              <a:rPr lang="en-US" b="true" i="false" strike="noStrike" u="none" sz="15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Sigprocmask(SIG_BLOCK, &amp;mask, &amp;prev); </a:t>
            </a:r>
            <a:r>
              <a:rPr lang="en-US" b="true" i="false" strike="noStrike" u="none" sz="1500">
                <a:solidFill>
                  <a:srgbClr val="CB2418"/>
                </a:solidFill>
                <a:latin typeface="Courier New"/>
                <a:ea typeface="Courier New"/>
                <a:cs typeface="Courier New"/>
                <a:sym typeface="Courier New"/>
              </a:rPr>
              <a:t>/* 阻塞 SIGCHLD */</a:t>
            </a:r>
            <a:r>
              <a:rPr lang="en-US" b="true" i="false" strike="noStrike" u="none" sz="15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C200FF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US" b="true" i="false" strike="noStrike" u="none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(Fork() == 0) </a:t>
            </a:r>
            <a:r>
              <a:rPr lang="en-US" b="true" i="false" strike="noStrike" u="none" sz="1500">
                <a:solidFill>
                  <a:srgbClr val="CB2418"/>
                </a:solidFill>
                <a:latin typeface="Courier New"/>
                <a:ea typeface="Courier New"/>
                <a:cs typeface="Courier New"/>
                <a:sym typeface="Courier New"/>
              </a:rPr>
              <a:t>/* 子进程 */</a:t>
            </a:r>
            <a:r>
              <a:rPr lang="en-US" b="true" i="false" strike="noStrike" u="none" sz="15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exit(0);</a:t>
            </a:r>
            <a:r>
              <a:rPr lang="en-US" b="true" i="false" strike="noStrike" u="none" sz="15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CB2418"/>
                </a:solidFill>
                <a:latin typeface="Courier New"/>
                <a:ea typeface="Courier New"/>
                <a:cs typeface="Courier New"/>
                <a:sym typeface="Courier New"/>
              </a:rPr>
              <a:t>/* 等待 SIGCHLD 被接收 */</a:t>
            </a:r>
            <a:r>
              <a:rPr lang="en-US" b="true" i="false" strike="noStrike" u="none" sz="15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pid = 0;</a:t>
            </a:r>
            <a:r>
              <a:rPr lang="en-US" b="true" i="false" strike="noStrike" u="none" sz="15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C200FF"/>
                </a:solidFill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en-US" b="true" i="false" strike="noStrike" u="none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(!pid)</a:t>
            </a:r>
            <a:r>
              <a:rPr lang="en-US" b="true" i="false" strike="noStrike" u="none" sz="15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Sigsuspend(&amp;prev);</a:t>
            </a:r>
            <a:r>
              <a:rPr lang="en-US" b="true" i="false" strike="noStrike" u="none" sz="15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CB2418"/>
                </a:solidFill>
                <a:latin typeface="Courier New"/>
                <a:ea typeface="Courier New"/>
                <a:cs typeface="Courier New"/>
                <a:sym typeface="Courier New"/>
              </a:rPr>
              <a:t>/* 可选：解除对 SIGCHLD 的阻塞 */</a:t>
            </a:r>
            <a:r>
              <a:rPr lang="en-US" b="true" i="false" strike="noStrike" u="none" sz="15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Sigprocmask(SIG_SETMASK, &amp;prev, </a:t>
            </a:r>
            <a:r>
              <a:rPr lang="en-US" b="true" i="false" strike="noStrike" u="none" sz="1500">
                <a:solidFill>
                  <a:srgbClr val="2C9290"/>
                </a:solidFill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en-US" b="true" i="false" strike="noStrike" u="none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r>
              <a:rPr lang="en-US" b="true" i="false" strike="noStrike" u="none" sz="15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US" b="true" i="false" strike="noStrike" u="none" sz="1500">
                <a:solidFill>
                  <a:srgbClr val="CB2418"/>
                </a:solidFill>
                <a:latin typeface="Courier New"/>
                <a:ea typeface="Courier New"/>
                <a:cs typeface="Courier New"/>
                <a:sym typeface="Courier New"/>
              </a:rPr>
              <a:t>/* 收到 SIGCHLD 后做一些工作 */</a:t>
            </a:r>
            <a:r>
              <a:rPr lang="en-US" b="true" i="false" strike="noStrike" u="none" sz="15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printf(</a:t>
            </a:r>
            <a:r>
              <a:rPr lang="en-US" b="true" i="false" strike="noStrike" u="none" sz="1500">
                <a:solidFill>
                  <a:srgbClr val="9D206F"/>
                </a:solidFill>
                <a:latin typeface="Courier New"/>
                <a:ea typeface="Courier New"/>
                <a:cs typeface="Courier New"/>
                <a:sym typeface="Courier New"/>
              </a:rPr>
              <a:t>"."</a:t>
            </a:r>
            <a:r>
              <a:rPr lang="en-US" b="true" i="false" strike="noStrike" u="none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r>
              <a:rPr lang="en-US" b="true" i="false" strike="noStrike" u="none" sz="15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b="true" i="false" strike="noStrike" u="none" sz="15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exit(0);</a:t>
            </a:r>
            <a:r>
              <a:rPr lang="en-US" b="true" i="false" strike="noStrike" u="none" sz="15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366013" y="6400800"/>
            <a:ext cx="1396987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sigsuspend.c</a:t>
            </a:r>
            <a:endParaRPr lang="en-US" sz="1100"/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228600"/>
          </a:xfrm>
          <a:prstGeom prst="roundRect">
            <a:avLst>
              <a:gd name="adj" fmla="val 0"/>
            </a:avLst>
          </a:prstGeom>
          <a:solidFill>
            <a:srgbClr val="99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97813" y="-26988"/>
            <a:ext cx="1309687" cy="277813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Carnegie Mellon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6031" y="6629400"/>
            <a:ext cx="4649342" cy="246221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57018" y="435678"/>
            <a:ext cx="7592093" cy="762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119126" indent="-119126">
              <a:lnSpc>
                <a:spcPct val="100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今日内容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96875" y="1362075"/>
            <a:ext cx="7896225" cy="497205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>
            <a:lvl1pPr marL="647700" indent="-304800"/>
            <a:lvl2pPr marL="996950" indent="-254000"/>
            <a:lvl3pPr marL="1346200" indent="-254000"/>
            <a:lvl4pPr marL="1695450" indent="-254000"/>
            <a:lvl5pPr marL="2044700" indent="-254000"/>
            <a:lvl6pPr marL="2393950" indent="-254000"/>
            <a:lvl7pPr marL="2743200" indent="-254000"/>
            <a:lvl8pPr marL="3092450" indent="-254000"/>
            <a:lvl9pPr marL="3441700" indent="-254000"/>
          </a:lstStyle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  <a:defRPr/>
            </a:pPr>
            <a:r>
              <a:rPr lang="en-US" b="true" i="false" strike="noStrike" u="none" sz="240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Shell</a:t>
            </a:r>
            <a:r>
              <a:rPr lang="en-US" b="true" i="false" strike="noStrike" u="none" sz="240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</a:pPr>
            <a:r>
              <a:rPr lang="en-US" b="true" i="false" strike="noStrike" u="none" sz="240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信号</a:t>
            </a:r>
            <a:r>
              <a:rPr lang="en-US" b="true" i="false" strike="noStrike" u="none" sz="240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非本地跳转</a:t>
            </a:r>
            <a:r>
              <a:rPr lang="en-US" b="true" i="false" strike="noStrike" u="none" sz="240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请参阅教材和附加幻灯片</a:t>
            </a:r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228600"/>
          </a:xfrm>
          <a:prstGeom prst="roundRect">
            <a:avLst>
              <a:gd name="adj" fmla="val 0"/>
            </a:avLst>
          </a:prstGeom>
          <a:solidFill>
            <a:srgbClr val="99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97813" y="-26988"/>
            <a:ext cx="1309687" cy="277813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Carnegie Mellon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6031" y="6629400"/>
            <a:ext cx="4649342" cy="246221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457200" y="493713"/>
            <a:ext cx="2209800" cy="573087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119126" indent="-119126">
              <a:lnSpc>
                <a:spcPct val="100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总结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57200" y="1200150"/>
            <a:ext cx="7896225" cy="497205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>
            <a:lvl1pPr marL="647700" indent="-304800"/>
            <a:lvl2pPr marL="996950" indent="-254000"/>
            <a:lvl3pPr marL="1346200" indent="-254000"/>
            <a:lvl4pPr marL="1695450" indent="-254000"/>
            <a:lvl5pPr marL="2044700" indent="-254000"/>
            <a:lvl6pPr marL="2393950" indent="-254000"/>
            <a:lvl7pPr marL="2743200" indent="-254000"/>
            <a:lvl8pPr marL="3092450" indent="-254000"/>
            <a:lvl9pPr marL="3441700" indent="-254000"/>
          </a:lstStyle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  <a:defRPr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信号提供进程级的异常处理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可以从用户程序产生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可以通过声明信号处理程序来定义其效果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编写信号处理程序时要非常小心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非本地跳转在进程内提供异常控制流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在栈纪律的约束范围内</a:t>
            </a: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228600"/>
          </a:xfrm>
          <a:prstGeom prst="roundRect">
            <a:avLst>
              <a:gd name="adj" fmla="val 0"/>
            </a:avLst>
          </a:prstGeom>
          <a:solidFill>
            <a:srgbClr val="99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97813" y="-26988"/>
            <a:ext cx="1309687" cy="277813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Carnegie Mellon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6031" y="6629400"/>
            <a:ext cx="4649342" cy="246221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57018" y="435678"/>
            <a:ext cx="7592093" cy="762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119126" indent="-119126">
              <a:lnSpc>
                <a:spcPct val="100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附加幻灯片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96875" y="1362075"/>
            <a:ext cx="7896225" cy="497205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228600"/>
          </a:xfrm>
          <a:prstGeom prst="roundRect">
            <a:avLst>
              <a:gd name="adj" fmla="val 0"/>
            </a:avLst>
          </a:prstGeom>
          <a:solidFill>
            <a:srgbClr val="99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97813" y="-26988"/>
            <a:ext cx="1309687" cy="277813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Carnegie Mellon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6031" y="6629400"/>
            <a:ext cx="4649342" cy="246221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457200" y="381000"/>
            <a:ext cx="8534400" cy="9144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119126" indent="-119126">
              <a:lnSpc>
                <a:spcPct val="100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非本地跳转：setjmp/longjmp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55613" y="1444625"/>
            <a:ext cx="8307387" cy="4498975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>
            <a:lvl1pPr marL="647700" indent="-304800"/>
            <a:lvl2pPr marL="996950" indent="-254000"/>
            <a:lvl3pPr marL="1346200" indent="-254000"/>
            <a:lvl4pPr marL="1695450" indent="-254000"/>
            <a:lvl5pPr marL="2044700" indent="-254000"/>
            <a:lvl6pPr marL="2393950" indent="-254000"/>
            <a:lvl7pPr marL="2743200" indent="-254000"/>
            <a:lvl8pPr marL="3092450" indent="-254000"/>
            <a:lvl9pPr marL="3441700" indent="-254000"/>
          </a:lstStyle>
          <a:p>
            <a:pPr algn="l" indent="-342900" marL="342900">
              <a:lnSpc>
                <a:spcPct val="83333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  <a:defRPr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一种强大（但危险）的用户级机制，用于把控制转移到任意位置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lvl="1" indent="-285750" marL="742950">
              <a:lnSpc>
                <a:spcPct val="91666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一种受控的、打破过程调用/返回纪律的方式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indent="-285750" marL="742950">
              <a:lnSpc>
                <a:spcPct val="91666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对错误恢复和信号处理很有用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342900" indent="-342900">
              <a:lnSpc>
                <a:spcPct val="83333"/>
              </a:lnSpc>
              <a:spcBef>
                <a:spcPct val="20000"/>
              </a:spcBef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-342900" marL="342900">
              <a:lnSpc>
                <a:spcPct val="83333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</a:pPr>
            <a:r>
              <a:rPr lang="en-US" b="true" i="false" strike="noStrike" u="none" sz="2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int setjmp(jmp_buf j)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indent="-285750" marL="742950">
              <a:lnSpc>
                <a:spcPct val="91666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必须在 longjmp 之前调用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indent="-285750" marL="742950">
              <a:lnSpc>
                <a:spcPct val="91666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为后续的 longjmp 标识一个返回点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indent="-285750" marL="742950">
              <a:lnSpc>
                <a:spcPct val="91666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只调用一次，但返回一次或多次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342900" indent="-342900">
              <a:lnSpc>
                <a:spcPct val="83333"/>
              </a:lnSpc>
              <a:spcBef>
                <a:spcPct val="20000"/>
              </a:spcBef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-342900" marL="342900">
              <a:lnSpc>
                <a:spcPct val="83333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实现：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indent="-285750" marL="742950">
              <a:lnSpc>
                <a:spcPct val="91666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把当前寄存器上下文、栈指针和 PC 值存储在 jmp_buf 中，以记住你所在的位置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lvl="1" indent="-285750" marL="742950">
              <a:lnSpc>
                <a:spcPct val="91666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返回 0</a:t>
            </a:r>
          </a:p>
        </p:txBody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228600"/>
          </a:xfrm>
          <a:prstGeom prst="roundRect">
            <a:avLst>
              <a:gd name="adj" fmla="val 0"/>
            </a:avLst>
          </a:prstGeom>
          <a:solidFill>
            <a:srgbClr val="99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97813" y="-26988"/>
            <a:ext cx="1309687" cy="277813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Carnegie Mellon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6031" y="6629400"/>
            <a:ext cx="4649342" cy="246221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81000" y="533400"/>
            <a:ext cx="6642100" cy="573087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119126" indent="-119126">
              <a:lnSpc>
                <a:spcPct val="100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setjmp/longjmp（续）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81000" y="1371600"/>
            <a:ext cx="8534400" cy="442595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>
            <a:lvl1pPr marL="647700" indent="-304800"/>
            <a:lvl2pPr marL="996950" indent="-254000"/>
            <a:lvl3pPr marL="1397000" indent="-254000"/>
            <a:lvl4pPr marL="1797050" indent="-254000"/>
            <a:lvl5pPr marL="2197100" indent="-254000"/>
            <a:lvl6pPr marL="2597150" indent="-254000"/>
            <a:lvl7pPr marL="2997200" indent="-254000"/>
            <a:lvl8pPr marL="3397250" indent="-254000"/>
            <a:lvl9pPr marL="3797300" indent="-254000"/>
          </a:lstStyle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  <a:defRPr/>
            </a:pPr>
            <a:r>
              <a:rPr lang="en-US" b="true" i="false" strike="noStrike" u="none" sz="2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void longjmp(jmp_buf j, int i)</a:t>
            </a:r>
            <a:r>
              <a:rPr lang="en-US" b="true" i="false" strike="noStrike" u="none" sz="2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lang="en-US" sz="1100"/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含义：</a:t>
            </a:r>
            <a:r>
              <a:rPr lang="en-US" b="true" i="false" strike="noStrike" u="none" sz="2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lvl="2" indent="-228600" marL="11430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8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再次从跳转缓冲 j 记住的 setjmp 处返回…</a:t>
            </a:r>
            <a:r>
              <a:rPr lang="en-US" b="true" i="false" strike="noStrike" u="none" sz="2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lvl="2" indent="-228600" marL="11430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8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…这次返回 i 而不是 0</a:t>
            </a:r>
            <a:r>
              <a:rPr lang="en-US" b="true" i="false" strike="noStrike" u="none" sz="2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在 setjmp 之后调用</a:t>
            </a:r>
            <a:r>
              <a:rPr lang="en-US" b="true" i="false" strike="noStrike" u="none" sz="2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只调用一次，但从不返回</a:t>
            </a:r>
            <a:r>
              <a:rPr lang="en-US" b="true" i="false" strike="noStrike" u="none" sz="2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</a:pPr>
            <a:r>
              <a:rPr lang="en-US" b="true" i="false" strike="noStrike" u="none" sz="2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longjmp 的实现：</a:t>
            </a:r>
            <a:r>
              <a:rPr lang="en-US" b="true" i="false" strike="noStrike" u="none" sz="2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从跳转缓冲 j 恢复寄存器上下文（栈指针、基址指针、PC 值）</a:t>
            </a:r>
            <a:r>
              <a:rPr lang="en-US" b="true" i="false" strike="noStrike" u="none" sz="2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把 %eax（返回值）设为 i</a:t>
            </a:r>
            <a:r>
              <a:rPr lang="en-US" b="true" i="false" strike="noStrike" u="none" sz="2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跳转到跳转缓冲 j 中存储的 PC 所指示的位置</a:t>
            </a:r>
          </a:p>
        </p:txBody>
      </p:sp>
    </p:spTree>
  </p:cSld>
  <p:clrMapOvr>
    <a:masterClrMapping/>
  </p:clrMapOvr>
  <p:timing>
    <p:tnLst>
      <p:par>
        <p:cTn id="1" nodeType="tmRoot" restart="never" dur="indefinite">
          <p:childTnLst>
            <p:seq concurrent="true" nextAc="seek">
              <p:cTn nodeType="mainSeq" dur="indefinite" id="2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7" nodeType="with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9" nodeType="with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11" nodeType="with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228600"/>
          </a:xfrm>
          <a:prstGeom prst="roundRect">
            <a:avLst>
              <a:gd name="adj" fmla="val 0"/>
            </a:avLst>
          </a:prstGeom>
          <a:solidFill>
            <a:srgbClr val="99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97813" y="-26988"/>
            <a:ext cx="1309687" cy="277813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Carnegie Mellon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6031" y="6629400"/>
            <a:ext cx="4649342" cy="246221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57018" y="435678"/>
            <a:ext cx="7592093" cy="762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119126" indent="-119126">
              <a:lnSpc>
                <a:spcPct val="100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setjmp/longjmp 示例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57018" y="1362075"/>
            <a:ext cx="7936082" cy="923925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>
            <a:lvl1pPr marL="647700" indent="-304800"/>
            <a:lvl2pPr marL="1104900" indent="-304800"/>
            <a:lvl3pPr marL="1562100" indent="-304800"/>
            <a:lvl4pPr marL="2019300" indent="-304800"/>
            <a:lvl5pPr marL="2476500" indent="-304800"/>
            <a:lvl6pPr marL="2933700" indent="-304800"/>
            <a:lvl7pPr marL="3390900" indent="-304800"/>
            <a:lvl8pPr marL="3848100" indent="-304800"/>
            <a:lvl9pPr marL="4305300" indent="-304800"/>
          </a:lstStyle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  <a:defRPr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目标：从深度嵌套的函数直接返回到最初的调用者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58800" y="2438400"/>
            <a:ext cx="4114800" cy="3293209"/>
          </a:xfrm>
          <a:prstGeom prst="roundRect">
            <a:avLst>
              <a:gd name="adj" fmla="val 0"/>
            </a:avLst>
          </a:prstGeom>
          <a:solidFill>
            <a:srgbClr val="F6F5BD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CB2418"/>
                </a:solidFill>
                <a:latin typeface="Menlo-Regular"/>
                <a:ea typeface="Menlo-Regular"/>
                <a:cs typeface="Menlo-Regular"/>
                <a:sym typeface="Menlo-Regular"/>
              </a:rPr>
              <a:t>/* 深度嵌套的函数 foo */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  <a:endParaRPr lang="en-US" sz="1100"/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void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600">
                <a:solidFill>
                  <a:srgbClr val="4A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foo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(</a:t>
            </a:r>
            <a:r>
              <a:rPr lang="en-US" b="true" i="false" strike="noStrike" u="none" sz="16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void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)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{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C2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if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(error1)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	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longjmp(buf, 1);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bar();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}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void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600">
                <a:solidFill>
                  <a:srgbClr val="4A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bar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(</a:t>
            </a:r>
            <a:r>
              <a:rPr lang="en-US" b="true" i="false" strike="noStrike" u="none" sz="16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void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)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{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C2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if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(error2)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longjmp(buf, 2);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}</a:t>
            </a:r>
          </a:p>
        </p:txBody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228600"/>
          </a:xfrm>
          <a:prstGeom prst="roundRect">
            <a:avLst>
              <a:gd name="adj" fmla="val 0"/>
            </a:avLst>
          </a:prstGeom>
          <a:solidFill>
            <a:srgbClr val="99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97813" y="-26988"/>
            <a:ext cx="1309687" cy="277813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Carnegie Mellon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6031" y="6629400"/>
            <a:ext cx="4649342" cy="246221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660525" y="2432050"/>
            <a:ext cx="184150" cy="33655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28600" y="304800"/>
            <a:ext cx="7086600" cy="6112877"/>
          </a:xfrm>
          <a:prstGeom prst="rect">
            <a:avLst/>
          </a:prstGeom>
          <a:solidFill>
            <a:srgbClr val="F6F5BD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jmp_buf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600">
                <a:solidFill>
                  <a:srgbClr val="C1651C"/>
                </a:solidFill>
                <a:latin typeface="Menlo-Regular"/>
                <a:ea typeface="Menlo-Regular"/>
                <a:cs typeface="Menlo-Regular"/>
                <a:sym typeface="Menlo-Regular"/>
              </a:rPr>
              <a:t>buf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;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  <a:endParaRPr lang="en-US" sz="1100"/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int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600">
                <a:solidFill>
                  <a:srgbClr val="C1651C"/>
                </a:solidFill>
                <a:latin typeface="Menlo-Regular"/>
                <a:ea typeface="Menlo-Regular"/>
                <a:cs typeface="Menlo-Regular"/>
                <a:sym typeface="Menlo-Regular"/>
              </a:rPr>
              <a:t>error1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= 0;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int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600">
                <a:solidFill>
                  <a:srgbClr val="C1651C"/>
                </a:solidFill>
                <a:latin typeface="Menlo-Regular"/>
                <a:ea typeface="Menlo-Regular"/>
                <a:cs typeface="Menlo-Regular"/>
                <a:sym typeface="Menlo-Regular"/>
              </a:rPr>
              <a:t>error2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= 1;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void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600">
                <a:solidFill>
                  <a:srgbClr val="4A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foo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(</a:t>
            </a:r>
            <a:r>
              <a:rPr lang="en-US" b="true" i="false" strike="noStrike" u="none" sz="16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void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), </a:t>
            </a:r>
            <a:r>
              <a:rPr lang="en-US" b="true" i="false" strike="noStrike" u="none" sz="1600">
                <a:solidFill>
                  <a:srgbClr val="4A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bar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(</a:t>
            </a:r>
            <a:r>
              <a:rPr lang="en-US" b="true" i="false" strike="noStrike" u="none" sz="16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void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);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int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600">
                <a:solidFill>
                  <a:srgbClr val="4A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main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()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{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C2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switch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(setjmp(buf)) {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C2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case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0: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foo();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C2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break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;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C2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case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1: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printf(</a:t>
            </a:r>
            <a:r>
              <a:rPr lang="en-US" b="true" i="false" strike="noStrike" u="none" sz="1600">
                <a:solidFill>
                  <a:srgbClr val="9D206F"/>
                </a:solidFill>
                <a:latin typeface="Menlo-Regular"/>
                <a:ea typeface="Menlo-Regular"/>
                <a:cs typeface="Menlo-Regular"/>
                <a:sym typeface="Menlo-Regular"/>
              </a:rPr>
              <a:t>"在 foo 中检测到 error1 条件\n"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);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C2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break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;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C2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case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2: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printf(</a:t>
            </a:r>
            <a:r>
              <a:rPr lang="en-US" b="true" i="false" strike="noStrike" u="none" sz="1600">
                <a:solidFill>
                  <a:srgbClr val="9D206F"/>
                </a:solidFill>
                <a:latin typeface="Menlo-Regular"/>
                <a:ea typeface="Menlo-Regular"/>
                <a:cs typeface="Menlo-Regular"/>
                <a:sym typeface="Menlo-Regular"/>
              </a:rPr>
              <a:t>"在 foo 中检测到 error2 条件\n"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);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C2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break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;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C2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default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: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printf(</a:t>
            </a:r>
            <a:r>
              <a:rPr lang="en-US" b="true" i="false" strike="noStrike" u="none" sz="1600">
                <a:solidFill>
                  <a:srgbClr val="9D206F"/>
                </a:solidFill>
                <a:latin typeface="Menlo-Regular"/>
                <a:ea typeface="Menlo-Regular"/>
                <a:cs typeface="Menlo-Regular"/>
                <a:sym typeface="Menlo-Regular"/>
              </a:rPr>
              <a:t>"foo 中的未知错误条件\n"</a:t>
            </a: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);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}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exit(0);</a:t>
            </a:r>
            <a:r>
              <a:rPr lang="en-US" b="true" i="false" strike="noStrike" u="none" sz="16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}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724400" y="457200"/>
            <a:ext cx="4191000" cy="12192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l" marL="119126" indent="-119126">
              <a:lnSpc>
                <a:spcPct val="100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setjmp/longjmp 示例（续）</a:t>
            </a:r>
            <a:endParaRPr lang="en-US" sz="1100"/>
          </a:p>
        </p:txBody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228600"/>
          </a:xfrm>
          <a:prstGeom prst="roundRect">
            <a:avLst>
              <a:gd name="adj" fmla="val 0"/>
            </a:avLst>
          </a:prstGeom>
          <a:solidFill>
            <a:srgbClr val="99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97813" y="-26988"/>
            <a:ext cx="1309687" cy="277813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Carnegie Mellon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6031" y="6629400"/>
            <a:ext cx="4649342" cy="246221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04800" y="417512"/>
            <a:ext cx="7175500" cy="573088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119126" indent="-119126">
              <a:lnSpc>
                <a:spcPct val="100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非本地跳转的限制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08210" y="1066800"/>
            <a:ext cx="8307387" cy="1160463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>
            <a:lvl1pPr marL="647700" indent="-304800"/>
            <a:lvl2pPr marL="996950" indent="-254000"/>
            <a:lvl3pPr marL="1346200" indent="-254000"/>
            <a:lvl4pPr marL="1695450" indent="-254000"/>
            <a:lvl5pPr marL="2044700" indent="-254000"/>
            <a:lvl6pPr marL="2393950" indent="-254000"/>
            <a:lvl7pPr marL="2743200" indent="-254000"/>
            <a:lvl8pPr marL="3092450" indent="-254000"/>
            <a:lvl9pPr marL="3441700" indent="-254000"/>
          </a:lstStyle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  <a:defRPr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在栈纪律内工作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只能长跳转到已被调用但尚未完成的函数的环境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73107" y="2245194"/>
            <a:ext cx="4114800" cy="4495800"/>
          </a:xfrm>
          <a:prstGeom prst="roundRect">
            <a:avLst>
              <a:gd name="adj" fmla="val 0"/>
            </a:avLst>
          </a:prstGeom>
          <a:solidFill>
            <a:srgbClr val="F6F5BD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jmp_buf env;</a:t>
            </a:r>
            <a:r>
              <a:rPr lang="en-US" b="true" i="false" strike="noStrike" u="none" sz="16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lang="en-US" sz="1100"/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P1()</a:t>
            </a:r>
            <a:r>
              <a:rPr lang="en-US" b="true" i="false" strike="noStrike" u="none" sz="16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b="true" i="false" strike="noStrike" u="none" sz="16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if (setjmp(env)) {</a:t>
            </a:r>
            <a:r>
              <a:rPr lang="en-US" b="true" i="false" strike="noStrike" u="none" sz="16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长跳转到此处 */</a:t>
            </a:r>
            <a:r>
              <a:rPr lang="en-US" b="true" i="false" strike="noStrike" u="none" sz="16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 else {</a:t>
            </a:r>
            <a:r>
              <a:rPr lang="en-US" b="true" i="false" strike="noStrike" u="none" sz="16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P2();</a:t>
            </a:r>
            <a:r>
              <a:rPr lang="en-US" b="true" i="false" strike="noStrike" u="none" sz="16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b="true" i="false" strike="noStrike" u="none" sz="16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b="true" i="false" strike="noStrike" u="none" sz="16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P2()</a:t>
            </a:r>
            <a:r>
              <a:rPr lang="en-US" b="true" i="false" strike="noStrike" u="none" sz="16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 . . . P2(); . . . P3(); }</a:t>
            </a:r>
            <a:r>
              <a:rPr lang="en-US" b="true" i="false" strike="noStrike" u="none" sz="16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P3()</a:t>
            </a:r>
            <a:r>
              <a:rPr lang="en-US" b="true" i="false" strike="noStrike" u="none" sz="16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b="true" i="false" strike="noStrike" u="none" sz="16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longjmp(env, 1);</a:t>
            </a:r>
            <a:r>
              <a:rPr lang="en-US" b="true" i="false" strike="noStrike" u="none" sz="16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092893" y="2286000"/>
            <a:ext cx="1143000" cy="685800"/>
          </a:xfrm>
          <a:prstGeom prst="rect">
            <a:avLst/>
          </a:prstGeom>
          <a:solidFill>
            <a:srgbClr val="D6D6F5">
              <a:alpha val="100000"/>
            </a:srgbClr>
          </a:solidFill>
          <a:ln w="25400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wrap="non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P1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092893" y="2971800"/>
            <a:ext cx="1143000" cy="685800"/>
          </a:xfrm>
          <a:prstGeom prst="rect">
            <a:avLst/>
          </a:prstGeom>
          <a:solidFill>
            <a:srgbClr val="D6D6F5">
              <a:alpha val="100000"/>
            </a:srgbClr>
          </a:solidFill>
          <a:ln w="25400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wrap="non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P2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092893" y="3657600"/>
            <a:ext cx="1143000" cy="685800"/>
          </a:xfrm>
          <a:prstGeom prst="rect">
            <a:avLst/>
          </a:prstGeom>
          <a:solidFill>
            <a:srgbClr val="D6D6F5">
              <a:alpha val="100000"/>
            </a:srgbClr>
          </a:solidFill>
          <a:ln w="25400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wrap="non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P2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092893" y="4343400"/>
            <a:ext cx="1143000" cy="685800"/>
          </a:xfrm>
          <a:prstGeom prst="rect">
            <a:avLst/>
          </a:prstGeom>
          <a:solidFill>
            <a:srgbClr val="D6D6F5">
              <a:alpha val="100000"/>
            </a:srgbClr>
          </a:solidFill>
          <a:ln w="25400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wrap="non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P2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092893" y="5029200"/>
            <a:ext cx="1143000" cy="685800"/>
          </a:xfrm>
          <a:prstGeom prst="rect">
            <a:avLst/>
          </a:prstGeom>
          <a:solidFill>
            <a:srgbClr val="D6D6F5">
              <a:alpha val="100000"/>
            </a:srgbClr>
          </a:solidFill>
          <a:ln w="25400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wrap="non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P3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0" flipH="false" flipV="false">
            <a:off x="5559493" y="2590800"/>
            <a:ext cx="533400" cy="0"/>
          </a:xfrm>
          <a:prstGeom prst="line">
            <a:avLst/>
          </a:prstGeom>
          <a:noFill/>
          <a:ln w="25400">
            <a:solidFill>
              <a:srgbClr val="000000">
                <a:alpha val="100000"/>
              </a:srgbClr>
            </a:solidFill>
            <a:prstDash val="sysDot"/>
            <a:round/>
            <a:headEnd type="none" w="med" len="med"/>
            <a:tailEnd type="triangl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5254693" y="2209800"/>
            <a:ext cx="550863" cy="336550"/>
          </a:xfrm>
          <a:prstGeom prst="rect">
            <a:avLst/>
          </a:prstGeom>
          <a:noFill/>
          <a:ln w="12700">
            <a:noFill/>
            <a:prstDash val="solid"/>
            <a:miter lim="800000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env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93093" y="2286000"/>
            <a:ext cx="1143000" cy="685800"/>
          </a:xfrm>
          <a:prstGeom prst="rect">
            <a:avLst/>
          </a:prstGeom>
          <a:solidFill>
            <a:srgbClr val="D6D6F5">
              <a:alpha val="100000"/>
            </a:srgbClr>
          </a:solidFill>
          <a:ln w="25400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wrap="non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P1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984406" y="1981200"/>
            <a:ext cx="1493870" cy="338554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longjmp 之前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585125" y="1981200"/>
            <a:ext cx="1365182" cy="338554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longjmp 之后</a:t>
            </a:r>
            <a:endParaRPr lang="en-US" sz="1100"/>
          </a:p>
        </p:txBody>
      </p: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228600"/>
          </a:xfrm>
          <a:prstGeom prst="roundRect">
            <a:avLst>
              <a:gd name="adj" fmla="val 0"/>
            </a:avLst>
          </a:prstGeom>
          <a:solidFill>
            <a:srgbClr val="99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97813" y="-26988"/>
            <a:ext cx="1309687" cy="277813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Carnegie Mellon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6031" y="6629400"/>
            <a:ext cx="4649342" cy="246221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04800" y="417512"/>
            <a:ext cx="7937500" cy="573088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119126" indent="-119126">
              <a:lnSpc>
                <a:spcPct val="100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长跳转的限制（续）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26809" y="1049337"/>
            <a:ext cx="8307387" cy="1160463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>
            <a:lvl1pPr marL="647700" indent="-304800"/>
            <a:lvl2pPr marL="996950" indent="-254000"/>
            <a:lvl3pPr marL="1346200" indent="-254000"/>
            <a:lvl4pPr marL="1695450" indent="-254000"/>
            <a:lvl5pPr marL="2044700" indent="-254000"/>
            <a:lvl6pPr marL="2393950" indent="-254000"/>
            <a:lvl7pPr marL="2743200" indent="-254000"/>
            <a:lvl8pPr marL="3092450" indent="-254000"/>
            <a:lvl9pPr marL="3441700" indent="-254000"/>
          </a:lstStyle>
          <a:p>
            <a:pPr algn="l" indent="-342900" marL="34290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60000"/>
              <a:buChar char="¢"/>
              <a:defRPr/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在栈纪律内工作</a:t>
            </a: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lvl="1" indent="-285750" marL="742950">
              <a:lnSpc>
                <a:spcPct val="100000"/>
              </a:lnSpc>
              <a:spcBef>
                <a:spcPct val="20000"/>
              </a:spcBef>
              <a:buClr>
                <a:srgbClr val="990000"/>
              </a:buClr>
              <a:buSzPct val="110000"/>
              <a:buFont typeface="Wingdings"/>
              <a:buChar char="n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只能长跳转到已被调用但尚未完成的函数的环境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96703" y="2286000"/>
            <a:ext cx="4114800" cy="4495800"/>
          </a:xfrm>
          <a:prstGeom prst="roundRect">
            <a:avLst>
              <a:gd name="adj" fmla="val 0"/>
            </a:avLst>
          </a:prstGeom>
          <a:solidFill>
            <a:srgbClr val="F6F5BD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jmp_buf env;</a:t>
            </a:r>
            <a:r>
              <a:rPr lang="en-US" b="true" i="false" strike="noStrike" u="none" sz="16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lang="en-US" sz="1100"/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P1()</a:t>
            </a:r>
            <a:r>
              <a:rPr lang="en-US" b="true" i="false" strike="noStrike" u="none" sz="16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b="true" i="false" strike="noStrike" u="none" sz="16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P2(); P3();</a:t>
            </a:r>
            <a:r>
              <a:rPr lang="en-US" b="true" i="false" strike="noStrike" u="none" sz="16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b="true" i="false" strike="noStrike" u="none" sz="16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P2()</a:t>
            </a:r>
            <a:r>
              <a:rPr lang="en-US" b="true" i="false" strike="noStrike" u="none" sz="16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b="true" i="false" strike="noStrike" u="none" sz="16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if (setjmp(env)) {</a:t>
            </a:r>
            <a:r>
              <a:rPr lang="en-US" b="true" i="false" strike="noStrike" u="none" sz="16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长跳转到此处 */</a:t>
            </a:r>
            <a:r>
              <a:rPr lang="en-US" b="true" i="false" strike="noStrike" u="none" sz="16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b="true" i="false" strike="noStrike" u="none" sz="16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b="true" i="false" strike="noStrike" u="none" sz="16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P3()</a:t>
            </a:r>
            <a:r>
              <a:rPr lang="en-US" b="true" i="false" strike="noStrike" u="none" sz="16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b="true" i="false" strike="noStrike" u="none" sz="16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longjmp(env, 1);</a:t>
            </a:r>
            <a:r>
              <a:rPr lang="en-US" b="true" i="false" strike="noStrike" u="none" sz="1600">
                <a:solidFill>
                  <a:srgbClr val="1F232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181600" y="3057525"/>
            <a:ext cx="550863" cy="336550"/>
          </a:xfrm>
          <a:prstGeom prst="rect">
            <a:avLst/>
          </a:prstGeom>
          <a:noFill/>
          <a:ln w="12700">
            <a:noFill/>
            <a:prstDash val="solid"/>
            <a:miter lim="800000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env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019800" y="1990725"/>
            <a:ext cx="1143000" cy="685800"/>
          </a:xfrm>
          <a:prstGeom prst="rect">
            <a:avLst/>
          </a:prstGeom>
          <a:solidFill>
            <a:srgbClr val="D6D6F5">
              <a:alpha val="100000"/>
            </a:srgbClr>
          </a:solidFill>
          <a:ln w="25400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wrap="non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P1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019800" y="2676525"/>
            <a:ext cx="1143000" cy="685800"/>
          </a:xfrm>
          <a:prstGeom prst="rect">
            <a:avLst/>
          </a:prstGeom>
          <a:solidFill>
            <a:srgbClr val="D6D6F5">
              <a:alpha val="100000"/>
            </a:srgbClr>
          </a:solidFill>
          <a:ln w="25400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wrap="non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P2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0" flipH="false" flipV="false">
            <a:off x="5486400" y="3057525"/>
            <a:ext cx="533400" cy="0"/>
          </a:xfrm>
          <a:prstGeom prst="line">
            <a:avLst/>
          </a:prstGeom>
          <a:noFill/>
          <a:ln w="25400">
            <a:solidFill>
              <a:srgbClr val="000000">
                <a:alpha val="100000"/>
              </a:srgbClr>
            </a:solidFill>
            <a:prstDash val="sysDot"/>
            <a:round/>
            <a:headEnd type="none" w="med" len="med"/>
            <a:tailEnd type="triangl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5926137" y="3319462"/>
            <a:ext cx="1004888" cy="338138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在 setjmp 时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96200" y="5038725"/>
            <a:ext cx="1143000" cy="685800"/>
          </a:xfrm>
          <a:prstGeom prst="rect">
            <a:avLst/>
          </a:prstGeom>
          <a:solidFill>
            <a:srgbClr val="D6D6F5">
              <a:alpha val="100000"/>
            </a:srgbClr>
          </a:solidFill>
          <a:ln w="25400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wrap="non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P1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96200" y="5724525"/>
            <a:ext cx="1143000" cy="685800"/>
          </a:xfrm>
          <a:prstGeom prst="rect">
            <a:avLst/>
          </a:prstGeom>
          <a:solidFill>
            <a:srgbClr val="D6D6F5">
              <a:alpha val="100000"/>
            </a:srgbClr>
          </a:solidFill>
          <a:ln w="25400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wrap="non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P3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0" flipH="false" flipV="false">
            <a:off x="7162800" y="6105525"/>
            <a:ext cx="533400" cy="0"/>
          </a:xfrm>
          <a:prstGeom prst="line">
            <a:avLst/>
          </a:prstGeom>
          <a:noFill/>
          <a:ln w="25400">
            <a:solidFill>
              <a:srgbClr val="000000">
                <a:alpha val="100000"/>
              </a:srgbClr>
            </a:solidFill>
            <a:prstDash val="sysDot"/>
            <a:round/>
            <a:headEnd type="none" w="med" len="med"/>
            <a:tailEnd type="triangl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6858000" y="5724525"/>
            <a:ext cx="550862" cy="336550"/>
          </a:xfrm>
          <a:prstGeom prst="rect">
            <a:avLst/>
          </a:prstGeom>
          <a:noFill/>
          <a:ln w="12700">
            <a:noFill/>
            <a:prstDash val="solid"/>
            <a:miter lim="800000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env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02538" y="6367462"/>
            <a:ext cx="1119188" cy="338138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在 longjmp 时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239000" y="5942012"/>
            <a:ext cx="298450" cy="338137"/>
          </a:xfrm>
          <a:prstGeom prst="rect">
            <a:avLst/>
          </a:prstGeom>
          <a:noFill/>
          <a:ln w="12700">
            <a:noFill/>
            <a:prstDash val="solid"/>
            <a:miter lim="800000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019800" y="3819525"/>
            <a:ext cx="1143000" cy="685800"/>
          </a:xfrm>
          <a:prstGeom prst="rect">
            <a:avLst/>
          </a:prstGeom>
          <a:solidFill>
            <a:srgbClr val="D6D6F5">
              <a:alpha val="100000"/>
            </a:srgbClr>
          </a:solidFill>
          <a:ln w="25400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wrap="non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P1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019800" y="4505325"/>
            <a:ext cx="1143000" cy="685800"/>
          </a:xfrm>
          <a:prstGeom prst="rect">
            <a:avLst/>
          </a:prstGeom>
          <a:solidFill>
            <a:srgbClr val="F2F2F2">
              <a:alpha val="100000"/>
            </a:srgbClr>
          </a:solidFill>
          <a:ln w="25400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wrap="non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P2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0" flipH="false" flipV="false">
            <a:off x="5486400" y="4886325"/>
            <a:ext cx="533400" cy="0"/>
          </a:xfrm>
          <a:prstGeom prst="line">
            <a:avLst/>
          </a:prstGeom>
          <a:noFill/>
          <a:ln w="25400">
            <a:solidFill>
              <a:srgbClr val="000000">
                <a:alpha val="100000"/>
              </a:srgbClr>
            </a:solidFill>
            <a:prstDash val="sysDot"/>
            <a:round/>
            <a:headEnd type="none" w="med" len="med"/>
            <a:tailEnd type="triangl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5905500" y="5148262"/>
            <a:ext cx="1063625" cy="338138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P2 返回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5334000" y="4505325"/>
            <a:ext cx="550863" cy="336550"/>
          </a:xfrm>
          <a:prstGeom prst="rect">
            <a:avLst/>
          </a:prstGeom>
          <a:noFill/>
          <a:ln w="12700">
            <a:noFill/>
            <a:prstDash val="solid"/>
            <a:miter lim="800000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env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5562600" y="4722812"/>
            <a:ext cx="298450" cy="338138"/>
          </a:xfrm>
          <a:prstGeom prst="rect">
            <a:avLst/>
          </a:prstGeom>
          <a:noFill/>
          <a:ln w="12700">
            <a:noFill/>
            <a:prstDash val="solid"/>
            <a:miter lim="800000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lang="en-US" sz="1100"/>
          </a:p>
        </p:txBody>
      </p: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228600"/>
          </a:xfrm>
          <a:prstGeom prst="roundRect">
            <a:avLst>
              <a:gd name="adj" fmla="val 0"/>
            </a:avLst>
          </a:prstGeom>
          <a:solidFill>
            <a:srgbClr val="99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97813" y="-26988"/>
            <a:ext cx="1309687" cy="277813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Carnegie Mellon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6031" y="6629400"/>
            <a:ext cx="4649342" cy="246221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81000" y="428625"/>
            <a:ext cx="8458200" cy="1095375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综合应用：一个程序</a:t>
            </a: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true" i="false" strike="noStrike" u="none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在按下 ctrl-c 时自我重启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57200" y="1524000"/>
            <a:ext cx="5048716" cy="5262978"/>
          </a:xfrm>
          <a:prstGeom prst="roundRect">
            <a:avLst>
              <a:gd name="adj" fmla="val 0"/>
            </a:avLst>
          </a:prstGeom>
          <a:solidFill>
            <a:srgbClr val="F6F5BD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926492"/>
                </a:solidFill>
                <a:latin typeface="Menlo-Regular"/>
                <a:ea typeface="Menlo-Regular"/>
                <a:cs typeface="Menlo-Regular"/>
                <a:sym typeface="Menlo-Regular"/>
              </a:rPr>
              <a:t>#include</a:t>
            </a: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400">
                <a:solidFill>
                  <a:srgbClr val="9D206F"/>
                </a:solidFill>
                <a:latin typeface="Menlo-Regular"/>
                <a:ea typeface="Menlo-Regular"/>
                <a:cs typeface="Menlo-Regular"/>
                <a:sym typeface="Menlo-Regular"/>
              </a:rPr>
              <a:t>"csapp.h"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  <a:endParaRPr lang="en-US" sz="1100"/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sigjmp_buf</a:t>
            </a: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400">
                <a:solidFill>
                  <a:srgbClr val="C1651C"/>
                </a:solidFill>
                <a:latin typeface="Menlo-Regular"/>
                <a:ea typeface="Menlo-Regular"/>
                <a:cs typeface="Menlo-Regular"/>
                <a:sym typeface="Menlo-Regular"/>
              </a:rPr>
              <a:t>buf</a:t>
            </a: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;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void</a:t>
            </a: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400">
                <a:solidFill>
                  <a:srgbClr val="4A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handler</a:t>
            </a: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(</a:t>
            </a:r>
            <a:r>
              <a:rPr lang="en-US" b="true" i="false" strike="noStrike" u="none" sz="14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int</a:t>
            </a: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400">
                <a:solidFill>
                  <a:srgbClr val="C1651C"/>
                </a:solidFill>
                <a:latin typeface="Menlo-Regular"/>
                <a:ea typeface="Menlo-Regular"/>
                <a:cs typeface="Menlo-Regular"/>
                <a:sym typeface="Menlo-Regular"/>
              </a:rPr>
              <a:t>sig</a:t>
            </a: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)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{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siglongjmp(buf, 1);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}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2D961E"/>
                </a:solidFill>
                <a:latin typeface="Menlo-Regular"/>
                <a:ea typeface="Menlo-Regular"/>
                <a:cs typeface="Menlo-Regular"/>
                <a:sym typeface="Menlo-Regular"/>
              </a:rPr>
              <a:t>int</a:t>
            </a: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</a:t>
            </a:r>
            <a:r>
              <a:rPr lang="en-US" b="true" i="false" strike="noStrike" u="none" sz="1400">
                <a:solidFill>
                  <a:srgbClr val="4A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main</a:t>
            </a: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()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{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C2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if</a:t>
            </a: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 (!sigsetjmp(buf, 1)) {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Signal(SIGINT, handler);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	</a:t>
            </a: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Sio_puts(</a:t>
            </a:r>
            <a:r>
              <a:rPr lang="en-US" b="true" i="false" strike="noStrike" u="none" sz="1400">
                <a:solidFill>
                  <a:srgbClr val="9D206F"/>
                </a:solidFill>
                <a:latin typeface="Menlo-Regular"/>
                <a:ea typeface="Menlo-Regular"/>
                <a:cs typeface="Menlo-Regular"/>
                <a:sym typeface="Menlo-Regular"/>
              </a:rPr>
              <a:t>"开始\n"</a:t>
            </a: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);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}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C2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else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Sio_puts(</a:t>
            </a:r>
            <a:r>
              <a:rPr lang="en-US" b="true" i="false" strike="noStrike" u="none" sz="1400">
                <a:solidFill>
                  <a:srgbClr val="9D206F"/>
                </a:solidFill>
                <a:latin typeface="Menlo-Regular"/>
                <a:ea typeface="Menlo-Regular"/>
                <a:cs typeface="Menlo-Regular"/>
                <a:sym typeface="Menlo-Regular"/>
              </a:rPr>
              <a:t>"重启\n"</a:t>
            </a: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);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C200FF"/>
                </a:solidFill>
                <a:latin typeface="Menlo-Regular"/>
                <a:ea typeface="Menlo-Regular"/>
                <a:cs typeface="Menlo-Regular"/>
                <a:sym typeface="Menlo-Regular"/>
              </a:rPr>
              <a:t>while</a:t>
            </a: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(1) {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	</a:t>
            </a: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Sleep(1);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	</a:t>
            </a: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Sio_puts(</a:t>
            </a:r>
            <a:r>
              <a:rPr lang="en-US" b="true" i="false" strike="noStrike" u="none" sz="1400">
                <a:solidFill>
                  <a:srgbClr val="9D206F"/>
                </a:solidFill>
                <a:latin typeface="Menlo-Regular"/>
                <a:ea typeface="Menlo-Regular"/>
                <a:cs typeface="Menlo-Regular"/>
                <a:sym typeface="Menlo-Regular"/>
              </a:rPr>
              <a:t>"处理中...\n"</a:t>
            </a: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);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}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exit(0); </a:t>
            </a:r>
            <a:r>
              <a:rPr lang="en-US" b="true" i="false" strike="noStrike" u="none" sz="1400">
                <a:solidFill>
                  <a:srgbClr val="CB2418"/>
                </a:solidFill>
                <a:latin typeface="Menlo-Regular"/>
                <a:ea typeface="Menlo-Regular"/>
                <a:cs typeface="Menlo-Regular"/>
                <a:sym typeface="Menlo-Regular"/>
              </a:rPr>
              <a:t>/* 控制永远不会到达这里 */</a:t>
            </a:r>
            <a:r>
              <a:rPr lang="en-US" b="true" i="false" strike="noStrike" u="none" sz="1400">
                <a:solidFill>
                  <a:srgbClr val="1F2329"/>
                </a:solidFill>
                <a:latin typeface="Menlo-Regular"/>
                <a:ea typeface="Menlo-Regular"/>
                <a:cs typeface="Menlo-Regular"/>
                <a:sym typeface="Menlo-Regular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000000"/>
                </a:solidFill>
                <a:latin typeface="Menlo-Regular"/>
                <a:ea typeface="Menlo-Regular"/>
                <a:cs typeface="Menlo-Regular"/>
                <a:sym typeface="Menlo-Regular"/>
              </a:rPr>
              <a:t>}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572000" y="6412468"/>
            <a:ext cx="981872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restart.c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691063" y="2101840"/>
            <a:ext cx="3303588" cy="3046988"/>
          </a:xfrm>
          <a:prstGeom prst="roundRect">
            <a:avLst>
              <a:gd name="adj" fmla="val 0"/>
            </a:avLst>
          </a:prstGeom>
          <a:solidFill>
            <a:srgbClr val="E0E0E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greatwhite&gt; ./restart</a:t>
            </a: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lang="en-US" sz="1100"/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开始</a:t>
            </a: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处理中...</a:t>
            </a: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处理中...</a:t>
            </a: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处理中...</a:t>
            </a: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重启</a:t>
            </a: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处理中...</a:t>
            </a: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处理中...</a:t>
            </a: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重启</a:t>
            </a: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处理中...</a:t>
            </a: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处理中...</a:t>
            </a: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处理中...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385048" y="3440113"/>
            <a:ext cx="646113" cy="338138"/>
          </a:xfrm>
          <a:prstGeom prst="rect">
            <a:avLst/>
          </a:prstGeom>
          <a:noFill/>
          <a:ln w="12700">
            <a:noFill/>
            <a:prstDash val="solid"/>
            <a:miter lim="800000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Ctrl-c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0" flipH="false" flipV="false">
            <a:off x="6153148" y="3668713"/>
            <a:ext cx="1308100" cy="0"/>
          </a:xfrm>
          <a:prstGeom prst="line">
            <a:avLst/>
          </a:prstGeom>
          <a:noFill/>
          <a:ln w="25400">
            <a:solidFill>
              <a:srgbClr val="C00000">
                <a:alpha val="100000"/>
              </a:srgbClr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name="Connector 11" id="11"/>
          <p:cNvCxnSpPr/>
          <p:nvPr/>
        </p:nvCxnSpPr>
        <p:spPr>
          <a:xfrm rot="0" flipH="false" flipV="false">
            <a:off x="6153595" y="4511675"/>
            <a:ext cx="1242568" cy="0"/>
          </a:xfrm>
          <a:prstGeom prst="line">
            <a:avLst/>
          </a:prstGeom>
          <a:noFill/>
          <a:ln w="25400">
            <a:solidFill>
              <a:srgbClr val="C00000">
                <a:alpha val="100000"/>
              </a:srgbClr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7396163" y="4354512"/>
            <a:ext cx="646331" cy="338554"/>
          </a:xfrm>
          <a:prstGeom prst="rect">
            <a:avLst/>
          </a:prstGeom>
          <a:noFill/>
          <a:ln w="12700">
            <a:noFill/>
            <a:prstDash val="solid"/>
            <a:miter lim="800000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Ctrl-c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6357084"/>
            <a:ext cx="1143000" cy="5009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emplate2007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