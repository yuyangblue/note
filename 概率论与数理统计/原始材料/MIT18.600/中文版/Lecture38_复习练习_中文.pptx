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18.600 第 38 讲：复习 · 练习题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B5CAB"/>
                </a:solidFill>
                <a:latin typeface="Microsoft YaHei"/>
              </a:rPr>
              <a:t>Scott Sheffield · MIT · 中文翻译版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（Review: practice problems）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次序统计量（Order statistics）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 [−1, 1] 上服从均匀分布的随机变量。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 [−1, 1] 上服从均匀分布的随机变量。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t>X2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的方差。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 [−1, 1] 上服从均匀分布的随机变量。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t>X2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的方差。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若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1</m:t>
                        </m:r>
                      </m:sub>
                    </m:sSub>
                    <m:r>
                      <m:rPr>
                        <m:sz m:val="38"/>
                      </m:rPr>
                      <m:t>,…,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n</m:t>
                        </m:r>
                      </m:sub>
                    </m:sSub>
                  </m:oMath>
                </a14:m>
              </mc:Choice>
              <mc:Fallback>
                <a:r>
                  <a:t>X1,…,Xn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是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的独立副本，求其中最小者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min{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1</m:t>
                        </m:r>
                      </m:sub>
                    </m:sSub>
                    <m:r>
                      <m:rPr>
                        <m:sz m:val="38"/>
                      </m:rPr>
                      <m:t>,…,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n</m:t>
                        </m:r>
                      </m:sub>
                    </m:sSub>
                    <m:r>
                      <m:rPr>
                        <m:sz m:val="38"/>
                      </m:rPr>
                      <m:t>}</m:t>
                    </m:r>
                  </m:oMath>
                </a14:m>
              </mc:Choice>
              <mc:Fallback>
                <a:r>
                  <a:t>min{X1,…,Xn}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的概率密度函数。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  <m:sz m:val="38"/>
                      </m:rPr>
                      <m:t>Var</m:t>
                    </m:r>
                    <m:r>
                      <m:rPr>
                        <m:sz m:val="38"/>
                      </m:rPr>
                      <m:t>[</m:t>
                    </m:r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]=E[</m:t>
                    </m:r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4</m:t>
                        </m:r>
                      </m:sup>
                    </m:sSup>
                    <m:r>
                      <m:rPr>
                        <m:sz m:val="38"/>
                      </m:rPr>
                      <m:t>]−(E[</m:t>
                    </m:r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]</m:t>
                    </m:r>
                    <m:sSup>
                      <m:e>
                        <m:r>
                          <m:rPr>
                            <m:sz m:val="38"/>
                          </m:rPr>
                          <m:t>)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t>Var[X2]=E[X4]−(E[X2])2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=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grow m:val="1"/>
                        <m:subHide m:val="off"/>
                        <m:supHide m:val="off"/>
                      </m:naryPr>
                      <m:sub>
                        <m:r>
                          <m:rPr>
                            <m:sz m:val="38"/>
                          </m:rPr>
                          <m:t>−1</m:t>
                        </m:r>
                      </m:sub>
                      <m:sup>
                        <m:r>
                          <m:rPr>
                            <m:sz m:val="38"/>
                          </m:rP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2</m:t>
                            </m:r>
                          </m:den>
                        </m:f>
                      </m:e>
                    </m:nary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4</m:t>
                        </m:r>
                      </m:sup>
                    </m:sSup>
                    <m:r>
                      <m:rPr>
                        <m:sz m:val="38"/>
                      </m:rPr>
                      <m:t>dx−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nary>
                              <m:naryPr>
                                <m:chr m:val="∫"/>
                                <m:limLoc m:val="subSup"/>
                                <m:grow m:val="1"/>
                                <m:subHide m:val="off"/>
                                <m:supHide m:val="off"/>
                              </m:naryPr>
                              <m:sub>
                                <m:r>
                                  <m:rPr>
                                    <m:sz m:val="38"/>
                                  </m:rPr>
                                  <m:t>−1</m:t>
                                </m:r>
                              </m:sub>
                              <m:sup>
                                <m:r>
                                  <m:rPr>
                                    <m:sz m:val="38"/>
                                  </m:rPr>
                                  <m:t>1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rPr>
                                        <m:sz m:val="38"/>
                                      </m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z m:val="38"/>
                                      </m:rPr>
                                      <m:t>2</m:t>
                                    </m:r>
                                  </m:den>
                                </m:f>
                              </m:e>
                            </m:nary>
                            <m:sSup>
                              <m:e>
                                <m:r>
                                  <m:rPr>
                                    <m:sz m:val="38"/>
                                  </m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z m:val="38"/>
                                  </m:rPr>
                                  <m:t>2</m:t>
                                </m:r>
                              </m:sup>
                            </m:sSup>
                            <m:r>
                              <m:rPr>
                                <m:sz m:val="38"/>
                              </m:rPr>
                              <m:t>d</m:t>
                            </m:r>
                            <m:r>
                              <m:rPr>
                                <m:sz m:val="38"/>
                              </m:rP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5</m:t>
                        </m:r>
                      </m:den>
                    </m:f>
                    <m:r>
                      <m:rPr>
                        <m:sz m:val="38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r>
                      <m:rPr>
                        <m:sz m:val="38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4</m:t>
                        </m:r>
                      </m:num>
                      <m:den>
                        <m:r>
                          <m:rPr>
                            <m:sz m:val="38"/>
                          </m:rPr>
                          <m:t>45</m:t>
                        </m:r>
                      </m:den>
                    </m:f>
                  </m:oMath>
                </a14:m>
              </mc:Choice>
              <mc:Fallback>
                <a:r>
                  <a:t>∫−1112x4dx−(∫−1112x2dx)2=15−19=445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  <m:sz m:val="38"/>
                      </m:rPr>
                      <m:t>Var</m:t>
                    </m:r>
                    <m:r>
                      <m:rPr>
                        <m:sz m:val="38"/>
                      </m:rPr>
                      <m:t>[</m:t>
                    </m:r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]=E[</m:t>
                    </m:r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4</m:t>
                        </m:r>
                      </m:sup>
                    </m:sSup>
                    <m:r>
                      <m:rPr>
                        <m:sz m:val="38"/>
                      </m:rPr>
                      <m:t>]−(E[</m:t>
                    </m:r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]</m:t>
                    </m:r>
                    <m:sSup>
                      <m:e>
                        <m:r>
                          <m:rPr>
                            <m:sz m:val="38"/>
                          </m:rPr>
                          <m:t>)</m:t>
                        </m:r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grow m:val="1"/>
                        <m:subHide m:val="off"/>
                        <m:supHide m:val="off"/>
                      </m:naryPr>
                      <m:sub>
                        <m:r>
                          <m:rPr>
                            <m:sz m:val="38"/>
                          </m:rPr>
                          <m:t>−1</m:t>
                        </m:r>
                      </m:sub>
                      <m:sup>
                        <m:r>
                          <m:rPr>
                            <m:sz m:val="38"/>
                          </m:rP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2</m:t>
                            </m:r>
                          </m:den>
                        </m:f>
                      </m:e>
                    </m:nary>
                    <m:sSup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p>
                        <m:r>
                          <m:rPr>
                            <m:sz m:val="38"/>
                          </m:rPr>
                          <m:t>4</m:t>
                        </m:r>
                      </m:sup>
                    </m:sSup>
                    <m:r>
                      <m:rPr>
                        <m:sz m:val="38"/>
                      </m:rPr>
                      <m:t>dx−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nary>
                              <m:naryPr>
                                <m:chr m:val="∫"/>
                                <m:limLoc m:val="subSup"/>
                                <m:grow m:val="1"/>
                                <m:subHide m:val="off"/>
                                <m:supHide m:val="off"/>
                              </m:naryPr>
                              <m:sub>
                                <m:r>
                                  <m:rPr>
                                    <m:sz m:val="38"/>
                                  </m:rPr>
                                  <m:t>−1</m:t>
                                </m:r>
                              </m:sub>
                              <m:sup>
                                <m:r>
                                  <m:rPr>
                                    <m:sz m:val="38"/>
                                  </m:rPr>
                                  <m:t>1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rPr>
                                        <m:sz m:val="38"/>
                                      </m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z m:val="38"/>
                                      </m:rPr>
                                      <m:t>2</m:t>
                                    </m:r>
                                  </m:den>
                                </m:f>
                              </m:e>
                            </m:nary>
                            <m:sSup>
                              <m:e>
                                <m:r>
                                  <m:rPr>
                                    <m:sz m:val="38"/>
                                  </m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z m:val="38"/>
                                  </m:rPr>
                                  <m:t>2</m:t>
                                </m:r>
                              </m:sup>
                            </m:sSup>
                            <m:r>
                              <m:rPr>
                                <m:sz m:val="38"/>
                              </m:rPr>
                              <m:t>d</m:t>
                            </m:r>
                            <m:r>
                              <m:rPr>
                                <m:sz m:val="38"/>
                              </m:rP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z m:val="38"/>
                          </m:rPr>
                          <m:t>2</m:t>
                        </m:r>
                      </m:sup>
                    </m:sSup>
                    <m:r>
                      <m:rPr>
                        <m:sz m:val="38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5</m:t>
                        </m:r>
                      </m:den>
                    </m:f>
                    <m:r>
                      <m:rPr>
                        <m:sz m:val="38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r>
                      <m:rPr>
                        <m:sz m:val="38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4</m:t>
                        </m:r>
                      </m:num>
                      <m:den>
                        <m:r>
                          <m:rPr>
                            <m:sz m:val="38"/>
                          </m:rPr>
                          <m:t>45</m:t>
                        </m:r>
                      </m:den>
                    </m:f>
                  </m:oMath>
                </a14:m>
              </mc:Choice>
              <mc:Fallback>
                <a:r>
                  <a:t>Var[X2]=E[X4]−(E[X2])2=∫−1112x4dx−(∫−1112x2dx)2=15−19=445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注意：对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x∈[−1,1]</m:t>
                    </m:r>
                  </m:oMath>
                </a14:m>
              </mc:Choice>
              <mc:Fallback>
                <a:r>
                  <a:t>x∈[−1,1]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，有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P{X&gt;x}=</m:t>
                    </m:r>
                    <m:nary>
                      <m:naryPr>
                        <m:chr m:val="∫"/>
                        <m:limLoc m:val="subSup"/>
                        <m:grow m:val="1"/>
                        <m:subHide m:val="off"/>
                        <m:supHide m:val="off"/>
                      </m:naryPr>
                      <m:sub>
                        <m:r>
                          <m:rPr>
                            <m:sz m:val="38"/>
                          </m:rPr>
                          <m:t>x</m:t>
                        </m:r>
                      </m:sub>
                      <m:sup>
                        <m:r>
                          <m:rPr>
                            <m:sz m:val="38"/>
                          </m:rP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z m:val="38"/>
                      </m:rPr>
                      <m:t>dx=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1−x</m:t>
                        </m:r>
                      </m:num>
                      <m:den>
                        <m:r>
                          <m:rPr>
                            <m:sz m:val="38"/>
                          </m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t>P{X&gt;x}=∫x112dx=1−x2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若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x∈[−1,1]</m:t>
                    </m:r>
                  </m:oMath>
                </a14:m>
              </mc:Choice>
              <mc:Fallback>
                <a:r>
                  <a:t>x∈[−1,1]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，则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P{min{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1</m:t>
                        </m:r>
                      </m:sub>
                    </m:sSub>
                    <m:r>
                      <m:rPr>
                        <m:sz m:val="38"/>
                      </m:rPr>
                      <m:t>,…,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n</m:t>
                        </m:r>
                      </m:sub>
                    </m:sSub>
                    <m:r>
                      <m:rPr>
                        <m:sz m:val="38"/>
                      </m:rPr>
                      <m:t>}&gt;x}=P{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1</m:t>
                        </m:r>
                      </m:sub>
                    </m:sSub>
                    <m:r>
                      <m:rPr>
                        <m:sz m:val="38"/>
                      </m:rPr>
                      <m:t>&gt;x,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2</m:t>
                        </m:r>
                      </m:sub>
                    </m:sSub>
                    <m:r>
                      <m:rPr>
                        <m:sz m:val="38"/>
                      </m:rPr>
                      <m:t>&gt;x,…,</m:t>
                    </m:r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n</m:t>
                        </m:r>
                      </m:sub>
                    </m:sSub>
                    <m:r>
                      <m:rPr>
                        <m:sz m:val="38"/>
                      </m:rPr>
                      <m:t>&gt;x}=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z m:val="38"/>
                                  </m:rPr>
                                  <m:t>1−x</m:t>
                                </m:r>
                              </m:num>
                              <m:den>
                                <m:r>
                                  <m:rPr>
                                    <m:sz m:val="38"/>
                                  </m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z m:val="38"/>
                          </m:rPr>
                          <m:t>n</m:t>
                        </m:r>
                      </m:sup>
                    </m:sSup>
                  </m:oMath>
                </a14:m>
              </mc:Choice>
              <mc:Fallback>
                <a:r>
                  <a:t>P{min{X1,…,Xn}&gt;x}=P{X1&gt;x,X2&gt;x,…,Xn&gt;x}=(1−x2)n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因此密度函数为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∂</m:t>
                        </m:r>
                      </m:num>
                      <m:den>
                        <m:r>
                          <m:rPr>
                            <m:sz m:val="38"/>
                          </m:rPr>
                          <m:t>∂x</m:t>
                        </m:r>
                      </m:den>
                    </m:f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z m:val="38"/>
                                  </m:rPr>
                                  <m:t>1−x</m:t>
                                </m:r>
                              </m:num>
                              <m:den>
                                <m:r>
                                  <m:rPr>
                                    <m:sz m:val="38"/>
                                  </m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z m:val="38"/>
                          </m:rPr>
                          <m:t>n</m:t>
                        </m:r>
                      </m:sup>
                    </m:sSup>
                    <m:r>
                      <m:rPr>
                        <m:sz m:val="38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n</m:t>
                        </m:r>
                      </m:num>
                      <m:den>
                        <m:r>
                          <m:rPr>
                            <m:sz m:val="38"/>
                          </m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z m:val="38"/>
                                  </m:rPr>
                                  <m:t>1−x</m:t>
                                </m:r>
                              </m:num>
                              <m:den>
                                <m:r>
                                  <m:rPr>
                                    <m:sz m:val="38"/>
                                  </m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z m:val="38"/>
                          </m:rPr>
                          <m:t>n−1</m:t>
                        </m:r>
                      </m:sup>
                    </m:sSup>
                  </m:oMath>
                </a14:m>
              </mc:Choice>
              <mc:Fallback>
                <a:r>
                  <a:t>−∂∂x(1−x2)n=n2(1−x2)n−1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矩生成函数（Moment generating functions）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z m:val="38"/>
                          </m:rPr>
                          <m:t>X</m:t>
                        </m:r>
                      </m:e>
                      <m:sub>
                        <m:r>
                          <m:rPr>
                            <m:sz m:val="38"/>
                          </m:rPr>
                          <m:t>i</m:t>
                        </m:r>
                      </m:sub>
                    </m:sSub>
                  </m:oMath>
                </a14:m>
              </mc:Choice>
              <mc:Fallback>
                <a:r>
                  <a:t>Xi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为随机变量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的独立副本，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z m:val="38"/>
                          </m:rPr>
                          <m:t>M</m:t>
                        </m:r>
                      </m:e>
                      <m:sub>
                        <m:r>
                          <m:rPr>
                            <m:sz m:val="38"/>
                          </m:rPr>
                          <m:t>X</m:t>
                        </m:r>
                      </m:sub>
                    </m:sSub>
                    <m:r>
                      <m:rPr>
                        <m:sz m:val="38"/>
                      </m:rPr>
                      <m:t>(t)</m:t>
                    </m:r>
                  </m:oMath>
                </a14:m>
              </mc:Choice>
              <mc:Fallback>
                <a:r>
                  <a:t>MX(t)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的矩生成函数。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用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z m:val="38"/>
                          </m:rPr>
                          <m:t>M</m:t>
                        </m:r>
                      </m:e>
                      <m:sub>
                        <m:r>
                          <m:rPr>
                            <m:sz m:val="38"/>
                          </m:rPr>
                          <m:t>X</m:t>
                        </m:r>
                      </m:sub>
                    </m:sSub>
                    <m:r>
                      <m:rPr>
                        <m:sz m:val="38"/>
                      </m:rPr>
                      <m:t>(t)</m:t>
                    </m:r>
                  </m:oMath>
                </a14:m>
              </mc:Choice>
              <mc:Fallback>
                <a:r>
                  <a:t>MX(t)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与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n</m:t>
                    </m:r>
                  </m:oMath>
                </a14:m>
              </mc:Choice>
              <mc:Fallback>
                <a:r>
                  <a:t>n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表示平均值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1"/>
                        <m:subHide m:val="off"/>
                        <m:supHide m:val="off"/>
                      </m:naryPr>
                      <m:sub>
                        <m:r>
                          <m:rPr>
                            <m:sz m:val="38"/>
                          </m:rPr>
                          <m:t>i=1</m:t>
                        </m:r>
                      </m:sub>
                      <m:sup>
                        <m:r>
                          <m:rPr>
                            <m:sz m:val="38"/>
                          </m:rPr>
                          <m:t>n</m:t>
                        </m:r>
                      </m:sup>
                      <m:e>
                        <m:sSub>
                          <m:e>
                            <m:r>
                              <m:rPr>
                                <m:sz m:val="38"/>
                              </m:rPr>
                              <m:t>X</m:t>
                            </m:r>
                          </m:e>
                          <m:sub>
                            <m:r>
                              <m:rPr>
                                <m:sz m:val="38"/>
                              </m:rPr>
                              <m:t>i</m:t>
                            </m:r>
                          </m:sub>
                        </m:sSub>
                      </m:e>
                    </m:nary>
                    <m:r>
                      <m:rPr>
                        <m:sz m:val="38"/>
                      </m:rPr>
                      <m:t>/</m:t>
                    </m:r>
                    <m:r>
                      <m:rPr>
                        <m:sz m:val="38"/>
                      </m:rPr>
                      <m:t>n</m:t>
                    </m:r>
                  </m:oMath>
                </a14:m>
              </mc:Choice>
              <mc:Fallback>
                <a:r>
                  <a:t>∑i=1nXi/n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的矩生成函数。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矩生成函数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记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Y=</m:t>
                    </m:r>
                    <m:nary>
                      <m:naryPr>
                        <m:chr m:val="∑"/>
                        <m:limLoc m:val="subSup"/>
                        <m:grow m:val="1"/>
                        <m:subHide m:val="off"/>
                        <m:supHide m:val="off"/>
                      </m:naryPr>
                      <m:sub>
                        <m:r>
                          <m:rPr>
                            <m:sz m:val="38"/>
                          </m:rPr>
                          <m:t>i=1</m:t>
                        </m:r>
                      </m:sub>
                      <m:sup>
                        <m:r>
                          <m:rPr>
                            <m:sz m:val="38"/>
                          </m:rPr>
                          <m:t>n</m:t>
                        </m:r>
                      </m:sup>
                      <m:e>
                        <m:sSub>
                          <m:e>
                            <m:r>
                              <m:rPr>
                                <m:sz m:val="38"/>
                              </m:rPr>
                              <m:t>X</m:t>
                            </m:r>
                          </m:e>
                          <m:sub>
                            <m:r>
                              <m:rPr>
                                <m:sz m:val="38"/>
                              </m:rPr>
                              <m:t>i</m:t>
                            </m:r>
                          </m:sub>
                        </m:sSub>
                      </m:e>
                    </m:nary>
                    <m:r>
                      <m:rPr>
                        <m:sz m:val="38"/>
                      </m:rPr>
                      <m:t>/</m:t>
                    </m:r>
                    <m:r>
                      <m:rPr>
                        <m:sz m:val="38"/>
                      </m:rPr>
                      <m:t>n</m:t>
                    </m:r>
                  </m:oMath>
                </a14:m>
              </mc:Choice>
              <mc:Fallback>
                <a:r>
                  <a:t>Y=∑i=1nXi/n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，则</a:t>
            </a:r>
          </a:p>
          <a:p>
            <a:pPr>
              <a:spcAft>
                <a:spcPts val="1000"/>
              </a:spcAft>
            </a:pP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z m:val="38"/>
                          </m:rPr>
                          <m:t>M</m:t>
                        </m:r>
                      </m:e>
                      <m:sub>
                        <m:r>
                          <m:rPr>
                            <m:sz m:val="38"/>
                          </m:rPr>
                          <m:t>Y</m:t>
                        </m:r>
                      </m:sub>
                    </m:sSub>
                    <m:r>
                      <m:rPr>
                        <m:sz m:val="38"/>
                      </m:rPr>
                      <m:t>(t)=E</m:t>
                    </m:r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sSup>
                          <m:e>
                            <m:r>
                              <m:rPr>
                                <m:sz m:val="38"/>
                              </m:rPr>
                              <m:t>e</m:t>
                            </m:r>
                          </m:e>
                          <m:sup>
                            <m:r>
                              <m:rPr>
                                <m:sz m:val="38"/>
                              </m:rPr>
                              <m:t>tY</m:t>
                            </m:r>
                          </m:sup>
                        </m:sSup>
                      </m:e>
                    </m:d>
                    <m:r>
                      <m:rPr>
                        <m:sz m:val="38"/>
                      </m:rPr>
                      <m:t>=E</m:t>
                    </m:r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sSup>
                          <m:e>
                            <m:r>
                              <m:rPr>
                                <m:sz m:val="38"/>
                              </m:rPr>
                              <m:t>e</m:t>
                            </m:r>
                          </m:e>
                          <m:sup>
                            <m:r>
                              <m:rPr>
                                <m:sz m:val="38"/>
                              </m:rPr>
                              <m:t>t</m:t>
                            </m:r>
                            <m:nary>
                              <m:naryPr>
                                <m:chr m:val="∑"/>
                                <m:limLoc m:val="subSup"/>
                                <m:grow m:val="1"/>
                                <m:subHide m:val="off"/>
                                <m:supHide m:val="off"/>
                              </m:naryPr>
                              <m:sub>
                                <m:r>
                                  <m:rPr>
                                    <m:sz m:val="38"/>
                                  </m:rPr>
                                  <m:t>i=1</m:t>
                                </m:r>
                              </m:sub>
                              <m:sup>
                                <m:r>
                                  <m:rPr>
                                    <m:sz m:val="38"/>
                                  </m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m:rPr>
                                        <m:sz m:val="38"/>
                                      </m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z m:val="38"/>
                                      </m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z m:val="38"/>
                              </m:rPr>
                              <m:t>/n</m:t>
                            </m:r>
                          </m:sup>
                        </m:sSup>
                      </m:e>
                    </m:d>
                    <m:r>
                      <m:rPr>
                        <m:sz m:val="38"/>
                      </m:rPr>
                      <m:t>=(</m:t>
                    </m:r>
                    <m:sSub>
                      <m:e>
                        <m:r>
                          <m:rPr>
                            <m:sz m:val="38"/>
                          </m:rPr>
                          <m:t>M</m:t>
                        </m:r>
                      </m:e>
                      <m:sub>
                        <m:r>
                          <m:rPr>
                            <m:sz m:val="38"/>
                          </m:rPr>
                          <m:t>X</m:t>
                        </m:r>
                      </m:sub>
                    </m:sSub>
                    <m:r>
                      <m:rPr>
                        <m:sz m:val="38"/>
                      </m:rPr>
                      <m:t>(t/n)</m:t>
                    </m:r>
                    <m:sSup>
                      <m:e>
                        <m:r>
                          <m:rPr>
                            <m:sz m:val="38"/>
                          </m:rPr>
                          <m:t>)</m:t>
                        </m:r>
                      </m:e>
                      <m:sup>
                        <m:r>
                          <m:rPr>
                            <m:sz m:val="38"/>
                          </m:rPr>
                          <m:t>n</m:t>
                        </m:r>
                      </m:sup>
                    </m:sSup>
                  </m:oMath>
                </a14:m>
              </mc:Choice>
              <mc:Fallback>
                <a:r>
                  <a:t>MY(t)=E[etY]=E[et∑i=1nXi/n]=(MX(t/n))n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熵（Entropy）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、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</m:t>
                    </m:r>
                  </m:oMath>
                </a14:m>
              </mc:Choice>
              <mc:Fallback>
                <a:r>
                  <a:t>Y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为独立随机变量，各以概率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t>1/3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取值 1，以概率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r>
                          <m:rPr>
                            <m:sz m:val="38"/>
                          </m:rPr>
                          <m:t>2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t>2/3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取值 2。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计算熵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H(X)</m:t>
                    </m:r>
                  </m:oMath>
                </a14:m>
              </mc:Choice>
              <mc:Fallback>
                <a:r>
                  <a:t>H(X)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、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</m:t>
                    </m:r>
                  </m:oMath>
                </a14:m>
              </mc:Choice>
              <mc:Fallback>
                <a:r>
                  <a:t>Y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为独立随机变量，各以概率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t>1/3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取值 1，以概率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r>
                          <m:rPr>
                            <m:sz m:val="38"/>
                          </m:rPr>
                          <m:t>2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t>2/3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取值 2。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计算熵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H(X)</m:t>
                    </m:r>
                  </m:oMath>
                </a14:m>
              </mc:Choice>
              <mc:Fallback>
                <a:r>
                  <a:t>H(X)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H(X+Y)</m:t>
                    </m:r>
                  </m:oMath>
                </a14:m>
              </mc:Choice>
              <mc:Fallback>
                <a:r>
                  <a:t>H(X+Y)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设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、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</m:t>
                    </m:r>
                  </m:oMath>
                </a14:m>
              </mc:Choice>
              <mc:Fallback>
                <a:r>
                  <a:t>Y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为独立随机变量，各以概率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t>1/3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取值 1，以概率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r>
                          <m:rPr>
                            <m:sz m:val="38"/>
                          </m:rPr>
                          <m:t>2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t>2/3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取值 2。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计算熵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H(X)</m:t>
                    </m:r>
                  </m:oMath>
                </a14:m>
              </mc:Choice>
              <mc:Fallback>
                <a:r>
                  <a:t>H(X)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计算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H(X+Y)</m:t>
                    </m:r>
                  </m:oMath>
                </a14:m>
              </mc:Choice>
              <mc:Fallback>
                <a:r>
                  <a:t>H(X+Y)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H(X+Y)</m:t>
                    </m:r>
                  </m:oMath>
                </a14:m>
              </mc:Choice>
              <mc:Fallback>
                <a:r>
                  <a:t>H(X+Y)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与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H(X,Y)</m:t>
                    </m:r>
                  </m:oMath>
                </a14:m>
              </mc:Choice>
              <mc:Fallback>
                <a:r>
                  <a:t>H(X,Y)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哪个更大？对任意离散随机变量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、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</m:t>
                    </m:r>
                  </m:oMath>
                </a14:m>
              </mc:Choice>
              <mc:Fallback>
                <a:r>
                  <a:t>Y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，结论是否依然成立？请解释。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2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2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3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t>H(X)=13(−log13)+23(−log23)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2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2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3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t>H(X)=13(−log13)+23(−log23)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H(X+Y)=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4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4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4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4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9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t>H(X+Y)=19(−log19)+49(−log49)+49(−log49)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2</m:t>
                        </m:r>
                      </m:num>
                      <m:den>
                        <m:r>
                          <m:rPr>
                            <m:sz m:val="38"/>
                          </m:rPr>
                          <m:t>3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2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3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t>H(X)=13(−log13)+23(−log23)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H(X+Y)=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1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1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4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4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z m:val="38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z m:val="38"/>
                          </m:rPr>
                          <m:t>4</m:t>
                        </m:r>
                      </m:num>
                      <m:den>
                        <m:r>
                          <m:rPr>
                            <m:sz m:val="38"/>
                          </m:rPr>
                          <m:t>9</m:t>
                        </m:r>
                      </m:den>
                    </m:f>
                    <m:d>
                      <m:dPr>
                        <m:sepChr m:val="−"/>
                      </m:dPr>
                      <m:e/>
                      <m:e>
                        <m:r>
                          <m:rPr>
                            <m:sty m:val="p"/>
                            <m:sz m:val="38"/>
                          </m:rPr>
                          <m:t>log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z m:val="38"/>
                              </m:rPr>
                              <m:t>4</m:t>
                            </m:r>
                          </m:num>
                          <m:den>
                            <m:r>
                              <m:rPr>
                                <m:sz m:val="38"/>
                              </m:rPr>
                              <m:t>9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t>H(X+Y)=19(−log19)+49(−log49)+49(−log49)</a:t>
                </a:r>
              </mc:Fallback>
            </mc:AlternateContent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Microsoft YaHei"/>
              </a:rPr>
              <a:t>▶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H(X,Y)</m:t>
                    </m:r>
                  </m:oMath>
                </a14:m>
              </mc:Choice>
              <mc:Fallback>
                <a:r>
                  <a:t>H(X,Y)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更大；且对任意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、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</m:t>
                    </m:r>
                  </m:oMath>
                </a14:m>
              </mc:Choice>
              <mc:Fallback>
                <a:r>
                  <a:t>Y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都有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H(X,Y)≥H(X+Y)</m:t>
                    </m:r>
                  </m:oMath>
                </a14:m>
              </mc:Choice>
              <mc:Fallback>
                <a:r>
                  <a:t>H(X,Y)≥H(X+Y)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。原因：记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a(x,y)=P{X=x,Y=y}</m:t>
                    </m:r>
                  </m:oMath>
                </a14:m>
              </mc:Choice>
              <mc:Fallback>
                <a:r>
                  <a:t>a(x,y)=P{X=x,Y=y}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b(x,y)=P{X+Y=x+y}</m:t>
                    </m:r>
                  </m:oMath>
                </a14:m>
              </mc:Choice>
              <mc:Fallback>
                <a:r>
                  <a:t>b(x,y)=P{X+Y=x+y}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，则对任意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x</m:t>
                    </m:r>
                  </m:oMath>
                </a14:m>
              </mc:Choice>
              <mc:Fallback>
                <a:r>
                  <a:t>x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、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y</m:t>
                    </m:r>
                  </m:oMath>
                </a14:m>
              </mc:Choice>
              <mc:Fallback>
                <a:r>
                  <a:t>y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 有 </a:t>
            </a: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a(x,y)≤b(x,y)</m:t>
                    </m:r>
                  </m:oMath>
                </a14:m>
              </mc:Choice>
              <mc:Fallback>
                <a:r>
                  <a:t>a(x,y)≤b(x,y)</a:t>
                </a:r>
              </mc:Fallback>
            </mc:AlternateContent>
            <a:r>
              <a:rPr sz="1900">
                <a:solidFill>
                  <a:srgbClr val="202020"/>
                </a:solidFill>
                <a:latin typeface="Microsoft YaHei"/>
              </a:rPr>
              <a:t>，故</a:t>
            </a:r>
          </a:p>
          <a:p>
            <a:pPr>
              <a:spcAft>
                <a:spcPts val="1000"/>
              </a:spcAft>
            </a:pPr>
            <mc:AlternateContent xmlns:mc="http://schemas.openxmlformats.org/markup-compatibility/2006" xmlns:a14="http://schemas.microsoft.com/office/drawing/2010/main" mc:Ignorable="a14">
              <mc:Choice Requires="a14">
                <a14:m>
                  <m:oMath xmlns:m="http://schemas.openxmlformats.org/officeDocument/2006/math">
                    <m:r>
                      <m:rPr>
                        <m:sz m:val="38"/>
                      </m:rPr>
                      <m:t>H(X,Y)=E[−</m:t>
                    </m:r>
                    <m:r>
                      <m:rPr>
                        <m:sty m:val="p"/>
                        <m:sz m:val="38"/>
                      </m:rPr>
                      <m:t>log</m:t>
                    </m:r>
                    <m:r>
                      <m:rPr>
                        <m:sz m:val="38"/>
                      </m:rPr>
                      <m:t>a(x,y)]≥E[−</m:t>
                    </m:r>
                    <m:r>
                      <m:rPr>
                        <m:sty m:val="p"/>
                        <m:sz m:val="38"/>
                      </m:rPr>
                      <m:t>log</m:t>
                    </m:r>
                    <m:r>
                      <m:rPr>
                        <m:sz m:val="38"/>
                      </m:rPr>
                      <m:t>b(x,y)]=H(X+Y)</m:t>
                    </m:r>
                  </m:oMath>
                </a14:m>
              </mc:Choice>
              <mc:Fallback>
                <a:r>
                  <a:t>H(X,Y)=E[−loga(x,y)]≥E[−logb(x,y)]=H(X+Y)</a:t>
                </a:r>
              </mc:Fallback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